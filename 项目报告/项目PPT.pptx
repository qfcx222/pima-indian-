
<file path=[Content_Types].xml><?xml version="1.0" encoding="utf-8"?>
<Types xmlns="http://schemas.openxmlformats.org/package/2006/content-types">
  <Default Extension="xml" ContentType="application/xml"/>
  <Default Extension="wav" ContentType="audio/x-wav"/>
  <Default Extension="jpeg" ContentType="image/jpeg"/>
  <Default Extension="JPG" ContentType="image/.jpg"/>
  <Default Extension="png" ContentType="image/png"/>
  <Default Extension="rels" ContentType="application/vnd.openxmlformats-package.relationships+xml"/>
  <Override PartName="/customXml/itemProps78.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4.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71.svg" ContentType="image/svg+xml"/>
  <Override PartName="/ppt/media/image74.svg" ContentType="image/svg+xml"/>
  <Override PartName="/ppt/media/image7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 id="2147483666" r:id="rId6"/>
    <p:sldMasterId id="2147483668" r:id="rId7"/>
    <p:sldMasterId id="2147483670" r:id="rId8"/>
    <p:sldMasterId id="2147483672" r:id="rId9"/>
    <p:sldMasterId id="2147483674" r:id="rId10"/>
    <p:sldMasterId id="2147483676" r:id="rId11"/>
    <p:sldMasterId id="2147483678" r:id="rId12"/>
    <p:sldMasterId id="2147483680" r:id="rId13"/>
    <p:sldMasterId id="2147483682" r:id="rId14"/>
    <p:sldMasterId id="2147483684" r:id="rId15"/>
    <p:sldMasterId id="2147483686" r:id="rId16"/>
    <p:sldMasterId id="2147483688" r:id="rId17"/>
    <p:sldMasterId id="2147483690" r:id="rId18"/>
    <p:sldMasterId id="2147483692" r:id="rId19"/>
    <p:sldMasterId id="2147483694" r:id="rId20"/>
  </p:sldMasterIdLst>
  <p:notesMasterIdLst>
    <p:notesMasterId r:id="rId22"/>
  </p:notesMasterIdLst>
  <p:sldIdLst>
    <p:sldId id="256" r:id="rId21"/>
    <p:sldId id="257" r:id="rId23"/>
    <p:sldId id="258" r:id="rId24"/>
    <p:sldId id="259" r:id="rId25"/>
    <p:sldId id="260" r:id="rId26"/>
    <p:sldId id="281" r:id="rId27"/>
    <p:sldId id="280" r:id="rId28"/>
    <p:sldId id="282" r:id="rId29"/>
    <p:sldId id="261" r:id="rId30"/>
    <p:sldId id="262" r:id="rId31"/>
    <p:sldId id="283" r:id="rId32"/>
    <p:sldId id="263" r:id="rId33"/>
    <p:sldId id="286" r:id="rId34"/>
    <p:sldId id="264" r:id="rId35"/>
    <p:sldId id="265" r:id="rId36"/>
    <p:sldId id="266" r:id="rId37"/>
    <p:sldId id="288" r:id="rId38"/>
    <p:sldId id="291" r:id="rId39"/>
    <p:sldId id="292" r:id="rId40"/>
    <p:sldId id="290" r:id="rId41"/>
    <p:sldId id="294" r:id="rId42"/>
    <p:sldId id="289" r:id="rId43"/>
    <p:sldId id="268" r:id="rId44"/>
    <p:sldId id="298" r:id="rId45"/>
    <p:sldId id="269" r:id="rId46"/>
    <p:sldId id="299" r:id="rId47"/>
    <p:sldId id="300" r:id="rId48"/>
    <p:sldId id="271" r:id="rId49"/>
    <p:sldId id="272" r:id="rId50"/>
    <p:sldId id="301" r:id="rId51"/>
    <p:sldId id="302" r:id="rId52"/>
    <p:sldId id="273" r:id="rId53"/>
    <p:sldId id="274" r:id="rId54"/>
    <p:sldId id="303" r:id="rId55"/>
    <p:sldId id="275" r:id="rId56"/>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默认节" id="{d216a3ff-a391-4b5e-b34f-ed9ef6ec291f}">
          <p14:sldIdLst>
            <p14:sldId id="256"/>
            <p14:sldId id="257"/>
          </p14:sldIdLst>
        </p14:section>
        <p14:section name="挖掘目标定义&#13;" id="{ed427876-d047-4276-9d74-5afb55435dd4}">
          <p14:sldIdLst>
            <p14:sldId id="258"/>
            <p14:sldId id="259"/>
            <p14:sldId id="260"/>
            <p14:sldId id="281"/>
            <p14:sldId id="280"/>
            <p14:sldId id="282"/>
          </p14:sldIdLst>
        </p14:section>
        <p14:section name="数据准备" id="{f9835312-859b-4f29-b9d1-a5623878fea9}">
          <p14:sldIdLst>
            <p14:sldId id="261"/>
            <p14:sldId id="262"/>
            <p14:sldId id="283"/>
            <p14:sldId id="263"/>
            <p14:sldId id="286"/>
          </p14:sldIdLst>
        </p14:section>
        <p14:section name="数据探索" id="{5a9f745d-5a8c-4574-86cb-93efb3f685ac}">
          <p14:sldIdLst>
            <p14:sldId id="264"/>
            <p14:sldId id="265"/>
            <p14:sldId id="266"/>
            <p14:sldId id="288"/>
            <p14:sldId id="291"/>
            <p14:sldId id="292"/>
            <p14:sldId id="290"/>
            <p14:sldId id="294"/>
            <p14:sldId id="289"/>
          </p14:sldIdLst>
        </p14:section>
        <p14:section name="模型建立" id="{d25a679d-bd6a-4dbb-be5e-95fa31f1f59d}">
          <p14:sldIdLst>
            <p14:sldId id="268"/>
            <p14:sldId id="298"/>
            <p14:sldId id="269"/>
            <p14:sldId id="299"/>
            <p14:sldId id="300"/>
          </p14:sldIdLst>
        </p14:section>
        <p14:section name="模型评估" id="{c1b04f0c-3f59-4d3a-81e0-abe01b2583bc}">
          <p14:sldIdLst>
            <p14:sldId id="271"/>
            <p14:sldId id="272"/>
            <p14:sldId id="301"/>
            <p14:sldId id="302"/>
          </p14:sldIdLst>
        </p14:section>
        <p14:section name="模型部署与结论&#13;" id="{f3c49b4c-7520-49e9-9d8a-91b6bb745659}">
          <p14:sldIdLst>
            <p14:sldId id="273"/>
            <p14:sldId id="274"/>
            <p14:sldId id="303"/>
            <p14:sldId id="275"/>
          </p14:sldIdLst>
        </p14:section>
      </p14:sectionLst>
    </p:ext>
    <p:ext uri="{EFAFB233-063F-42B5-8137-9DF3F51BA10A}">
      <p15:sldGuideLst xmlns:p15="http://schemas.microsoft.com/office/powerpoint/2012/main">
        <p15:guide id="1" orient="horz" pos="1736" userDrawn="1">
          <p15:clr>
            <a:srgbClr val="747775"/>
          </p15:clr>
        </p15:guide>
        <p15:guide id="2" pos="2917"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D4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36"/>
        <p:guide pos="2917"/>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1" Type="http://schemas.openxmlformats.org/officeDocument/2006/relationships/customXml" Target="../customXml/item1.xml"/><Relationship Id="rId60" Type="http://schemas.openxmlformats.org/officeDocument/2006/relationships/customXmlProps" Target="../customXml/itemProps78.xml"/><Relationship Id="rId6" Type="http://schemas.openxmlformats.org/officeDocument/2006/relationships/slideMaster" Target="slideMasters/slideMaster5.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35.xml"/><Relationship Id="rId55" Type="http://schemas.openxmlformats.org/officeDocument/2006/relationships/slide" Target="slides/slide34.xml"/><Relationship Id="rId54" Type="http://schemas.openxmlformats.org/officeDocument/2006/relationships/slide" Target="slides/slide33.xml"/><Relationship Id="rId53" Type="http://schemas.openxmlformats.org/officeDocument/2006/relationships/slide" Target="slides/slide32.xml"/><Relationship Id="rId52" Type="http://schemas.openxmlformats.org/officeDocument/2006/relationships/slide" Target="slides/slide31.xml"/><Relationship Id="rId51" Type="http://schemas.openxmlformats.org/officeDocument/2006/relationships/slide" Target="slides/slide30.xml"/><Relationship Id="rId50" Type="http://schemas.openxmlformats.org/officeDocument/2006/relationships/slide" Target="slides/slide29.xml"/><Relationship Id="rId5" Type="http://schemas.openxmlformats.org/officeDocument/2006/relationships/slideMaster" Target="slideMasters/slideMaster4.xml"/><Relationship Id="rId49" Type="http://schemas.openxmlformats.org/officeDocument/2006/relationships/slide" Target="slides/slide28.xml"/><Relationship Id="rId48" Type="http://schemas.openxmlformats.org/officeDocument/2006/relationships/slide" Target="slides/slide27.xml"/><Relationship Id="rId47" Type="http://schemas.openxmlformats.org/officeDocument/2006/relationships/slide" Target="slides/slide26.xml"/><Relationship Id="rId46" Type="http://schemas.openxmlformats.org/officeDocument/2006/relationships/slide" Target="slides/slide25.xml"/><Relationship Id="rId45" Type="http://schemas.openxmlformats.org/officeDocument/2006/relationships/slide" Target="slides/slide24.xml"/><Relationship Id="rId44" Type="http://schemas.openxmlformats.org/officeDocument/2006/relationships/slide" Target="slides/slide23.xml"/><Relationship Id="rId43" Type="http://schemas.openxmlformats.org/officeDocument/2006/relationships/slide" Target="slides/slide22.xml"/><Relationship Id="rId42" Type="http://schemas.openxmlformats.org/officeDocument/2006/relationships/slide" Target="slides/slide21.xml"/><Relationship Id="rId41" Type="http://schemas.openxmlformats.org/officeDocument/2006/relationships/slide" Target="slides/slide20.xml"/><Relationship Id="rId40" Type="http://schemas.openxmlformats.org/officeDocument/2006/relationships/slide" Target="slides/slide19.xml"/><Relationship Id="rId4" Type="http://schemas.openxmlformats.org/officeDocument/2006/relationships/slideMaster" Target="slideMasters/slideMaster3.xml"/><Relationship Id="rId39" Type="http://schemas.openxmlformats.org/officeDocument/2006/relationships/slide" Target="slides/slide18.xml"/><Relationship Id="rId38" Type="http://schemas.openxmlformats.org/officeDocument/2006/relationships/slide" Target="slides/slide17.xml"/><Relationship Id="rId37" Type="http://schemas.openxmlformats.org/officeDocument/2006/relationships/slide" Target="slides/slide16.xml"/><Relationship Id="rId36" Type="http://schemas.openxmlformats.org/officeDocument/2006/relationships/slide" Target="slides/slide15.xml"/><Relationship Id="rId35" Type="http://schemas.openxmlformats.org/officeDocument/2006/relationships/slide" Target="slides/slide14.xml"/><Relationship Id="rId34" Type="http://schemas.openxmlformats.org/officeDocument/2006/relationships/slide" Target="slides/slide13.xml"/><Relationship Id="rId33" Type="http://schemas.openxmlformats.org/officeDocument/2006/relationships/slide" Target="slides/slide12.xml"/><Relationship Id="rId32" Type="http://schemas.openxmlformats.org/officeDocument/2006/relationships/slide" Target="slides/slide11.xml"/><Relationship Id="rId31" Type="http://schemas.openxmlformats.org/officeDocument/2006/relationships/slide" Target="slides/slide10.xml"/><Relationship Id="rId30" Type="http://schemas.openxmlformats.org/officeDocument/2006/relationships/slide" Target="slides/slide9.xml"/><Relationship Id="rId3" Type="http://schemas.openxmlformats.org/officeDocument/2006/relationships/slideMaster" Target="slideMasters/slideMaster2.xml"/><Relationship Id="rId29" Type="http://schemas.openxmlformats.org/officeDocument/2006/relationships/slide" Target="slides/slide8.xml"/><Relationship Id="rId28" Type="http://schemas.openxmlformats.org/officeDocument/2006/relationships/slide" Target="slides/slide7.xml"/><Relationship Id="rId27" Type="http://schemas.openxmlformats.org/officeDocument/2006/relationships/slide" Target="slides/slide6.xml"/><Relationship Id="rId26" Type="http://schemas.openxmlformats.org/officeDocument/2006/relationships/slide" Target="slides/slide5.xml"/><Relationship Id="rId25" Type="http://schemas.openxmlformats.org/officeDocument/2006/relationships/slide" Target="slides/slide4.xml"/><Relationship Id="rId24" Type="http://schemas.openxmlformats.org/officeDocument/2006/relationships/slide" Target="slides/slide3.xml"/><Relationship Id="rId23" Type="http://schemas.openxmlformats.org/officeDocument/2006/relationships/slide" Target="slides/slide2.xml"/><Relationship Id="rId22" Type="http://schemas.openxmlformats.org/officeDocument/2006/relationships/notesMaster" Target="notesMasters/notesMaster1.xml"/><Relationship Id="rId21" Type="http://schemas.openxmlformats.org/officeDocument/2006/relationships/slide" Target="slides/slide1.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今天我将为大家汇报一项基于皮马印第安人糖尿病数据集的分类分析研究。本次汇报将遵循标准的数据挖掘生命周期，从目标定义到模型部署，系统性地展示我们如何利用数据挖掘技术解决医学诊断中的实际问题。希望通过这次分享，能为大家带来一些启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围绕六个核心部分展开。首先，我们将明确本次数据挖掘的目标并解释相关概念。接着，进行数据准备和探索性分析。在此基础上，我们将建立多种预测模型，并对它们进行评估。最后，总结研究结论并探讨模型的实际应用前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首先，我们进入第一部分：挖掘目标定义。在这一章，我们将明确本次研究的背景、动机，并解释一些关键的专业术语，为后续的分析奠定基础。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研究基于著名的皮马印第安人糖尿病数据集。糖尿病的早期诊断是全球公共卫生的重要议题。我们的动机正是利用数据挖掘技术，探索如何从数据中自动学习诊断模式，不仅要评估不同算法的效果，更希望能找到影响糖尿病的关键因素，从而为临床决策提供有力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深入分析之前，我们先明确几个核心概念。数据挖掘是我们的核心方法。我们要解决的问题是一个典型的二元分类任务，即判断是或否。我们采用的是监督学习方法，利用带有明确诊断结果的历史数据来训练模型。最终目标是建立一个可靠的预测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深入分析之前，我们先明确几个核心概念。数据挖掘是我们的核心方法。我们要解决的问题是一个典型的二元分类任务，即判断是或否。我们采用的是监督学习方法，利用带有明确诊断结果的历史数据来训练模型。最终目标是建立一个可靠的预测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深入分析之前，我们先明确几个核心概念。数据挖掘是我们的核心方法。我们要解决的问题是一个典型的二元分类任务，即判断是或否。我们采用的是监督学习方法，利用带有明确诊断结果的历史数据来训练模型。最终目标是建立一个可靠的预测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深入分析之前，我们先明确几个核心概念。数据挖掘是我们的核心方法。我们要解决的问题是一个典型的二元分类任务，即判断是或否。我们采用的是监督学习方法，利用带有明确诊断结果的历史数据来训练模型。最终目标是建立一个可靠的预测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接下来进入第二部分：数据准备。高质量的数据是模型成功的关键。在这一章，我们将详细介绍所使用的数据集，分析其质量，并进行必要的预处理步骤。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使用的数据集包含768个样本，每个样本有8个输入特征和1个输出标签。这些特征涵盖了怀孕次数、血糖、血压、BMI等关键生理指标，最终的目标变量是患者是否被诊断为糖尿病。该数据集结构清晰，特征类型多样，非常适合用来演示分类算法在医学诊断场景中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使用的数据集包含768个样本，每个样本有8个输入特征和1个输出标签。这些特征涵盖了怀孕次数、血糖、血压、BMI等关键生理指标，最终的目标变量是患者是否被诊断为糖尿病。该数据集结构清晰，特征类型多样，非常适合用来演示分类算法在医学诊断场景中的应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数据质量分析中，我们发现数据类别存在轻微不平衡，阴性样本略多于阳性样本。但鉴于样本总量尚可，我们无需进行额外的过采样处理。更重要的是，我们观察到患者组的BMI和血糖均值显著高于非患者组，这初步揭示了这些生理指标与糖尿病之间的强关联性。为了保证后续模型的可靠性，我们将数据按 80% 训练集与 20% 测试集的比例严格拆分，这是评估模型真实泛化性能的标准做法。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数据质量分析中，我们发现数据类别存在轻微不平衡，阴性样本略多于阳性样本。但鉴于样本总量尚可，我们无需进行额外的过采样处理。更重要的是，我们观察到患者组的BMI和血糖均值显著高于非患者组，这初步揭示了这些生理指标与糖尿病之间的强关联性。为了保证后续模型的可靠性，我们将数据按 80% 训练集与 20% 测试集的比例严格拆分，这是评估模型真实泛化性能的标准做法。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现在我们进入第三部分：数据探索。在这一章，我们将通过可视化和定量分析，深入挖掘数据特征之间的关系，以及它们与目标变量的关联，为后续的建模提供指导。</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通过相关性热力图来分析特征间的关系。如图所示，颜色越深代表相关性越强。我们可以看到，怀孕次数与年龄、胰岛素与皮肤厚度等存在强正相关。更重要的是，血糖和BMI这两个特征与最终的糖尿病结果相关性最强，这为我们后续的特征选择提供了重要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通过直方图和小提琴图对比了患病与未患病群体在关键特征上的分布。从左上角和右上角的直方图可以直观地看出，相比于未患病群体，患病群体的血糖水平分布曲线明显向右偏移，处于更高的数值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下角的直方图进一步显示，患病群体的胰岛素水平也呈现高值聚集的状态，这与未患病群体形成了鲜明对比。最后，右下角的小提琴图整合了血糖、BMI等多个维度的数据，清晰展示了两组群体在整体分布形状上的显著差异，从而进一步证实了这些特征在区分患病与健康群体时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通过直方图和小提琴图对比了患病与未患病群体在关键特征上的分布。从左上角和右上角的直方图可以直观地看出，相比于未患病群体，患病群体的血糖水平分布曲线明显向右偏移，处于更高的数值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下角的直方图进一步显示，患病群体的胰岛素水平也呈现高值聚集的状态，这与未患病群体形成了鲜明对比。最后，右下角的小提琴图整合了血糖、BMI等多个维度的数据，清晰展示了两组群体在整体分布形状上的显著差异，从而进一步证实了这些特征在区分患病与健康群体时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通过直方图和小提琴图对比了患病与未患病群体在关键特征上的分布。从左上角和右上角的直方图可以直观地看出，相比于未患病群体，患病群体的血糖水平分布曲线明显向右偏移，处于更高的数值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下角的直方图进一步显示，患病群体的胰岛素水平也呈现高值聚集的状态，这与未患病群体形成了鲜明对比。最后，右下角的小提琴图整合了血糖、BMI等多个维度的数据，清晰展示了两组群体在整体分布形状上的显著差异，从而进一步证实了这些特征在区分患病与健康群体时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通过直方图和小提琴图对比了患病与未患病群体在关键特征上的分布。从左上角和右上角的直方图可以直观地看出，相比于未患病群体，患病群体的血糖水平分布曲线明显向右偏移，处于更高的数值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下角的直方图进一步显示，患病群体的胰岛素水平也呈现高值聚集的状态，这与未患病群体形成了鲜明对比。最后，右下角的小提琴图整合了血糖、BMI等多个维度的数据，清晰展示了两组群体在整体分布形状上的显著差异，从而进一步证实了这些特征在区分患病与健康群体时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通过直方图和小提琴图对比了患病与未患病群体在关键特征上的分布。从左上角和右上角的直方图可以直观地看出，相比于未患病群体，患病群体的血糖水平分布曲线明显向右偏移，处于更高的数值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下角的直方图进一步显示，患病群体的胰岛素水平也呈现高值聚集的状态，这与未患病群体形成了鲜明对比。最后，右下角的小提琴图整合了血糖、BMI等多个维度的数据，清晰展示了两组群体在整体分布形状上的显著差异，从而进一步证实了这些特征在区分患病与健康群体时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通过直方图和小提琴图对比了患病与未患病群体在关键特征上的分布。从左上角和右上角的直方图可以直观地看出，相比于未患病群体，患病群体的血糖水平分布曲线明显向右偏移，处于更高的数值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下角的直方图进一步显示，患病群体的胰岛素水平也呈现高值聚集的状态，这与未患病群体形成了鲜明对比。最后，右下角的小提琴图整合了血糖、BMI等多个维度的数据，清晰展示了两组群体在整体分布形状上的显著差异，从而进一步证实了这些特征在区分患病与健康群体时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我们通过直方图和小提琴图对比了患病与未患病群体在关键特征上的分布。从左上角和右上角的直方图可以直观地看出，相比于未患病群体，患病群体的血糖水平分布曲线明显向右偏移，处于更高的数值区间。</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左下角的直方图进一步显示，患病群体的胰岛素水平也呈现高值聚集的状态，这与未患病群体形成了鲜明对比。最后，右下角的小提琴图整合了血糖、BMI等多个维度的数据，清晰展示了两组群体在整体分布形状上的显著差异，从而进一步证实了这些特征在区分患病与健康群体时的有效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基于数据探索的结论，我们进入第四部分：模型建立。在这一章，我们将采用多种经典的监督学习算法，包括决策树、神经网络和支持向量机，来构建糖尿病预测模型，并比较它们的性能。</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尝试了决策树模型。有趣的是，当我们只使用血糖、BMI和年龄这三个关键特征时，模型的测试集准确率反而更高，达到了76.6%，这说明简化模型可以提升泛化能力。此外，我们还用线性回归验证了年龄和怀孕次数之间的强线性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尝试了决策树模型。有趣的是，当我们只使用血糖、BMI和年龄这三个关键特征时，模型的测试集准确率反而更高，达到了76.6%，这说明简化模型可以提升泛化能力。此外，我们还用线性回归验证了年龄和怀孕次数之间的强线性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尝试了决策树模型。有趣的是，当我们只使用血糖、BMI和年龄这三个关键特征时，模型的测试集准确率反而更高，达到了76.6%，这说明简化模型可以提升泛化能力。此外，我们还用线性回归验证了年龄和怀孕次数之间的强线性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首先尝试了决策树模型。有趣的是，当我们只使用血糖、BMI和年龄这三个关键特征时，模型的测试集准确率反而更高，达到了76.6%，这说明简化模型可以提升泛化能力。此外，我们还用线性回归验证了年龄和怀孕次数之间的强线性关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现在我们进入第五部分：模型评估。在这一章，我们将对前面建立的所有模型进行一个全面的性能对比，以确定最优模型。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各位评审专家、同学，大家好。这张幻灯片展示了我们针对不同模型进行性能对比的实验结果。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决策树模型（DT），当使用全部特征时，虽然训练集准确率达到80.0%，但测试集仅为75.0%，存在明显的过拟合现象；而当我们采用关键特征策略后，训练集准确率略微下降至79.0%，但测试集准确率提升至76.6%，泛化能力得到了小幅提升，这说明特征降维策略是有效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其次是MLP神经网络，它在收敛过程中表现稳定，但无论训练集还是测试集准确率都处于中等水平，分别为71.66%和74.68%，未能展现出显著优势。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最后是支持向量机（SVM），尽管我们未测试其训练集准确率，但它在测试集上达到了80.5%的最高准确率，这一数据远超其他模型，展现出极强的泛化能力。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综上，在本次对比实验中，支持向量机（SVM）凭借最优的预测性能，成为解决该分类问题的最佳模型选择。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各位评审专家、同学，大家好。这张幻灯片展示了我们针对不同模型进行性能对比的实验结果。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决策树模型（DT），当使用全部特征时，虽然训练集准确率达到80.0%，但测试集仅为75.0%，存在明显的过拟合现象；而当我们采用关键特征策略后，训练集准确率略微下降至79.0%，但测试集准确率提升至76.6%，泛化能力得到了小幅提升，这说明特征降维策略是有效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其次是MLP神经网络，它在收敛过程中表现稳定，但无论训练集还是测试集准确率都处于中等水平，分别为71.66%和74.68%，未能展现出显著优势。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最后是支持向量机（SVM），尽管我们未测试其训练集准确率，但它在测试集上达到了80.5%的最高准确率，这一数据远超其他模型，展现出极强的泛化能力。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综上，在本次对比实验中，支持向量机（SVM）凭借最优的预测性能，成为解决该分类问题的最佳模型选择。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各位评审专家、同学，大家好。这张幻灯片展示了我们针对不同模型进行性能对比的实验结果。</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首先看决策树模型（DT），当使用全部特征时，虽然训练集准确率达到80.0%，但测试集仅为75.0%，存在明显的过拟合现象；而当我们采用关键特征策略后，训练集准确率略微下降至79.0%，但测试集准确率提升至76.6%，泛化能力得到了小幅提升，这说明特征降维策略是有效的。</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其次是MLP神经网络，它在收敛过程中表现稳定，但无论训练集还是测试集准确率都处于中等水平，分别为71.66%和74.68%，未能展现出显著优势。</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最后是支持向量机（SVM），尽管我们未测试其训练集准确率，但它在测试集上达到了80.5%的最高准确率，这一数据远超其他模型，展现出极强的泛化能力。</a:t>
            </a:r>
            <a:endParaRPr lang="en-US" sz="1400" b="0" i="0" u="none" strike="noStrike">
              <a:solidFill>
                <a:srgbClr val="000000"/>
              </a:solidFill>
            </a:endParaRPr>
          </a:p>
          <a:p>
            <a:pPr marL="0" indent="0" algn="l">
              <a:lnSpc>
                <a:spcPct val="100000"/>
              </a:lnSpc>
            </a:pPr>
            <a:r>
              <a:rPr lang="en-US" sz="1400" b="0" i="0" u="none" strike="noStrike">
                <a:solidFill>
                  <a:srgbClr val="000000"/>
                </a:solidFill>
              </a:rPr>
              <a:t>综上，在本次对比实验中，支持向量机（SVM）凭借最优的预测性能，成为解决该分类问题的最佳模型选择。</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最后，我们进入第六部分：模型部署与结论。在这一章，我们将总结研究发现，并探讨模型的实际应用前景和未来的改进方向。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我们的研究明确了血糖和BMI是预测糖尿病的关键指标，并证实了支持向量机是解决此类问题的有效算法。这个模型具有广阔的应用前景，既可以作为临床医生的辅助诊断工具，也可以用于公众的健康风险评估，实现疾病的早期干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总结一下，我们的研究明确了血糖和BMI是预测糖尿病的关键指标，并证实了支持向量机是解决此类问题的有效算法。这个模型具有广阔的应用前景，既可以作为临床医生的辅助诊断工具，也可以用于公众的健康风险评估，实现疾病的早期干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我的汇报到此结束，感谢大家的聆听。现在是问答环节，欢迎大家提问。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0.xml"/></Relationships>
</file>

<file path=ppt/slideLayouts/_rels/slideLayout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1.xml"/></Relationships>
</file>

<file path=ppt/slideLayouts/_rels/slideLayout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2.xml"/></Relationships>
</file>

<file path=ppt/slideLayouts/_rels/slideLayout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3.xml"/></Relationships>
</file>

<file path=ppt/slideLayouts/_rels/slideLayout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4.xml"/></Relationships>
</file>

<file path=ppt/slideLayouts/_rels/slideLayout2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5.xml"/></Relationships>
</file>

<file path=ppt/slideLayouts/_rels/slideLayout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6.xml"/></Relationships>
</file>

<file path=ppt/slideLayouts/_rels/slideLayout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7.xml"/></Relationships>
</file>

<file path=ppt/slideLayouts/_rels/slideLayout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8.xml"/></Relationships>
</file>

<file path=ppt/slideLayouts/_rels/slideLayout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audio" Target="../media/audio1.wav"/><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audio" Target="../media/audio1.wav"/><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audio" Target="../media/audio1.wav"/><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audio" Target="../media/audio1.wav"/><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audio" Target="../media/audio1.wav"/><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audio" Target="../media/audio1.wav"/><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audio" Target="../media/audio1.wav"/><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audio" Target="../media/audio1.wav"/><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audio" Target="../media/audio1.wav"/><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3" Type="http://schemas.openxmlformats.org/officeDocument/2006/relationships/theme" Target="../theme/theme10.xml"/><Relationship Id="rId2" Type="http://schemas.openxmlformats.org/officeDocument/2006/relationships/audio" Target="../media/audio1.wav"/><Relationship Id="rId1" Type="http://schemas.openxmlformats.org/officeDocument/2006/relationships/slideLayout" Target="../slideLayouts/slideLayout20.xml"/></Relationships>
</file>

<file path=ppt/slideMasters/_rels/slideMaster11.xml.rels><?xml version="1.0" encoding="UTF-8" standalone="yes"?>
<Relationships xmlns="http://schemas.openxmlformats.org/package/2006/relationships"><Relationship Id="rId3" Type="http://schemas.openxmlformats.org/officeDocument/2006/relationships/theme" Target="../theme/theme11.xml"/><Relationship Id="rId2" Type="http://schemas.openxmlformats.org/officeDocument/2006/relationships/audio" Target="../media/audio1.wav"/><Relationship Id="rId1" Type="http://schemas.openxmlformats.org/officeDocument/2006/relationships/slideLayout" Target="../slideLayouts/slideLayout21.xml"/></Relationships>
</file>

<file path=ppt/slideMasters/_rels/slideMaster12.xml.rels><?xml version="1.0" encoding="UTF-8" standalone="yes"?>
<Relationships xmlns="http://schemas.openxmlformats.org/package/2006/relationships"><Relationship Id="rId3" Type="http://schemas.openxmlformats.org/officeDocument/2006/relationships/theme" Target="../theme/theme12.xml"/><Relationship Id="rId2" Type="http://schemas.openxmlformats.org/officeDocument/2006/relationships/audio" Target="../media/audio1.wav"/><Relationship Id="rId1" Type="http://schemas.openxmlformats.org/officeDocument/2006/relationships/slideLayout" Target="../slideLayouts/slideLayout22.xml"/></Relationships>
</file>

<file path=ppt/slideMasters/_rels/slideMaster13.xml.rels><?xml version="1.0" encoding="UTF-8" standalone="yes"?>
<Relationships xmlns="http://schemas.openxmlformats.org/package/2006/relationships"><Relationship Id="rId3" Type="http://schemas.openxmlformats.org/officeDocument/2006/relationships/theme" Target="../theme/theme13.xml"/><Relationship Id="rId2" Type="http://schemas.openxmlformats.org/officeDocument/2006/relationships/audio" Target="../media/audio1.wav"/><Relationship Id="rId1" Type="http://schemas.openxmlformats.org/officeDocument/2006/relationships/slideLayout" Target="../slideLayouts/slideLayout23.xml"/></Relationships>
</file>

<file path=ppt/slideMasters/_rels/slideMaster14.xml.rels><?xml version="1.0" encoding="UTF-8" standalone="yes"?>
<Relationships xmlns="http://schemas.openxmlformats.org/package/2006/relationships"><Relationship Id="rId3" Type="http://schemas.openxmlformats.org/officeDocument/2006/relationships/theme" Target="../theme/theme14.xml"/><Relationship Id="rId2" Type="http://schemas.openxmlformats.org/officeDocument/2006/relationships/audio" Target="../media/audio1.wav"/><Relationship Id="rId1" Type="http://schemas.openxmlformats.org/officeDocument/2006/relationships/slideLayout" Target="../slideLayouts/slideLayout24.xml"/></Relationships>
</file>

<file path=ppt/slideMasters/_rels/slideMaster15.xml.rels><?xml version="1.0" encoding="UTF-8" standalone="yes"?>
<Relationships xmlns="http://schemas.openxmlformats.org/package/2006/relationships"><Relationship Id="rId3" Type="http://schemas.openxmlformats.org/officeDocument/2006/relationships/theme" Target="../theme/theme15.xml"/><Relationship Id="rId2" Type="http://schemas.openxmlformats.org/officeDocument/2006/relationships/audio" Target="../media/audio1.wav"/><Relationship Id="rId1" Type="http://schemas.openxmlformats.org/officeDocument/2006/relationships/slideLayout" Target="../slideLayouts/slideLayout25.xml"/></Relationships>
</file>

<file path=ppt/slideMasters/_rels/slideMaster16.xml.rels><?xml version="1.0" encoding="UTF-8" standalone="yes"?>
<Relationships xmlns="http://schemas.openxmlformats.org/package/2006/relationships"><Relationship Id="rId3" Type="http://schemas.openxmlformats.org/officeDocument/2006/relationships/theme" Target="../theme/theme16.xml"/><Relationship Id="rId2" Type="http://schemas.openxmlformats.org/officeDocument/2006/relationships/audio" Target="../media/audio1.wav"/><Relationship Id="rId1" Type="http://schemas.openxmlformats.org/officeDocument/2006/relationships/slideLayout" Target="../slideLayouts/slideLayout26.xml"/></Relationships>
</file>

<file path=ppt/slideMasters/_rels/slideMaster17.xml.rels><?xml version="1.0" encoding="UTF-8" standalone="yes"?>
<Relationships xmlns="http://schemas.openxmlformats.org/package/2006/relationships"><Relationship Id="rId3" Type="http://schemas.openxmlformats.org/officeDocument/2006/relationships/theme" Target="../theme/theme17.xml"/><Relationship Id="rId2" Type="http://schemas.openxmlformats.org/officeDocument/2006/relationships/audio" Target="../media/audio1.wav"/><Relationship Id="rId1" Type="http://schemas.openxmlformats.org/officeDocument/2006/relationships/slideLayout" Target="../slideLayouts/slideLayout27.xml"/></Relationships>
</file>

<file path=ppt/slideMasters/_rels/slideMaster18.xml.rels><?xml version="1.0" encoding="UTF-8" standalone="yes"?>
<Relationships xmlns="http://schemas.openxmlformats.org/package/2006/relationships"><Relationship Id="rId3" Type="http://schemas.openxmlformats.org/officeDocument/2006/relationships/theme" Target="../theme/theme18.xml"/><Relationship Id="rId2" Type="http://schemas.openxmlformats.org/officeDocument/2006/relationships/audio" Target="../media/audio1.wav"/><Relationship Id="rId1" Type="http://schemas.openxmlformats.org/officeDocument/2006/relationships/slideLayout" Target="../slideLayouts/slideLayout28.xml"/></Relationships>
</file>

<file path=ppt/slideMasters/_rels/slideMaster19.xml.rels><?xml version="1.0" encoding="UTF-8" standalone="yes"?>
<Relationships xmlns="http://schemas.openxmlformats.org/package/2006/relationships"><Relationship Id="rId3" Type="http://schemas.openxmlformats.org/officeDocument/2006/relationships/theme" Target="../theme/theme19.xml"/><Relationship Id="rId2" Type="http://schemas.openxmlformats.org/officeDocument/2006/relationships/audio" Target="../media/audio1.wav"/><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p:random/>
        <p:sndAc>
          <p:stSnd>
            <p:snd r:embed="rId12" name="type.wav"/>
          </p:stSnd>
        </p:sndAc>
      </p:transition>
    </mc:Choice>
    <mc:Fallback>
      <p:transition spd="slow">
        <p:random/>
        <p:sndAc>
          <p:stSnd>
            <p:snd r:embed="rId1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7"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9"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1"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5"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9"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3"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5"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7"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9"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1"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5" r:id="rId1"/>
  </p:sldLayoutIdLst>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image" Target="../media/image4.svg"/><Relationship Id="rId5" Type="http://schemas.openxmlformats.org/officeDocument/2006/relationships/image" Target="../media/image3.png"/><Relationship Id="rId46" Type="http://schemas.openxmlformats.org/officeDocument/2006/relationships/notesSlide" Target="../notesSlides/notesSlide2.xml"/><Relationship Id="rId45" Type="http://schemas.openxmlformats.org/officeDocument/2006/relationships/slideLayout" Target="../slideLayouts/slideLayout12.xml"/><Relationship Id="rId44" Type="http://schemas.openxmlformats.org/officeDocument/2006/relationships/audio" Target="../media/audio1.wav"/><Relationship Id="rId43" Type="http://schemas.openxmlformats.org/officeDocument/2006/relationships/tags" Target="../tags/tag30.xml"/><Relationship Id="rId42" Type="http://schemas.openxmlformats.org/officeDocument/2006/relationships/tags" Target="../tags/tag29.xml"/><Relationship Id="rId41" Type="http://schemas.openxmlformats.org/officeDocument/2006/relationships/image" Target="../media/image14.svg"/><Relationship Id="rId40" Type="http://schemas.openxmlformats.org/officeDocument/2006/relationships/image" Target="../media/image13.png"/><Relationship Id="rId4" Type="http://schemas.openxmlformats.org/officeDocument/2006/relationships/tags" Target="../tags/tag3.xml"/><Relationship Id="rId39" Type="http://schemas.openxmlformats.org/officeDocument/2006/relationships/tags" Target="../tags/tag28.xml"/><Relationship Id="rId38" Type="http://schemas.openxmlformats.org/officeDocument/2006/relationships/tags" Target="../tags/tag27.xml"/><Relationship Id="rId37" Type="http://schemas.openxmlformats.org/officeDocument/2006/relationships/tags" Target="../tags/tag26.xml"/><Relationship Id="rId36" Type="http://schemas.openxmlformats.org/officeDocument/2006/relationships/tags" Target="../tags/tag25.xml"/><Relationship Id="rId35" Type="http://schemas.openxmlformats.org/officeDocument/2006/relationships/tags" Target="../tags/tag24.xml"/><Relationship Id="rId34" Type="http://schemas.openxmlformats.org/officeDocument/2006/relationships/image" Target="../media/image12.svg"/><Relationship Id="rId33" Type="http://schemas.openxmlformats.org/officeDocument/2006/relationships/image" Target="../media/image11.png"/><Relationship Id="rId32" Type="http://schemas.openxmlformats.org/officeDocument/2006/relationships/tags" Target="../tags/tag23.xml"/><Relationship Id="rId31" Type="http://schemas.openxmlformats.org/officeDocument/2006/relationships/tags" Target="../tags/tag22.xml"/><Relationship Id="rId30" Type="http://schemas.openxmlformats.org/officeDocument/2006/relationships/tags" Target="../tags/tag21.xml"/><Relationship Id="rId3" Type="http://schemas.openxmlformats.org/officeDocument/2006/relationships/tags" Target="../tags/tag2.xml"/><Relationship Id="rId29" Type="http://schemas.openxmlformats.org/officeDocument/2006/relationships/tags" Target="../tags/tag20.xml"/><Relationship Id="rId28" Type="http://schemas.openxmlformats.org/officeDocument/2006/relationships/tags" Target="../tags/tag19.xml"/><Relationship Id="rId27" Type="http://schemas.openxmlformats.org/officeDocument/2006/relationships/image" Target="../media/image10.svg"/><Relationship Id="rId26" Type="http://schemas.openxmlformats.org/officeDocument/2006/relationships/image" Target="../media/image9.png"/><Relationship Id="rId25" Type="http://schemas.openxmlformats.org/officeDocument/2006/relationships/tags" Target="../tags/tag18.xml"/><Relationship Id="rId24" Type="http://schemas.openxmlformats.org/officeDocument/2006/relationships/tags" Target="../tags/tag17.xml"/><Relationship Id="rId23" Type="http://schemas.openxmlformats.org/officeDocument/2006/relationships/tags" Target="../tags/tag16.xml"/><Relationship Id="rId22" Type="http://schemas.openxmlformats.org/officeDocument/2006/relationships/tags" Target="../tags/tag15.xml"/><Relationship Id="rId21" Type="http://schemas.openxmlformats.org/officeDocument/2006/relationships/tags" Target="../tags/tag14.xml"/><Relationship Id="rId20" Type="http://schemas.openxmlformats.org/officeDocument/2006/relationships/image" Target="../media/image8.svg"/><Relationship Id="rId2" Type="http://schemas.openxmlformats.org/officeDocument/2006/relationships/tags" Target="../tags/tag1.xml"/><Relationship Id="rId19" Type="http://schemas.openxmlformats.org/officeDocument/2006/relationships/image" Target="../media/image7.png"/><Relationship Id="rId18" Type="http://schemas.openxmlformats.org/officeDocument/2006/relationships/tags" Target="../tags/tag13.xml"/><Relationship Id="rId17" Type="http://schemas.openxmlformats.org/officeDocument/2006/relationships/tags" Target="../tags/tag12.xml"/><Relationship Id="rId16" Type="http://schemas.openxmlformats.org/officeDocument/2006/relationships/tags" Target="../tags/tag11.xml"/><Relationship Id="rId15" Type="http://schemas.openxmlformats.org/officeDocument/2006/relationships/tags" Target="../tags/tag10.xml"/><Relationship Id="rId14" Type="http://schemas.openxmlformats.org/officeDocument/2006/relationships/tags" Target="../tags/tag9.xml"/><Relationship Id="rId13" Type="http://schemas.openxmlformats.org/officeDocument/2006/relationships/image" Target="../media/image6.svg"/><Relationship Id="rId12" Type="http://schemas.openxmlformats.org/officeDocument/2006/relationships/image" Target="../media/image5.png"/><Relationship Id="rId11" Type="http://schemas.openxmlformats.org/officeDocument/2006/relationships/tags" Target="../tags/tag8.xml"/><Relationship Id="rId10" Type="http://schemas.openxmlformats.org/officeDocument/2006/relationships/tags" Target="../tags/tag7.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audio" Target="../media/audio1.wav"/><Relationship Id="rId2" Type="http://schemas.openxmlformats.org/officeDocument/2006/relationships/image" Target="../media/image15.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1" Type="http://schemas.openxmlformats.org/officeDocument/2006/relationships/notesSlide" Target="../notesSlides/notesSlide5.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tags" Target="../tags/tag40.xml"/><Relationship Id="rId7" Type="http://schemas.openxmlformats.org/officeDocument/2006/relationships/image" Target="../media/image19.svg"/><Relationship Id="rId6" Type="http://schemas.openxmlformats.org/officeDocument/2006/relationships/image" Target="../media/image18.png"/><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1" Type="http://schemas.openxmlformats.org/officeDocument/2006/relationships/notesSlide" Target="../notesSlides/notesSlide6.xml"/><Relationship Id="rId10" Type="http://schemas.openxmlformats.org/officeDocument/2006/relationships/slideLayout" Target="../slideLayouts/slideLayout14.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tags" Target="../tags/tag45.xml"/><Relationship Id="rId7" Type="http://schemas.openxmlformats.org/officeDocument/2006/relationships/image" Target="../media/image21.svg"/><Relationship Id="rId6" Type="http://schemas.openxmlformats.org/officeDocument/2006/relationships/image" Target="../media/image20.png"/><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1" Type="http://schemas.openxmlformats.org/officeDocument/2006/relationships/notesSlide" Target="../notesSlides/notesSlide7.xml"/><Relationship Id="rId10" Type="http://schemas.openxmlformats.org/officeDocument/2006/relationships/slideLayout" Target="../slideLayouts/slideLayout13.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image" Target="../media/image23.svg"/><Relationship Id="rId7" Type="http://schemas.openxmlformats.org/officeDocument/2006/relationships/image" Target="../media/image22.png"/><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1" Type="http://schemas.openxmlformats.org/officeDocument/2006/relationships/notesSlide" Target="../notesSlides/notesSlide8.xml"/><Relationship Id="rId10" Type="http://schemas.openxmlformats.org/officeDocument/2006/relationships/slideLayout" Target="../slideLayouts/slideLayout15.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audio" Target="../media/audio1.wav"/><Relationship Id="rId2" Type="http://schemas.openxmlformats.org/officeDocument/2006/relationships/image" Target="../media/image24.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6.xml"/><Relationship Id="rId3" Type="http://schemas.openxmlformats.org/officeDocument/2006/relationships/audio" Target="../media/audio1.wav"/><Relationship Id="rId2" Type="http://schemas.openxmlformats.org/officeDocument/2006/relationships/image" Target="../media/image25.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audio" Target="../media/audio1.wav"/><Relationship Id="rId4" Type="http://schemas.openxmlformats.org/officeDocument/2006/relationships/image" Target="../media/image28.png"/><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7.xml"/><Relationship Id="rId3" Type="http://schemas.openxmlformats.org/officeDocument/2006/relationships/audio" Target="../media/audio1.wav"/><Relationship Id="rId2" Type="http://schemas.openxmlformats.org/officeDocument/2006/relationships/image" Target="../media/image29.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12.xml"/><Relationship Id="rId5" Type="http://schemas.openxmlformats.org/officeDocument/2006/relationships/audio" Target="../media/audio1.wav"/><Relationship Id="rId4" Type="http://schemas.openxmlformats.org/officeDocument/2006/relationships/image" Target="../media/image32.png"/><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audio" Target="../media/audio1.wav"/><Relationship Id="rId3" Type="http://schemas.openxmlformats.org/officeDocument/2006/relationships/tags" Target="../tags/tag51.xml"/><Relationship Id="rId2" Type="http://schemas.openxmlformats.org/officeDocument/2006/relationships/image" Target="../media/image33.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18.xml"/><Relationship Id="rId6" Type="http://schemas.openxmlformats.org/officeDocument/2006/relationships/audio" Target="../media/audio1.wav"/><Relationship Id="rId5" Type="http://schemas.openxmlformats.org/officeDocument/2006/relationships/image" Target="../media/image37.png"/><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21.xml"/><Relationship Id="rId6" Type="http://schemas.openxmlformats.org/officeDocument/2006/relationships/audio" Target="../media/audio1.wav"/><Relationship Id="rId5" Type="http://schemas.openxmlformats.org/officeDocument/2006/relationships/image" Target="../media/image41.png"/><Relationship Id="rId4" Type="http://schemas.openxmlformats.org/officeDocument/2006/relationships/image" Target="../media/image40.png"/><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22.xml"/><Relationship Id="rId6" Type="http://schemas.openxmlformats.org/officeDocument/2006/relationships/audio" Target="../media/audio1.wav"/><Relationship Id="rId5" Type="http://schemas.openxmlformats.org/officeDocument/2006/relationships/image" Target="../media/image45.png"/><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20.xml"/><Relationship Id="rId6" Type="http://schemas.openxmlformats.org/officeDocument/2006/relationships/audio" Target="../media/audio1.wav"/><Relationship Id="rId5" Type="http://schemas.openxmlformats.org/officeDocument/2006/relationships/image" Target="../media/image49.png"/><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2.jpeg"/></Relationships>
</file>

<file path=ppt/slides/_rels/slide2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slideLayout" Target="../slideLayouts/slideLayout23.xml"/><Relationship Id="rId7" Type="http://schemas.openxmlformats.org/officeDocument/2006/relationships/audio" Target="../media/audio1.wav"/><Relationship Id="rId6" Type="http://schemas.openxmlformats.org/officeDocument/2006/relationships/tags" Target="../tags/tag54.xml"/><Relationship Id="rId5" Type="http://schemas.openxmlformats.org/officeDocument/2006/relationships/image" Target="../media/image51.png"/><Relationship Id="rId4" Type="http://schemas.openxmlformats.org/officeDocument/2006/relationships/image" Target="../media/image50.png"/><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9.xml"/><Relationship Id="rId7" Type="http://schemas.openxmlformats.org/officeDocument/2006/relationships/audio" Target="../media/audio1.wav"/><Relationship Id="rId6" Type="http://schemas.openxmlformats.org/officeDocument/2006/relationships/tags" Target="../tags/tag57.xml"/><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image" Target="../media/image2.jpeg"/></Relationships>
</file>

<file path=ppt/slides/_rels/slide23.xml.rels><?xml version="1.0" encoding="UTF-8" standalone="yes"?>
<Relationships xmlns="http://schemas.openxmlformats.org/package/2006/relationships"><Relationship Id="rId9" Type="http://schemas.openxmlformats.org/officeDocument/2006/relationships/image" Target="../media/image56.png"/><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image" Target="../media/image55.svg"/><Relationship Id="rId4" Type="http://schemas.openxmlformats.org/officeDocument/2006/relationships/image" Target="../media/image54.png"/><Relationship Id="rId3" Type="http://schemas.openxmlformats.org/officeDocument/2006/relationships/tags" Target="../tags/tag59.xml"/><Relationship Id="rId2" Type="http://schemas.openxmlformats.org/officeDocument/2006/relationships/tags" Target="../tags/tag58.xml"/><Relationship Id="rId16" Type="http://schemas.openxmlformats.org/officeDocument/2006/relationships/notesSlide" Target="../notesSlides/notesSlide23.xml"/><Relationship Id="rId15" Type="http://schemas.openxmlformats.org/officeDocument/2006/relationships/slideLayout" Target="../slideLayouts/slideLayout12.xml"/><Relationship Id="rId14" Type="http://schemas.openxmlformats.org/officeDocument/2006/relationships/audio" Target="../media/audio1.wav"/><Relationship Id="rId13" Type="http://schemas.openxmlformats.org/officeDocument/2006/relationships/image" Target="../media/image59.svg"/><Relationship Id="rId12" Type="http://schemas.openxmlformats.org/officeDocument/2006/relationships/image" Target="../media/image58.png"/><Relationship Id="rId11" Type="http://schemas.openxmlformats.org/officeDocument/2006/relationships/tags" Target="../tags/tag63.xml"/><Relationship Id="rId10" Type="http://schemas.openxmlformats.org/officeDocument/2006/relationships/image" Target="../media/image57.svg"/><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6" Type="http://schemas.openxmlformats.org/officeDocument/2006/relationships/notesSlide" Target="../notesSlides/notesSlide24.xml"/><Relationship Id="rId5" Type="http://schemas.openxmlformats.org/officeDocument/2006/relationships/slideLayout" Target="../slideLayouts/slideLayout24.xml"/><Relationship Id="rId4" Type="http://schemas.openxmlformats.org/officeDocument/2006/relationships/audio" Target="../media/audio1.wav"/><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6" Type="http://schemas.openxmlformats.org/officeDocument/2006/relationships/notesSlide" Target="../notesSlides/notesSlide25.xml"/><Relationship Id="rId5" Type="http://schemas.openxmlformats.org/officeDocument/2006/relationships/slideLayout" Target="../slideLayouts/slideLayout12.xml"/><Relationship Id="rId4" Type="http://schemas.openxmlformats.org/officeDocument/2006/relationships/audio" Target="../media/audio1.wav"/><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25.xml"/><Relationship Id="rId3" Type="http://schemas.openxmlformats.org/officeDocument/2006/relationships/audio" Target="../media/audio1.wav"/><Relationship Id="rId2" Type="http://schemas.openxmlformats.org/officeDocument/2006/relationships/image" Target="../media/image64.png"/><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7.xml"/><Relationship Id="rId8" Type="http://schemas.openxmlformats.org/officeDocument/2006/relationships/slideLayout" Target="../slideLayouts/slideLayout26.xml"/><Relationship Id="rId7" Type="http://schemas.openxmlformats.org/officeDocument/2006/relationships/audio" Target="../media/audio1.wav"/><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2.xml"/><Relationship Id="rId4" Type="http://schemas.openxmlformats.org/officeDocument/2006/relationships/audio" Target="../media/audio1.wav"/><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8" Type="http://schemas.openxmlformats.org/officeDocument/2006/relationships/notesSlide" Target="../notesSlides/notesSlide30.xml"/><Relationship Id="rId7" Type="http://schemas.openxmlformats.org/officeDocument/2006/relationships/slideLayout" Target="../slideLayouts/slideLayout27.xml"/><Relationship Id="rId6" Type="http://schemas.openxmlformats.org/officeDocument/2006/relationships/audio" Target="../media/audio1.wav"/><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image" Target="../media/image61.png"/><Relationship Id="rId1" Type="http://schemas.openxmlformats.org/officeDocument/2006/relationships/image" Target="../media/image2.jpeg"/></Relationships>
</file>

<file path=ppt/slides/_rels/slide31.xml.rels><?xml version="1.0" encoding="UTF-8" standalone="yes"?>
<Relationships xmlns="http://schemas.openxmlformats.org/package/2006/relationships"><Relationship Id="rId9" Type="http://schemas.openxmlformats.org/officeDocument/2006/relationships/tags" Target="../tags/tag74.xml"/><Relationship Id="rId8" Type="http://schemas.openxmlformats.org/officeDocument/2006/relationships/tags" Target="../tags/tag73.xml"/><Relationship Id="rId7" Type="http://schemas.openxmlformats.org/officeDocument/2006/relationships/tags" Target="../tags/tag72.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tags" Target="../tags/tag67.xml"/><Relationship Id="rId13" Type="http://schemas.openxmlformats.org/officeDocument/2006/relationships/notesSlide" Target="../notesSlides/notesSlide31.xml"/><Relationship Id="rId12" Type="http://schemas.openxmlformats.org/officeDocument/2006/relationships/slideLayout" Target="../slideLayouts/slideLayout28.xml"/><Relationship Id="rId11" Type="http://schemas.openxmlformats.org/officeDocument/2006/relationships/audio" Target="../media/audio1.wav"/><Relationship Id="rId10" Type="http://schemas.openxmlformats.org/officeDocument/2006/relationships/tags" Target="../tags/tag75.xml"/><Relationship Id="rId1" Type="http://schemas.openxmlformats.org/officeDocument/2006/relationships/image" Target="../media/image2.jpe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slideLayout" Target="../slideLayouts/slideLayout12.xml"/><Relationship Id="rId5" Type="http://schemas.openxmlformats.org/officeDocument/2006/relationships/audio" Target="../media/audio1.wav"/><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image" Target="../media/image72.png"/><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9" Type="http://schemas.openxmlformats.org/officeDocument/2006/relationships/notesSlide" Target="../notesSlides/notesSlide34.xml"/><Relationship Id="rId8" Type="http://schemas.openxmlformats.org/officeDocument/2006/relationships/slideLayout" Target="../slideLayouts/slideLayout29.xml"/><Relationship Id="rId7" Type="http://schemas.openxmlformats.org/officeDocument/2006/relationships/audio" Target="../media/audio1.wav"/><Relationship Id="rId6" Type="http://schemas.openxmlformats.org/officeDocument/2006/relationships/image" Target="../media/image77.jpeg"/><Relationship Id="rId5" Type="http://schemas.openxmlformats.org/officeDocument/2006/relationships/image" Target="../media/image76.svg"/><Relationship Id="rId4" Type="http://schemas.openxmlformats.org/officeDocument/2006/relationships/image" Target="../media/image75.png"/><Relationship Id="rId3" Type="http://schemas.openxmlformats.org/officeDocument/2006/relationships/image" Target="../media/image74.svg"/><Relationship Id="rId2" Type="http://schemas.openxmlformats.org/officeDocument/2006/relationships/image" Target="../media/image73.png"/><Relationship Id="rId1" Type="http://schemas.openxmlformats.org/officeDocument/2006/relationships/image" Target="../media/image2.jpe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audio" Target="../media/audio1.wav"/><Relationship Id="rId1" Type="http://schemas.openxmlformats.org/officeDocument/2006/relationships/image" Target="../media/image7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alphaModFix amt="72000"/>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16000" y="2002155"/>
            <a:ext cx="8414385" cy="180086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5400" b="1" i="0" u="none" strike="noStrike">
                <a:solidFill>
                  <a:schemeClr val="tx1">
                    <a:lumMod val="95000"/>
                    <a:lumOff val="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基于机器学习的糖尿病</a:t>
            </a:r>
            <a:endParaRPr lang="zh-CN" altLang="en-US" sz="5400" b="1" i="0" u="none" strike="noStrike">
              <a:solidFill>
                <a:schemeClr val="tx1">
                  <a:lumMod val="95000"/>
                  <a:lumOff val="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sz="5400" b="1" i="0" u="none" strike="noStrike">
                <a:solidFill>
                  <a:schemeClr val="tx1">
                    <a:lumMod val="95000"/>
                    <a:lumOff val="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预测模型对比分析</a:t>
            </a:r>
            <a:endParaRPr lang="zh-CN" altLang="en-US" sz="5400" b="1" i="0" u="none" strike="noStrike">
              <a:solidFill>
                <a:schemeClr val="tx1">
                  <a:lumMod val="95000"/>
                  <a:lumOff val="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1016000" y="4497070"/>
            <a:ext cx="127000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016000" y="4445000"/>
            <a:ext cx="889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数据挖掘学术汇报</a:t>
            </a:r>
            <a:endParaRPr lang="en-US" sz="1100"/>
          </a:p>
        </p:txBody>
      </p:sp>
      <p:sp>
        <p:nvSpPr>
          <p:cNvPr id="6" name="AutoShape 6"/>
          <p:cNvSpPr/>
          <p:nvPr/>
        </p:nvSpPr>
        <p:spPr>
          <a:xfrm>
            <a:off x="1143000" y="5334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于景琪</a:t>
            </a:r>
            <a:endPar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6"/>
          <p:cNvSpPr/>
          <p:nvPr/>
        </p:nvSpPr>
        <p:spPr>
          <a:xfrm>
            <a:off x="1143000" y="579501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小组成员</a:t>
            </a:r>
            <a:r>
              <a:rPr 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韦霖杰、王善义、</a:t>
            </a:r>
            <a:r>
              <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魏述桓、于景琪</a:t>
            </a:r>
            <a:endPar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文本框 7"/>
          <p:cNvSpPr txBox="1"/>
          <p:nvPr/>
        </p:nvSpPr>
        <p:spPr>
          <a:xfrm>
            <a:off x="1016000" y="4043045"/>
            <a:ext cx="3653790" cy="337185"/>
          </a:xfrm>
          <a:prstGeom prst="rect">
            <a:avLst/>
          </a:prstGeom>
          <a:noFill/>
        </p:spPr>
        <p:txBody>
          <a:bodyPr wrap="square" rtlCol="0">
            <a:spAutoFit/>
          </a:bodyPr>
          <a:p>
            <a:r>
              <a:rPr lang="zh-CN" altLang="en-US" sz="1600">
                <a:solidFill>
                  <a:schemeClr val="tx1">
                    <a:lumMod val="75000"/>
                    <a:lumOff val="25000"/>
                  </a:schemeClr>
                </a:solidFill>
                <a:effectLst>
                  <a:outerShdw blurRad="38100" dist="38100" dir="2700000" algn="tl">
                    <a:srgbClr val="000000">
                      <a:alpha val="43137"/>
                    </a:srgbClr>
                  </a:outerShdw>
                </a:effectLst>
              </a:rPr>
              <a:t>基于 </a:t>
            </a:r>
            <a:r>
              <a:rPr lang="en-US" altLang="zh-CN" sz="1600">
                <a:solidFill>
                  <a:schemeClr val="tx1">
                    <a:lumMod val="75000"/>
                    <a:lumOff val="25000"/>
                  </a:schemeClr>
                </a:solidFill>
                <a:effectLst>
                  <a:outerShdw blurRad="38100" dist="38100" dir="2700000" algn="tl">
                    <a:srgbClr val="000000">
                      <a:alpha val="43137"/>
                    </a:srgbClr>
                  </a:outerShdw>
                </a:effectLst>
              </a:rPr>
              <a:t>Pima Indians Diabetes Dataset</a:t>
            </a:r>
            <a:endParaRPr lang="en-US" altLang="zh-CN" sz="1600">
              <a:solidFill>
                <a:schemeClr val="tx1">
                  <a:lumMod val="75000"/>
                  <a:lumOff val="25000"/>
                </a:schemeClr>
              </a:solidFill>
              <a:effectLst>
                <a:outerShdw blurRad="38100" dist="38100" dir="2700000" algn="tl">
                  <a:srgbClr val="000000">
                    <a:alpha val="43137"/>
                  </a:srgbClr>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custDataLst>
              <p:tags r:id="rId2"/>
            </p:custDataLst>
          </p:nvPr>
        </p:nvSpPr>
        <p:spPr>
          <a:xfrm>
            <a:off x="762000" y="1905000"/>
            <a:ext cx="1651000" cy="4191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206500" y="2159000"/>
            <a:ext cx="762000" cy="762000"/>
          </a:xfrm>
          <a:prstGeom prst="ellipse">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71600" y="2324100"/>
            <a:ext cx="431800" cy="431800"/>
          </a:xfrm>
          <a:prstGeom prst="rect">
            <a:avLst/>
          </a:prstGeom>
        </p:spPr>
      </p:pic>
      <p:sp>
        <p:nvSpPr>
          <p:cNvPr id="7" name="AutoShape 7"/>
          <p:cNvSpPr/>
          <p:nvPr>
            <p:custDataLst>
              <p:tags r:id="rId7"/>
            </p:custDataLst>
          </p:nvPr>
        </p:nvSpPr>
        <p:spPr>
          <a:xfrm>
            <a:off x="889000" y="3175000"/>
            <a:ext cx="1397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7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挖掘目标定义</a:t>
            </a:r>
            <a:endParaRPr lang="en-US" sz="1100"/>
          </a:p>
        </p:txBody>
      </p:sp>
      <p:sp>
        <p:nvSpPr>
          <p:cNvPr id="8" name="AutoShape 8"/>
          <p:cNvSpPr/>
          <p:nvPr>
            <p:custDataLst>
              <p:tags r:id="rId8"/>
            </p:custDataLst>
          </p:nvPr>
        </p:nvSpPr>
        <p:spPr>
          <a:xfrm>
            <a:off x="889000" y="3810000"/>
            <a:ext cx="139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案例背景</a:t>
            </a:r>
            <a:endParaRPr lang="en-US" sz="1100">
              <a:solidFill>
                <a:schemeClr val="tx1">
                  <a:lumMod val="65000"/>
                  <a:lumOff val="35000"/>
                </a:schemeClr>
              </a:solidFill>
              <a:effectLst/>
            </a:endParaRPr>
          </a:p>
          <a:p>
            <a:pPr marL="0" indent="0" algn="l">
              <a:lnSpc>
                <a:spcPct val="125000"/>
              </a:lnSpc>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专业概念解释</a:t>
            </a:r>
            <a:endPar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custDataLst>
              <p:tags r:id="rId9"/>
            </p:custDataLst>
          </p:nvPr>
        </p:nvSpPr>
        <p:spPr>
          <a:xfrm>
            <a:off x="2540000" y="1905000"/>
            <a:ext cx="1651000" cy="4191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custDataLst>
              <p:tags r:id="rId10"/>
            </p:custDataLst>
          </p:nvPr>
        </p:nvSpPr>
        <p:spPr>
          <a:xfrm>
            <a:off x="2984500" y="2159000"/>
            <a:ext cx="762000" cy="762000"/>
          </a:xfrm>
          <a:prstGeom prst="ellipse">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1"/>
            </p:custDataLst>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3149600" y="2324100"/>
            <a:ext cx="431800" cy="431800"/>
          </a:xfrm>
          <a:prstGeom prst="rect">
            <a:avLst/>
          </a:prstGeom>
        </p:spPr>
      </p:pic>
      <p:sp>
        <p:nvSpPr>
          <p:cNvPr id="12" name="AutoShape 12"/>
          <p:cNvSpPr/>
          <p:nvPr>
            <p:custDataLst>
              <p:tags r:id="rId14"/>
            </p:custDataLst>
          </p:nvPr>
        </p:nvSpPr>
        <p:spPr>
          <a:xfrm>
            <a:off x="2667000" y="3175000"/>
            <a:ext cx="1397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7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a:t>
            </a:r>
            <a:endParaRPr lang="en-US" sz="1100"/>
          </a:p>
        </p:txBody>
      </p:sp>
      <p:sp>
        <p:nvSpPr>
          <p:cNvPr id="13" name="AutoShape 13"/>
          <p:cNvSpPr/>
          <p:nvPr>
            <p:custDataLst>
              <p:tags r:id="rId15"/>
            </p:custDataLst>
          </p:nvPr>
        </p:nvSpPr>
        <p:spPr>
          <a:xfrm>
            <a:off x="2667000" y="3810000"/>
            <a:ext cx="1397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数据选择</a:t>
            </a:r>
            <a:r>
              <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与描述</a:t>
            </a:r>
            <a:endParaRPr lang="en-US" sz="1100">
              <a:solidFill>
                <a:schemeClr val="tx1">
                  <a:lumMod val="65000"/>
                  <a:lumOff val="35000"/>
                </a:schemeClr>
              </a:solidFill>
              <a:effectLst/>
            </a:endParaRPr>
          </a:p>
          <a:p>
            <a:pPr marL="0" indent="0" algn="l">
              <a:lnSpc>
                <a:spcPct val="117000"/>
              </a:lnSpc>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数据质量分析</a:t>
            </a:r>
            <a:endPar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数据预处理</a:t>
            </a:r>
            <a:endPar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custDataLst>
              <p:tags r:id="rId16"/>
            </p:custDataLst>
          </p:nvPr>
        </p:nvSpPr>
        <p:spPr>
          <a:xfrm>
            <a:off x="4318000" y="1905000"/>
            <a:ext cx="1651000" cy="4191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5" name="AutoShape 15"/>
          <p:cNvSpPr/>
          <p:nvPr>
            <p:custDataLst>
              <p:tags r:id="rId17"/>
            </p:custDataLst>
          </p:nvPr>
        </p:nvSpPr>
        <p:spPr>
          <a:xfrm>
            <a:off x="4762500" y="2159000"/>
            <a:ext cx="762000" cy="762000"/>
          </a:xfrm>
          <a:prstGeom prst="ellipse">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4927600" y="2324100"/>
            <a:ext cx="431800" cy="431800"/>
          </a:xfrm>
          <a:prstGeom prst="rect">
            <a:avLst/>
          </a:prstGeom>
        </p:spPr>
      </p:pic>
      <p:sp>
        <p:nvSpPr>
          <p:cNvPr id="17" name="AutoShape 17"/>
          <p:cNvSpPr/>
          <p:nvPr>
            <p:custDataLst>
              <p:tags r:id="rId21"/>
            </p:custDataLst>
          </p:nvPr>
        </p:nvSpPr>
        <p:spPr>
          <a:xfrm>
            <a:off x="4445000" y="3175000"/>
            <a:ext cx="1397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7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数据探索</a:t>
            </a:r>
            <a:endParaRPr lang="en-US" sz="1100"/>
          </a:p>
        </p:txBody>
      </p:sp>
      <p:sp>
        <p:nvSpPr>
          <p:cNvPr id="18" name="AutoShape 18"/>
          <p:cNvSpPr/>
          <p:nvPr>
            <p:custDataLst>
              <p:tags r:id="rId22"/>
            </p:custDataLst>
          </p:nvPr>
        </p:nvSpPr>
        <p:spPr>
          <a:xfrm>
            <a:off x="4445000" y="3810000"/>
            <a:ext cx="139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数据可视化</a:t>
            </a:r>
            <a:endParaRPr lang="en-US" sz="1100">
              <a:solidFill>
                <a:schemeClr val="tx1">
                  <a:lumMod val="65000"/>
                  <a:lumOff val="35000"/>
                </a:schemeClr>
              </a:solidFill>
              <a:effectLst/>
            </a:endParaRPr>
          </a:p>
          <a:p>
            <a:pPr marL="0" indent="0" algn="l">
              <a:lnSpc>
                <a:spcPct val="125000"/>
              </a:lnSpc>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2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特征重要性分析</a:t>
            </a:r>
            <a:endPar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custDataLst>
              <p:tags r:id="rId23"/>
            </p:custDataLst>
          </p:nvPr>
        </p:nvSpPr>
        <p:spPr>
          <a:xfrm>
            <a:off x="6096000" y="1905000"/>
            <a:ext cx="1651000" cy="4191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0" name="AutoShape 20"/>
          <p:cNvSpPr/>
          <p:nvPr>
            <p:custDataLst>
              <p:tags r:id="rId24"/>
            </p:custDataLst>
          </p:nvPr>
        </p:nvSpPr>
        <p:spPr>
          <a:xfrm>
            <a:off x="6540500" y="2159000"/>
            <a:ext cx="762000" cy="762000"/>
          </a:xfrm>
          <a:prstGeom prst="ellipse">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custDataLst>
              <p:tags r:id="rId25"/>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6705600" y="2324100"/>
            <a:ext cx="431800" cy="431800"/>
          </a:xfrm>
          <a:prstGeom prst="rect">
            <a:avLst/>
          </a:prstGeom>
        </p:spPr>
      </p:pic>
      <p:sp>
        <p:nvSpPr>
          <p:cNvPr id="22" name="AutoShape 22"/>
          <p:cNvSpPr/>
          <p:nvPr>
            <p:custDataLst>
              <p:tags r:id="rId28"/>
            </p:custDataLst>
          </p:nvPr>
        </p:nvSpPr>
        <p:spPr>
          <a:xfrm>
            <a:off x="6223000" y="3175000"/>
            <a:ext cx="1397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7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模型建立</a:t>
            </a:r>
            <a:endParaRPr lang="en-US" sz="1100"/>
          </a:p>
        </p:txBody>
      </p:sp>
      <p:sp>
        <p:nvSpPr>
          <p:cNvPr id="23" name="AutoShape 23"/>
          <p:cNvSpPr/>
          <p:nvPr>
            <p:custDataLst>
              <p:tags r:id="rId29"/>
            </p:custDataLst>
          </p:nvPr>
        </p:nvSpPr>
        <p:spPr>
          <a:xfrm>
            <a:off x="6223000" y="3810000"/>
            <a:ext cx="1397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决策树</a:t>
            </a:r>
            <a:endParaRPr lang="en-US" sz="1100">
              <a:solidFill>
                <a:schemeClr val="tx1">
                  <a:lumMod val="65000"/>
                  <a:lumOff val="35000"/>
                </a:schemeClr>
              </a:solidFill>
              <a:effectLst/>
            </a:endParaRPr>
          </a:p>
          <a:p>
            <a:pPr marL="0" indent="0" algn="l">
              <a:lnSpc>
                <a:spcPct val="117000"/>
              </a:lnSpc>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MLP</a:t>
            </a:r>
            <a:r>
              <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神经网络</a:t>
            </a:r>
            <a:endPar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支持向量机 (</a:t>
            </a:r>
            <a:r>
              <a:rPr lang="en-US" altLang="zh-CN"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SVM)</a:t>
            </a:r>
            <a:endParaRPr lang="en-US" altLang="zh-CN"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endParaRPr lang="en-US" altLang="zh-CN"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custDataLst>
              <p:tags r:id="rId30"/>
            </p:custDataLst>
          </p:nvPr>
        </p:nvSpPr>
        <p:spPr>
          <a:xfrm>
            <a:off x="7874000" y="1905000"/>
            <a:ext cx="1651000" cy="4191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5" name="AutoShape 25"/>
          <p:cNvSpPr/>
          <p:nvPr>
            <p:custDataLst>
              <p:tags r:id="rId31"/>
            </p:custDataLst>
          </p:nvPr>
        </p:nvSpPr>
        <p:spPr>
          <a:xfrm>
            <a:off x="8318500" y="2159000"/>
            <a:ext cx="762000" cy="762000"/>
          </a:xfrm>
          <a:prstGeom prst="ellipse">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custDataLst>
              <p:tags r:id="rId32"/>
            </p:custDataLst>
          </p:nvPr>
        </p:nvPicPr>
        <p:blipFill>
          <a:blip r:embed="rId33">
            <a:extLst>
              <a:ext uri="{28A0092B-C50C-407E-A947-70E740481C1C}">
                <a14:useLocalDpi xmlns:a14="http://schemas.microsoft.com/office/drawing/2010/main" val="0"/>
              </a:ext>
              <a:ext uri="{96DAC541-7B7A-43D3-8B79-37D633B846F1}">
                <asvg:svgBlip xmlns:asvg="http://schemas.microsoft.com/office/drawing/2016/SVG/main" r:embed="rId34"/>
              </a:ext>
            </a:extLst>
          </a:blip>
          <a:stretch>
            <a:fillRect/>
          </a:stretch>
        </p:blipFill>
        <p:spPr>
          <a:xfrm>
            <a:off x="8483600" y="2324100"/>
            <a:ext cx="431800" cy="431800"/>
          </a:xfrm>
          <a:prstGeom prst="rect">
            <a:avLst/>
          </a:prstGeom>
        </p:spPr>
      </p:pic>
      <p:sp>
        <p:nvSpPr>
          <p:cNvPr id="27" name="AutoShape 27"/>
          <p:cNvSpPr/>
          <p:nvPr>
            <p:custDataLst>
              <p:tags r:id="rId35"/>
            </p:custDataLst>
          </p:nvPr>
        </p:nvSpPr>
        <p:spPr>
          <a:xfrm>
            <a:off x="8001000" y="3175000"/>
            <a:ext cx="1397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7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模型评估</a:t>
            </a:r>
            <a:endParaRPr lang="en-US" sz="1100"/>
          </a:p>
        </p:txBody>
      </p:sp>
      <p:sp>
        <p:nvSpPr>
          <p:cNvPr id="28" name="AutoShape 28"/>
          <p:cNvSpPr/>
          <p:nvPr>
            <p:custDataLst>
              <p:tags r:id="rId36"/>
            </p:custDataLst>
          </p:nvPr>
        </p:nvSpPr>
        <p:spPr>
          <a:xfrm>
            <a:off x="8001000" y="3810000"/>
            <a:ext cx="139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模型</a:t>
            </a: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性能</a:t>
            </a:r>
            <a:r>
              <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评估</a:t>
            </a:r>
            <a:endParaRPr lang="en-US" sz="1100">
              <a:solidFill>
                <a:schemeClr val="tx1">
                  <a:lumMod val="65000"/>
                  <a:lumOff val="35000"/>
                </a:schemeClr>
              </a:solidFill>
              <a:effectLst/>
            </a:endParaRPr>
          </a:p>
          <a:p>
            <a:pPr marL="0" indent="0" algn="l">
              <a:lnSpc>
                <a:spcPct val="125000"/>
              </a:lnSpc>
            </a:pPr>
            <a:endPar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29"/>
          <p:cNvSpPr/>
          <p:nvPr>
            <p:custDataLst>
              <p:tags r:id="rId37"/>
            </p:custDataLst>
          </p:nvPr>
        </p:nvSpPr>
        <p:spPr>
          <a:xfrm>
            <a:off x="9652000" y="1905000"/>
            <a:ext cx="1651000" cy="4191000"/>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30" name="AutoShape 30"/>
          <p:cNvSpPr/>
          <p:nvPr>
            <p:custDataLst>
              <p:tags r:id="rId38"/>
            </p:custDataLst>
          </p:nvPr>
        </p:nvSpPr>
        <p:spPr>
          <a:xfrm>
            <a:off x="10096500" y="2159000"/>
            <a:ext cx="762000" cy="762000"/>
          </a:xfrm>
          <a:prstGeom prst="ellipse">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custDataLst>
              <p:tags r:id="rId39"/>
            </p:custDataLst>
          </p:nvPr>
        </p:nvPicPr>
        <p:blipFill>
          <a:blip r:embed="rId40">
            <a:extLst>
              <a:ext uri="{28A0092B-C50C-407E-A947-70E740481C1C}">
                <a14:useLocalDpi xmlns:a14="http://schemas.microsoft.com/office/drawing/2010/main" val="0"/>
              </a:ext>
              <a:ext uri="{96DAC541-7B7A-43D3-8B79-37D633B846F1}">
                <asvg:svgBlip xmlns:asvg="http://schemas.microsoft.com/office/drawing/2016/SVG/main" r:embed="rId41"/>
              </a:ext>
            </a:extLst>
          </a:blip>
          <a:stretch>
            <a:fillRect/>
          </a:stretch>
        </p:blipFill>
        <p:spPr>
          <a:xfrm>
            <a:off x="10261600" y="2324100"/>
            <a:ext cx="431800" cy="431800"/>
          </a:xfrm>
          <a:prstGeom prst="rect">
            <a:avLst/>
          </a:prstGeom>
        </p:spPr>
      </p:pic>
      <p:sp>
        <p:nvSpPr>
          <p:cNvPr id="32" name="AutoShape 32"/>
          <p:cNvSpPr/>
          <p:nvPr>
            <p:custDataLst>
              <p:tags r:id="rId42"/>
            </p:custDataLst>
          </p:nvPr>
        </p:nvSpPr>
        <p:spPr>
          <a:xfrm>
            <a:off x="9779000" y="3175000"/>
            <a:ext cx="1397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7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模型部署</a:t>
            </a:r>
            <a:endParaRPr lang="en-US" sz="1100"/>
          </a:p>
        </p:txBody>
      </p:sp>
      <p:sp>
        <p:nvSpPr>
          <p:cNvPr id="33" name="AutoShape 33"/>
          <p:cNvSpPr/>
          <p:nvPr>
            <p:custDataLst>
              <p:tags r:id="rId43"/>
            </p:custDataLst>
          </p:nvPr>
        </p:nvSpPr>
        <p:spPr>
          <a:xfrm>
            <a:off x="9779000" y="3810000"/>
            <a:ext cx="1397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糖尿病风险预测系统部署</a:t>
            </a:r>
            <a:endParaRPr lang="en-US" sz="1100">
              <a:solidFill>
                <a:schemeClr val="tx1">
                  <a:lumMod val="65000"/>
                  <a:lumOff val="35000"/>
                </a:schemeClr>
              </a:solidFill>
              <a:effectLst/>
            </a:endParaRPr>
          </a:p>
          <a:p>
            <a:pPr marL="0" indent="0" algn="l">
              <a:lnSpc>
                <a:spcPct val="125000"/>
              </a:lnSpc>
            </a:pP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研究总结与</a:t>
            </a:r>
            <a:r>
              <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展望</a:t>
            </a:r>
            <a:endParaRPr lang="en-US" sz="1200" i="0" u="none">
              <a:solidFill>
                <a:schemeClr val="tx1">
                  <a:lumMod val="65000"/>
                  <a:lumOff val="3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44" name="type.wav"/>
          </p:stSnd>
        </p:sndAc>
      </p:transition>
    </mc:Choice>
    <mc:Fallback>
      <p:transition spd="slow">
        <p:random/>
        <p:sndAc>
          <p:stSnd>
            <p:snd r:embed="rId44" name="type.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524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4" name="AutoShape 4"/>
          <p:cNvSpPr/>
          <p:nvPr/>
        </p:nvSpPr>
        <p:spPr>
          <a:xfrm>
            <a:off x="0" y="3429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挖掘目标定义</a:t>
            </a:r>
            <a:endParaRPr lang="en-US" sz="1100"/>
          </a:p>
        </p:txBody>
      </p:sp>
      <p:sp>
        <p:nvSpPr>
          <p:cNvPr id="5" name="AutoShape 5"/>
          <p:cNvSpPr/>
          <p:nvPr/>
        </p:nvSpPr>
        <p:spPr>
          <a:xfrm>
            <a:off x="5588000" y="4699000"/>
            <a:ext cx="1016000" cy="635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778000" y="5334000"/>
            <a:ext cx="355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案例背景</a:t>
            </a:r>
            <a:endParaRPr lang="en-US" sz="1100"/>
          </a:p>
        </p:txBody>
      </p:sp>
      <p:sp>
        <p:nvSpPr>
          <p:cNvPr id="7" name="AutoShape 7"/>
          <p:cNvSpPr/>
          <p:nvPr/>
        </p:nvSpPr>
        <p:spPr>
          <a:xfrm>
            <a:off x="6858000" y="5334000"/>
            <a:ext cx="3556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专业概念解释</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849630" y="398145"/>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案例背景</a:t>
            </a:r>
            <a:endParaRPr lang="en-US" sz="1100"/>
          </a:p>
        </p:txBody>
      </p:sp>
      <p:sp>
        <p:nvSpPr>
          <p:cNvPr id="4" name="AutoShape 4"/>
          <p:cNvSpPr/>
          <p:nvPr/>
        </p:nvSpPr>
        <p:spPr>
          <a:xfrm>
            <a:off x="554355" y="1179195"/>
            <a:ext cx="11186795" cy="5361940"/>
          </a:xfrm>
          <a:prstGeom prst="roundRect">
            <a:avLst>
              <a:gd name="adj" fmla="val 333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t="22910" b="22910"/>
          <a:stretch>
            <a:fillRect/>
          </a:stretch>
        </p:blipFill>
        <p:spPr>
          <a:xfrm>
            <a:off x="6932295" y="1353820"/>
            <a:ext cx="4585335" cy="1781175"/>
          </a:xfrm>
          <a:prstGeom prst="roundRect">
            <a:avLst>
              <a:gd name="adj" fmla="val 5714"/>
            </a:avLst>
          </a:prstGeom>
          <a:noFill/>
          <a:ln w="25400" cap="flat" cmpd="sng">
            <a:noFill/>
            <a:prstDash val="solid"/>
            <a:round/>
          </a:ln>
        </p:spPr>
      </p:pic>
      <p:sp>
        <p:nvSpPr>
          <p:cNvPr id="6" name="AutoShape 6"/>
          <p:cNvSpPr/>
          <p:nvPr/>
        </p:nvSpPr>
        <p:spPr>
          <a:xfrm>
            <a:off x="849630" y="142875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研究背景</a:t>
            </a:r>
            <a:endParaRPr lang="en-US" sz="1100"/>
          </a:p>
        </p:txBody>
      </p:sp>
      <p:sp>
        <p:nvSpPr>
          <p:cNvPr id="7" name="AutoShape 7"/>
          <p:cNvSpPr/>
          <p:nvPr/>
        </p:nvSpPr>
        <p:spPr>
          <a:xfrm>
            <a:off x="849630" y="2553335"/>
            <a:ext cx="5720715" cy="3027045"/>
          </a:xfrm>
          <a:prstGeom prst="rect">
            <a:avLst/>
          </a:prstGeom>
          <a:noFill/>
          <a:ln w="12700" cap="flat" cmpd="sng">
            <a:noFill/>
            <a:prstDash val="solid"/>
            <a:round/>
          </a:ln>
        </p:spPr>
        <p:txBody>
          <a:bodyPr vert="horz" wrap="square" lIns="0" tIns="0" rIns="0" bIns="0" rtlCol="0" anchor="ctr" anchorCtr="0"/>
          <a:lstStyle/>
          <a:p>
            <a:pPr indent="0" algn="l" eaLnBrk="1" fontAlgn="auto" latinLnBrk="0" hangingPunct="1">
              <a:lnSpc>
                <a:spcPct val="125000"/>
              </a:lnSpc>
              <a:spcBef>
                <a:spcPts val="600"/>
              </a:spcBef>
              <a:spcAft>
                <a:spcPts val="600"/>
              </a:spcAft>
              <a:defRPr/>
            </a:pP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糖尿</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病（</a:t>
            </a:r>
            <a:r>
              <a:rPr lang="en-US" altLang="zh-CN"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Diabetes Mellitus）</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是一类以慢性高血糖为主要特征的代谢性疾病，随着人口老龄化、饮食结构变化以及生活方式改变，糖尿病患病率逐年上升，已成为全球范围内重要的公共卫生问题。</a:t>
            </a:r>
            <a:endPar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25000"/>
              </a:lnSpc>
              <a:spcBef>
                <a:spcPts val="600"/>
              </a:spcBef>
              <a:spcAft>
                <a:spcPts val="600"/>
              </a:spcAft>
              <a:defRPr/>
            </a:pP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 </a:t>
            </a:r>
            <a:r>
              <a:rPr lang="en-US" altLang="zh-CN"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International Diabetes Federation </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的统计，全球糖尿病患者人数已超过5亿，并呈持续增长趋势。由于糖尿病早期症状不明显，许多患者在确诊时已伴随不同程度的并发症，因此如何</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利用常规体检数据实现疾病的早期筛查与风险预测</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，具有重要的现实意义。</a:t>
            </a:r>
            <a:endParaRPr lang="en-US" altLang="zh-CN"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25000"/>
              </a:lnSpc>
              <a:spcBef>
                <a:spcPts val="600"/>
              </a:spcBef>
              <a:spcAft>
                <a:spcPts val="600"/>
              </a:spcAft>
              <a:defRPr/>
            </a:pP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近年来，随着医疗信息化的发展，大量医疗健康数据被积累下来。传统医学诊断方式较依赖医生经验，而数据挖掘与机器学习方法能够从历史数据中自动学习疾病特征与潜在规律，在疾病风险预测领域展现出良好的应用前景。</a:t>
            </a:r>
            <a:endParaRPr lang="en-US" altLang="zh-CN"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25000"/>
              </a:lnSpc>
              <a:spcBef>
                <a:spcPts val="600"/>
              </a:spcBef>
              <a:spcAft>
                <a:spcPts val="600"/>
              </a:spcAft>
              <a:defRPr/>
            </a:pP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因此，本研究基于</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经典的 </a:t>
            </a:r>
            <a:r>
              <a:rPr lang="en-US" altLang="zh-CN"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Pima Indians Diabetes Dataset </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，通过机器学习方法构建糖尿病风险预测模型，并分析影响糖尿病的重要特征指标，为疾病</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早期筛查与辅助诊断</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提供数据支持。</a:t>
            </a:r>
            <a:endPar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6"/>
          <p:cNvSpPr/>
          <p:nvPr/>
        </p:nvSpPr>
        <p:spPr>
          <a:xfrm>
            <a:off x="7202170" y="3308350"/>
            <a:ext cx="4826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数据来源</a:t>
            </a:r>
            <a:endPar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7"/>
          <p:cNvSpPr/>
          <p:nvPr/>
        </p:nvSpPr>
        <p:spPr>
          <a:xfrm>
            <a:off x="7217410" y="3577590"/>
            <a:ext cx="4300220" cy="270065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本研究采用的</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altLang="zh-CN"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Pima Indians Diabetes Dataset（</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皮马印第安人糖尿病数据集）</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来源于 </a:t>
            </a:r>
            <a:r>
              <a:rPr lang="en-US" altLang="zh-CN"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National Institute of Diabetes and Digestive and Kidney Diseases（NIDDK），</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并公开发布于 </a:t>
            </a:r>
            <a:r>
              <a:rPr lang="en-US" altLang="zh-CN"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Kaggle </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数据平台 。</a:t>
            </a:r>
            <a:endPar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altLang="zh-CN"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该数据集是</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医学机器学习领域中应用最广泛的经典公开数据集之一</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，被广泛用于</a:t>
            </a:r>
            <a:r>
              <a:rPr lang="zh-CN" altLang="en-US" b="1"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糖尿病预测、风险评估以及分类算法性能</a:t>
            </a:r>
            <a:r>
              <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a:t>
            </a:r>
            <a:endParaRPr lang="zh-CN" altLang="en-US" b="0" i="0" u="none" strike="noStrike">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3" name="type.wav"/>
          </p:stSnd>
        </p:sndAc>
      </p:transition>
    </mc:Choice>
    <mc:Fallback>
      <p:transition spd="slow">
        <p:random/>
        <p:sndAc>
          <p:stSnd>
            <p:snd r:embed="rId3" name="type.wav"/>
          </p:stSnd>
        </p:sndAc>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专业概念解释</a:t>
            </a:r>
            <a:endParaRPr lang="en-US" sz="1100"/>
          </a:p>
        </p:txBody>
      </p:sp>
      <p:sp>
        <p:nvSpPr>
          <p:cNvPr id="4" name="AutoShape 4"/>
          <p:cNvSpPr/>
          <p:nvPr>
            <p:custDataLst>
              <p:tags r:id="rId2"/>
            </p:custDataLst>
          </p:nvPr>
        </p:nvSpPr>
        <p:spPr>
          <a:xfrm>
            <a:off x="762000" y="1651000"/>
            <a:ext cx="10498455" cy="4572000"/>
          </a:xfrm>
          <a:prstGeom prst="roundRect">
            <a:avLst>
              <a:gd name="adj" fmla="val 51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651000"/>
            <a:ext cx="1040003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4"/>
            </p:custDataLst>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108200"/>
            <a:ext cx="406400" cy="406400"/>
          </a:xfrm>
          <a:prstGeom prst="rect">
            <a:avLst/>
          </a:prstGeom>
        </p:spPr>
      </p:pic>
      <p:sp>
        <p:nvSpPr>
          <p:cNvPr id="7" name="AutoShape 7"/>
          <p:cNvSpPr/>
          <p:nvPr>
            <p:custDataLst>
              <p:tags r:id="rId7"/>
            </p:custDataLst>
          </p:nvPr>
        </p:nvSpPr>
        <p:spPr>
          <a:xfrm>
            <a:off x="1524000" y="2057400"/>
            <a:ext cx="152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数据挖掘</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Mining</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custDataLst>
              <p:tags r:id="rId8"/>
            </p:custDataLst>
          </p:nvPr>
        </p:nvSpPr>
        <p:spPr>
          <a:xfrm>
            <a:off x="1016000" y="2895600"/>
            <a:ext cx="10051415" cy="3110230"/>
          </a:xfrm>
          <a:prstGeom prst="rect">
            <a:avLst/>
          </a:prstGeom>
          <a:noFill/>
          <a:ln w="12700" cap="flat" cmpd="sng">
            <a:noFill/>
            <a:prstDash val="solid"/>
            <a:round/>
          </a:ln>
        </p:spPr>
        <p:txBody>
          <a:bodyPr vert="horz" wrap="square" lIns="0" tIns="0" rIns="0" bIns="0" rtlCol="0" anchor="ctr" anchorCtr="0"/>
          <a:lstStyle/>
          <a:p>
            <a:pPr indent="0" algn="l" eaLnBrk="1" fontAlgn="auto" latinLnBrk="0" hangingPunct="1">
              <a:lnSpc>
                <a:spcPct val="133000"/>
              </a:lnSpc>
              <a:spcBef>
                <a:spcPts val="600"/>
              </a:spcBef>
              <a:spcAft>
                <a:spcPts val="600"/>
              </a:spcAft>
              <a:defRPr/>
            </a:pPr>
            <a:r>
              <a:rPr lang="zh-CN" altLang="en-US" sz="1600" b="1">
                <a:solidFill>
                  <a:srgbClr val="FF0000"/>
                </a:solidFill>
                <a:latin typeface="Noto Sans SC" panose="020B0200000000000000" charset="-122"/>
                <a:ea typeface="Noto Sans SC" panose="020B0200000000000000" charset="-122"/>
                <a:cs typeface="Noto Sans SC" panose="020B0200000000000000" charset="-122"/>
              </a:rPr>
              <a:t>数据挖掘</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是指</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从大量、不完全且具有潜在价值的数据中，通过统计分析、机器学习与模式识别等方法，提取隐藏规律、关联关系以及潜在知识的过程</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其</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核心目标</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是：</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从数据中发现有价值的信息；建立预测模型；辅助科学决策</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endParaRPr lang="zh-CN" altLang="en-US" sz="14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r>
              <a:rPr lang="zh-CN" altLang="en-US" sz="14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在医学领域中，数据挖掘技术能够帮助研究人员从海量健康数据中识别疾病风险因素、发现潜在诊断规律，并提升疾病预测效率。</a:t>
            </a:r>
            <a:endParaRPr lang="zh-CN" altLang="en-US" sz="14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endParaRPr lang="zh-CN" altLang="en-US" sz="14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本研究中，数据挖掘主要用于：</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分析糖尿病相关特征之间的关系；建立糖尿病风险预测模型；识别影响糖尿病的重要指标。</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9" name="type.wav"/>
          </p:stSnd>
        </p:sndAc>
      </p:transition>
    </mc:Choice>
    <mc:Fallback>
      <p:transition spd="slow">
        <p:random/>
        <p:sndAc>
          <p:stSnd>
            <p:snd r:embed="rId9" name="type.wav"/>
          </p:stSnd>
        </p:sndAc>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专业概念解释</a:t>
            </a:r>
            <a:endParaRPr lang="en-US" sz="1100"/>
          </a:p>
        </p:txBody>
      </p:sp>
      <p:sp>
        <p:nvSpPr>
          <p:cNvPr id="4" name="AutoShape 4"/>
          <p:cNvSpPr/>
          <p:nvPr>
            <p:custDataLst>
              <p:tags r:id="rId2"/>
            </p:custDataLst>
          </p:nvPr>
        </p:nvSpPr>
        <p:spPr>
          <a:xfrm>
            <a:off x="762000" y="1651000"/>
            <a:ext cx="10498455" cy="4572000"/>
          </a:xfrm>
          <a:prstGeom prst="roundRect">
            <a:avLst>
              <a:gd name="adj" fmla="val 51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651000"/>
            <a:ext cx="1040003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4"/>
            </p:custDataLst>
          </p:nvPr>
        </p:nvSpPr>
        <p:spPr>
          <a:xfrm>
            <a:off x="2140585" y="2829560"/>
            <a:ext cx="7230745" cy="3110230"/>
          </a:xfrm>
          <a:prstGeom prst="rect">
            <a:avLst/>
          </a:prstGeom>
          <a:noFill/>
          <a:ln w="12700" cap="flat" cmpd="sng">
            <a:noFill/>
            <a:prstDash val="solid"/>
            <a:round/>
          </a:ln>
        </p:spPr>
        <p:txBody>
          <a:bodyPr vert="horz" wrap="square" lIns="0" tIns="0" rIns="0" bIns="0" rtlCol="0" anchor="ctr" anchorCtr="0"/>
          <a:lstStyle/>
          <a:p>
            <a:pPr indent="0" algn="l" eaLnBrk="1" fontAlgn="auto" latinLnBrk="0" hangingPunct="1">
              <a:lnSpc>
                <a:spcPct val="133000"/>
              </a:lnSpc>
              <a:spcBef>
                <a:spcPts val="600"/>
              </a:spcBef>
              <a:spcAft>
                <a:spcPts val="600"/>
              </a:spcAft>
              <a:defRPr/>
            </a:pPr>
            <a:r>
              <a:rPr lang="zh-CN" altLang="en-US" sz="1600" b="1">
                <a:solidFill>
                  <a:srgbClr val="FF0000"/>
                </a:solidFill>
                <a:latin typeface="Noto Sans SC" panose="020B0200000000000000" charset="-122"/>
                <a:ea typeface="Noto Sans SC" panose="020B0200000000000000" charset="-122"/>
                <a:cs typeface="Noto Sans SC" panose="020B0200000000000000" charset="-122"/>
              </a:rPr>
              <a:t>监督学习</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是</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一种基于“输入—输出”样本进行训练的机器学习方法</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模型通过学习历史数据中特征与标签之间的关系，实现对未知数据的预测。</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endParaRPr lang="en-US" altLang="zh-CN">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本研究属于典型的监督学习任务：</a:t>
            </a:r>
            <a:endPar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输入特征包括血糖、</a:t>
            </a:r>
            <a:r>
              <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BMI、</a:t>
            </a: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年龄等医学指标；</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输出标签为</a:t>
            </a:r>
            <a:r>
              <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Outcome（</a:t>
            </a: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是否患糖尿病）。</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通过对历史患者数据进行训练，模型能够学习糖尿病相关规律，从而实现风险预测。</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p:txBody>
      </p:sp>
      <p:pic>
        <p:nvPicPr>
          <p:cNvPr id="16" name="Picture 16"/>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108200"/>
            <a:ext cx="406400" cy="406400"/>
          </a:xfrm>
          <a:prstGeom prst="rect">
            <a:avLst/>
          </a:prstGeom>
        </p:spPr>
      </p:pic>
      <p:sp>
        <p:nvSpPr>
          <p:cNvPr id="17" name="AutoShape 17"/>
          <p:cNvSpPr/>
          <p:nvPr>
            <p:custDataLst>
              <p:tags r:id="rId8"/>
            </p:custDataLst>
          </p:nvPr>
        </p:nvSpPr>
        <p:spPr>
          <a:xfrm>
            <a:off x="1523365" y="2108200"/>
            <a:ext cx="152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监督学习</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Supervised Learning</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9" name="type.wav"/>
          </p:stSnd>
        </p:sndAc>
      </p:transition>
    </mc:Choice>
    <mc:Fallback>
      <p:transition spd="slow">
        <p:random/>
        <p:sndAc>
          <p:stSnd>
            <p:snd r:embed="rId9" name="type.wav"/>
          </p:stSnd>
        </p:sndAc>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专业概念解释</a:t>
            </a:r>
            <a:endParaRPr lang="en-US" sz="1100"/>
          </a:p>
        </p:txBody>
      </p:sp>
      <p:sp>
        <p:nvSpPr>
          <p:cNvPr id="4" name="AutoShape 4"/>
          <p:cNvSpPr/>
          <p:nvPr>
            <p:custDataLst>
              <p:tags r:id="rId2"/>
            </p:custDataLst>
          </p:nvPr>
        </p:nvSpPr>
        <p:spPr>
          <a:xfrm>
            <a:off x="762000" y="1651000"/>
            <a:ext cx="10498455" cy="4572000"/>
          </a:xfrm>
          <a:prstGeom prst="roundRect">
            <a:avLst>
              <a:gd name="adj" fmla="val 51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651000"/>
            <a:ext cx="1040003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4"/>
            </p:custDataLst>
          </p:nvPr>
        </p:nvSpPr>
        <p:spPr>
          <a:xfrm>
            <a:off x="1510030" y="2108200"/>
            <a:ext cx="152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二元分类</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Binary Classification</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custDataLst>
              <p:tags r:id="rId5"/>
            </p:custDataLst>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2108200"/>
            <a:ext cx="406400" cy="406400"/>
          </a:xfrm>
          <a:prstGeom prst="rect">
            <a:avLst/>
          </a:prstGeom>
        </p:spPr>
      </p:pic>
      <p:sp>
        <p:nvSpPr>
          <p:cNvPr id="9" name="AutoShape 8"/>
          <p:cNvSpPr/>
          <p:nvPr>
            <p:custDataLst>
              <p:tags r:id="rId8"/>
            </p:custDataLst>
          </p:nvPr>
        </p:nvSpPr>
        <p:spPr>
          <a:xfrm>
            <a:off x="1816735" y="2997200"/>
            <a:ext cx="10051415" cy="3110230"/>
          </a:xfrm>
          <a:prstGeom prst="rect">
            <a:avLst/>
          </a:prstGeom>
          <a:noFill/>
          <a:ln w="12700" cap="flat" cmpd="sng">
            <a:noFill/>
            <a:prstDash val="solid"/>
            <a:round/>
          </a:ln>
        </p:spPr>
        <p:txBody>
          <a:bodyPr vert="horz" wrap="square" lIns="0" tIns="0" rIns="0" bIns="0" rtlCol="0" anchor="ctr" anchorCtr="0"/>
          <a:lstStyle/>
          <a:p>
            <a:pPr indent="0" algn="l" eaLnBrk="1" fontAlgn="auto" latinLnBrk="0" hangingPunct="1">
              <a:lnSpc>
                <a:spcPct val="133000"/>
              </a:lnSpc>
              <a:spcBef>
                <a:spcPts val="600"/>
              </a:spcBef>
              <a:spcAft>
                <a:spcPts val="600"/>
              </a:spcAft>
              <a:defRPr/>
            </a:pPr>
            <a:r>
              <a:rPr lang="zh-CN" altLang="en-US" sz="1600" b="1">
                <a:solidFill>
                  <a:srgbClr val="FF0000"/>
                </a:solidFill>
                <a:latin typeface="Noto Sans SC" panose="020B0200000000000000" charset="-122"/>
                <a:ea typeface="Noto Sans SC" panose="020B0200000000000000" charset="-122"/>
                <a:cs typeface="Noto Sans SC" panose="020B0200000000000000" charset="-122"/>
              </a:rPr>
              <a:t>二元分类</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是</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监督学习中的经典问题，其目标是将样本划分为两个互斥类别中的一个</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本研究属于典型的二分类问题：</a:t>
            </a:r>
            <a:endPar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类别	含义</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Outcome = 0	</a:t>
            </a: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未患糖尿病</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Outcome = 1	</a:t>
            </a: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患有糖尿病</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endPar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机器学习模型通过分析不同医学指标之间的关系，对患者进行自动分类与风险判断。</a:t>
            </a:r>
            <a:endPar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由于糖尿病预测涉及多变量共同作用与复杂非线性关系，因此适合采用机器学习分类算法进行研究。</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9" name="type.wav"/>
          </p:stSnd>
        </p:sndAc>
      </p:transition>
    </mc:Choice>
    <mc:Fallback>
      <p:transition spd="slow">
        <p:random/>
        <p:sndAc>
          <p:stSnd>
            <p:snd r:embed="rId9" name="type.wav"/>
          </p:stSnd>
        </p:sndAc>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专业概念解释</a:t>
            </a:r>
            <a:endParaRPr lang="en-US" sz="1100"/>
          </a:p>
        </p:txBody>
      </p:sp>
      <p:sp>
        <p:nvSpPr>
          <p:cNvPr id="4" name="AutoShape 4"/>
          <p:cNvSpPr/>
          <p:nvPr>
            <p:custDataLst>
              <p:tags r:id="rId2"/>
            </p:custDataLst>
          </p:nvPr>
        </p:nvSpPr>
        <p:spPr>
          <a:xfrm>
            <a:off x="762000" y="1651000"/>
            <a:ext cx="10498455" cy="4572000"/>
          </a:xfrm>
          <a:prstGeom prst="roundRect">
            <a:avLst>
              <a:gd name="adj" fmla="val 512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762000" y="1651000"/>
            <a:ext cx="10400030" cy="762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custDataLst>
              <p:tags r:id="rId4"/>
            </p:custDataLst>
          </p:nvPr>
        </p:nvSpPr>
        <p:spPr>
          <a:xfrm>
            <a:off x="1510030" y="2108200"/>
            <a:ext cx="254508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支持向量机</a:t>
            </a:r>
            <a:endParaRPr lang="en-US" sz="1100"/>
          </a:p>
          <a:p>
            <a:pPr marL="0" indent="0" algn="l">
              <a:lnSpc>
                <a:spcPct val="125000"/>
              </a:lnSpc>
            </a:pPr>
            <a:r>
              <a:rPr lang="en-US" altLang="zh-CN"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 Vector Machine, SVM</a:t>
            </a:r>
            <a:endParaRPr lang="en-US" altLang="zh-CN"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8"/>
          <p:cNvSpPr/>
          <p:nvPr>
            <p:custDataLst>
              <p:tags r:id="rId5"/>
            </p:custDataLst>
          </p:nvPr>
        </p:nvSpPr>
        <p:spPr>
          <a:xfrm>
            <a:off x="1188720" y="2895600"/>
            <a:ext cx="9645650" cy="3110230"/>
          </a:xfrm>
          <a:prstGeom prst="rect">
            <a:avLst/>
          </a:prstGeom>
          <a:noFill/>
          <a:ln w="12700" cap="flat" cmpd="sng">
            <a:noFill/>
            <a:prstDash val="solid"/>
            <a:round/>
          </a:ln>
        </p:spPr>
        <p:txBody>
          <a:bodyPr vert="horz" wrap="square" lIns="0" tIns="0" rIns="0" bIns="0" rtlCol="0" anchor="ctr" anchorCtr="0"/>
          <a:lstStyle/>
          <a:p>
            <a:pPr indent="0" algn="l" eaLnBrk="1" fontAlgn="auto" latinLnBrk="0" hangingPunct="1">
              <a:lnSpc>
                <a:spcPct val="133000"/>
              </a:lnSpc>
              <a:spcBef>
                <a:spcPts val="600"/>
              </a:spcBef>
              <a:spcAft>
                <a:spcPts val="600"/>
              </a:spcAft>
              <a:defRPr/>
            </a:pPr>
            <a:r>
              <a:rPr lang="zh-CN" altLang="en-US" sz="1600" b="1">
                <a:solidFill>
                  <a:srgbClr val="FF0000"/>
                </a:solidFill>
                <a:latin typeface="Noto Sans SC" panose="020B0200000000000000" charset="-122"/>
                <a:ea typeface="Noto Sans SC" panose="020B0200000000000000" charset="-122"/>
                <a:cs typeface="Noto Sans SC" panose="020B0200000000000000" charset="-122"/>
              </a:rPr>
              <a:t>支持向量机（SVM）</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是</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一种经典监督学习算法。</a:t>
            </a:r>
            <a:endPar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defRPr/>
            </a:pP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其</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核心思想</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是：</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通过寻找能够最大化类别间隔的最优超平面，实现数据分类</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endParaRPr lang="zh-CN" altLang="en-US" sz="9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r>
              <a:rPr lang="en-US" altLang="zh-CN"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SVM</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具有：</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泛化能力强；适合小样本数据；能够处理高维特征问题</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rPr>
              <a:t>等特点，因此被广泛应用于医学预测领域。</a:t>
            </a: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defRPr/>
            </a:pPr>
            <a:endPar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endParaRPr>
          </a:p>
          <a:p>
            <a:pPr indent="0" algn="l" eaLnBrk="1" fontAlgn="auto" latinLnBrk="0" hangingPunct="1">
              <a:lnSpc>
                <a:spcPct val="133000"/>
              </a:lnSpc>
              <a:spcBef>
                <a:spcPts val="600"/>
              </a:spcBef>
              <a:spcAft>
                <a:spcPts val="600"/>
              </a:spcAft>
              <a:defRPr/>
            </a:pPr>
            <a:r>
              <a:rPr lang="en-US" altLang="zh-CN"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在本研究中，SVM模型在测试集上取得了最高准确率，说明其能够较好地区分糖尿病患者与非患者，是本次实验中表现最优的模型。</a:t>
            </a:r>
            <a:endParaRPr lang="zh-CN" alt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p:txBody>
      </p:sp>
      <p:pic>
        <p:nvPicPr>
          <p:cNvPr id="21" name="Picture 21"/>
          <p:cNvPicPr>
            <a:picLocks noChangeAspect="1"/>
          </p:cNvPicPr>
          <p:nvPr>
            <p:custDataLst>
              <p:tags r:id="rId6"/>
            </p:custDataLst>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2108200"/>
            <a:ext cx="406400" cy="4064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sndAc>
          <p:stSnd>
            <p:snd r:embed="rId9" name="type.wav"/>
          </p:stSnd>
        </p:sndAc>
      </p:transition>
    </mc:Choice>
    <mc:Fallback>
      <p:transition spd="slow">
        <p:random/>
        <p:sndAc>
          <p:stSnd>
            <p:snd r:embed="rId9" name="type.wav"/>
          </p:stSnd>
        </p:sndAc>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397000"/>
            <a:ext cx="12192000" cy="165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4" name="AutoShape 4"/>
          <p:cNvSpPr/>
          <p:nvPr/>
        </p:nvSpPr>
        <p:spPr>
          <a:xfrm>
            <a:off x="0" y="3302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数据准备</a:t>
            </a:r>
            <a:endParaRPr lang="en-US" sz="1100"/>
          </a:p>
        </p:txBody>
      </p:sp>
      <p:sp>
        <p:nvSpPr>
          <p:cNvPr id="5" name="AutoShape 5"/>
          <p:cNvSpPr/>
          <p:nvPr/>
        </p:nvSpPr>
        <p:spPr>
          <a:xfrm>
            <a:off x="1016000" y="4699000"/>
            <a:ext cx="3048000" cy="1397000"/>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 name="AutoShape 6"/>
          <p:cNvSpPr/>
          <p:nvPr/>
        </p:nvSpPr>
        <p:spPr>
          <a:xfrm>
            <a:off x="2159000" y="4953000"/>
            <a:ext cx="762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16000" y="5207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数据选择与描述</a:t>
            </a:r>
            <a:endParaRPr lang="en-US" sz="1100"/>
          </a:p>
        </p:txBody>
      </p:sp>
      <p:sp>
        <p:nvSpPr>
          <p:cNvPr id="8" name="AutoShape 8"/>
          <p:cNvSpPr/>
          <p:nvPr/>
        </p:nvSpPr>
        <p:spPr>
          <a:xfrm>
            <a:off x="4572000" y="4699000"/>
            <a:ext cx="3048000" cy="1397000"/>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5715000" y="4953000"/>
            <a:ext cx="762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4572000" y="5207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数据质量分析</a:t>
            </a:r>
            <a:endParaRPr lang="en-US" sz="1100"/>
          </a:p>
        </p:txBody>
      </p:sp>
      <p:sp>
        <p:nvSpPr>
          <p:cNvPr id="11" name="AutoShape 11"/>
          <p:cNvSpPr/>
          <p:nvPr/>
        </p:nvSpPr>
        <p:spPr>
          <a:xfrm>
            <a:off x="8128000" y="4699000"/>
            <a:ext cx="3048000" cy="1397000"/>
          </a:xfrm>
          <a:prstGeom prst="roundRect">
            <a:avLst>
              <a:gd name="adj" fmla="val 10909"/>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9271000" y="4953000"/>
            <a:ext cx="762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8128000" y="5207000"/>
            <a:ext cx="304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数据预处理</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数据选择</a:t>
            </a:r>
            <a:endParaRPr lang="en-US" sz="1100"/>
          </a:p>
        </p:txBody>
      </p:sp>
      <p:sp>
        <p:nvSpPr>
          <p:cNvPr id="4" name="AutoShape 4"/>
          <p:cNvSpPr/>
          <p:nvPr/>
        </p:nvSpPr>
        <p:spPr>
          <a:xfrm>
            <a:off x="554355" y="1233170"/>
            <a:ext cx="11083925" cy="5264150"/>
          </a:xfrm>
          <a:prstGeom prst="roundRect">
            <a:avLst>
              <a:gd name="adj" fmla="val 10526"/>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 name="AutoShape 6"/>
          <p:cNvSpPr/>
          <p:nvPr/>
        </p:nvSpPr>
        <p:spPr>
          <a:xfrm>
            <a:off x="916940" y="1233170"/>
            <a:ext cx="8769985" cy="505015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spcBef>
                <a:spcPts val="600"/>
              </a:spcBef>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原数据 </a:t>
            </a:r>
            <a:endPar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Pima Indians Diabetes Dataset </a:t>
            </a:r>
            <a:endPar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美国国立卫生研究院糖尿病研究所收集的皮马印第安人女性健康检查数据（包含8项生理指标）</a:t>
            </a: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数据来源</a:t>
            </a:r>
            <a:endPar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NIDDK（</a:t>
            </a:r>
            <a:r>
              <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美国国家糖尿病与消化及肾脏疾病研究所）</a:t>
            </a:r>
            <a:endParaRPr lang="zh-CN" alt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UCI Machine Learning Repository </a:t>
            </a:r>
            <a:endPar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文献参考</a:t>
            </a:r>
            <a:endParaRPr lang="en-US" sz="18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Smith, J.W., Everhart, J.E., Dickson, W.C., </a:t>
            </a:r>
            <a:endPar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Knowler, W.C., &amp; Johannes, R.S. </a:t>
            </a:r>
            <a:endPar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Using the ADAPtative Learning Algorithm to Forecast </a:t>
            </a:r>
            <a:endPar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the Onset of Diabetes Mellitus. </a:t>
            </a:r>
            <a:endPar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Proceedings of the Symposium on Computer Applications</a:t>
            </a:r>
            <a:endPar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600"/>
              </a:spcBef>
            </a:pPr>
            <a:r>
              <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and Medical Care, 261-265(1988).</a:t>
            </a:r>
            <a:endParaRPr lang="en-US" altLang="zh-CN"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0" name="图片 19" descr="885e54480dbbdc61405aeb222903ccb6"/>
          <p:cNvPicPr>
            <a:picLocks noChangeAspect="1"/>
          </p:cNvPicPr>
          <p:nvPr/>
        </p:nvPicPr>
        <p:blipFill>
          <a:blip r:embed="rId2"/>
          <a:srcRect t="12056" r="14598" b="6019"/>
          <a:stretch>
            <a:fillRect/>
          </a:stretch>
        </p:blipFill>
        <p:spPr>
          <a:xfrm>
            <a:off x="5513070" y="2768600"/>
            <a:ext cx="6125210" cy="3728720"/>
          </a:xfrm>
          <a:prstGeom prst="round2Diag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sndAc>
          <p:stSnd>
            <p:snd r:embed="rId3" name="type.wav"/>
          </p:stSnd>
        </p:sndAc>
      </p:transition>
    </mc:Choice>
    <mc:Fallback>
      <p:transition spd="slow">
        <p:random/>
        <p:sndAc>
          <p:stSnd>
            <p:snd r:embed="rId3" name="type.wav"/>
          </p:stSnd>
        </p:sndAc>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1308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a:t>
            </a: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预览</a:t>
            </a:r>
            <a:endPar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图片 8" descr="6af9dc5e0ed241c02fc59e0fb088cc3c"/>
          <p:cNvPicPr>
            <a:picLocks noChangeAspect="1"/>
          </p:cNvPicPr>
          <p:nvPr/>
        </p:nvPicPr>
        <p:blipFill>
          <a:blip r:embed="rId2"/>
          <a:srcRect l="3526" t="4500" r="4864" b="2279"/>
          <a:stretch>
            <a:fillRect/>
          </a:stretch>
        </p:blipFill>
        <p:spPr>
          <a:xfrm>
            <a:off x="1313815" y="2428875"/>
            <a:ext cx="9432925" cy="4342130"/>
          </a:xfrm>
          <a:prstGeom prst="rect">
            <a:avLst/>
          </a:prstGeom>
        </p:spPr>
      </p:pic>
      <p:sp>
        <p:nvSpPr>
          <p:cNvPr id="10" name="文本框 9"/>
          <p:cNvSpPr txBox="1"/>
          <p:nvPr/>
        </p:nvSpPr>
        <p:spPr>
          <a:xfrm>
            <a:off x="639445" y="1240155"/>
            <a:ext cx="11009630" cy="706755"/>
          </a:xfrm>
          <a:prstGeom prst="rect">
            <a:avLst/>
          </a:prstGeom>
          <a:noFill/>
        </p:spPr>
        <p:txBody>
          <a:bodyPr wrap="square" rtlCol="0" anchor="t">
            <a:spAutoFit/>
          </a:bodyPr>
          <a:p>
            <a:pPr marL="0" indent="0" algn="l">
              <a:lnSpc>
                <a:spcPct val="125000"/>
              </a:lnSpc>
              <a:defRPr/>
            </a:pP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数据集中共包含</a:t>
            </a:r>
            <a:r>
              <a:rPr lang="zh-CN" altLang="en-US" sz="1600" b="1">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768</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名21岁以上皮马印第安女性的健康体检数据，每条数据记录对应一个研究对象，共包括</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8个医学特征指标</a:t>
            </a:r>
            <a:r>
              <a:rPr lang="zh-CN" altLang="en-US"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以及</a:t>
            </a:r>
            <a:r>
              <a:rPr lang="zh-CN" altLang="en-US"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1个目标变量（</a:t>
            </a:r>
            <a:r>
              <a:rPr lang="en-US" altLang="zh-CN" sz="1600" b="1">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Outcome）</a:t>
            </a:r>
            <a:r>
              <a:rPr lang="en-US" altLang="zh-CN"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600">
              <a:solidFill>
                <a:schemeClr val="tx1">
                  <a:lumMod val="85000"/>
                  <a:lumOff val="15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文本框 10"/>
          <p:cNvSpPr txBox="1"/>
          <p:nvPr/>
        </p:nvSpPr>
        <p:spPr>
          <a:xfrm>
            <a:off x="9706610" y="1818005"/>
            <a:ext cx="2640330" cy="610870"/>
          </a:xfrm>
          <a:prstGeom prst="rect">
            <a:avLst/>
          </a:prstGeom>
          <a:noFill/>
        </p:spPr>
        <p:txBody>
          <a:bodyPr wrap="square" rtlCol="0" anchor="t">
            <a:noAutofit/>
          </a:bodyPr>
          <a:p>
            <a:pPr marL="0" indent="0" algn="l">
              <a:lnSpc>
                <a:spcPct val="125000"/>
              </a:lnSpc>
              <a:defRPr/>
            </a:pPr>
            <a:r>
              <a:rPr lang="en-US" altLang="zh-CN" b="1">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Outcome = 0 </a:t>
            </a:r>
            <a:r>
              <a:rPr lang="zh-CN" altLang="en-US" b="1">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表示未患糖尿病</a:t>
            </a:r>
            <a:endParaRPr lang="zh-CN" altLang="en-US" b="1" i="0" u="none" strike="noStrike">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altLang="zh-CN" b="1">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Outcome = 1 </a:t>
            </a:r>
            <a:r>
              <a:rPr lang="zh-CN" altLang="en-US" b="1">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表示患有糖尿病</a:t>
            </a:r>
            <a:endParaRPr lang="zh-CN" altLang="en-US" b="1">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矩形 11"/>
          <p:cNvSpPr/>
          <p:nvPr/>
        </p:nvSpPr>
        <p:spPr>
          <a:xfrm>
            <a:off x="9819005" y="2512060"/>
            <a:ext cx="840740" cy="4175760"/>
          </a:xfrm>
          <a:prstGeom prst="rect">
            <a:avLst/>
          </a:prstGeom>
          <a:ln>
            <a:solidFill>
              <a:schemeClr val="accent2"/>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4" name="文本框 13"/>
          <p:cNvSpPr txBox="1"/>
          <p:nvPr/>
        </p:nvSpPr>
        <p:spPr>
          <a:xfrm>
            <a:off x="1749425" y="2024380"/>
            <a:ext cx="1259205" cy="534035"/>
          </a:xfrm>
          <a:prstGeom prst="rect">
            <a:avLst/>
          </a:prstGeom>
          <a:noFill/>
        </p:spPr>
        <p:txBody>
          <a:bodyPr wrap="square" rtlCol="0" anchor="t">
            <a:noAutofit/>
          </a:bodyPr>
          <a:p>
            <a:pPr lvl="0" algn="l">
              <a:lnSpc>
                <a:spcPct val="125000"/>
              </a:lnSpc>
              <a:buSzTx/>
              <a:defRPr/>
            </a:pP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怀孕</a:t>
            </a: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次数</a:t>
            </a:r>
            <a:endPar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文本框 15"/>
          <p:cNvSpPr txBox="1"/>
          <p:nvPr/>
        </p:nvSpPr>
        <p:spPr>
          <a:xfrm>
            <a:off x="2803525" y="2024380"/>
            <a:ext cx="1259205" cy="534035"/>
          </a:xfrm>
          <a:prstGeom prst="rect">
            <a:avLst/>
          </a:prstGeom>
          <a:noFill/>
        </p:spPr>
        <p:txBody>
          <a:bodyPr wrap="square" rtlCol="0" anchor="t">
            <a:noAutofit/>
          </a:bodyPr>
          <a:p>
            <a:pPr lvl="0" algn="l">
              <a:lnSpc>
                <a:spcPct val="125000"/>
              </a:lnSpc>
              <a:buSzTx/>
              <a:defRPr/>
            </a:pP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葡萄糖浓度</a:t>
            </a:r>
            <a:endPar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文本框 16"/>
          <p:cNvSpPr txBox="1"/>
          <p:nvPr/>
        </p:nvSpPr>
        <p:spPr>
          <a:xfrm>
            <a:off x="4001770" y="2024380"/>
            <a:ext cx="1259205" cy="534035"/>
          </a:xfrm>
          <a:prstGeom prst="rect">
            <a:avLst/>
          </a:prstGeom>
          <a:noFill/>
        </p:spPr>
        <p:txBody>
          <a:bodyPr wrap="square" rtlCol="0" anchor="t">
            <a:noAutofit/>
          </a:bodyPr>
          <a:p>
            <a:pPr lvl="0" algn="l">
              <a:lnSpc>
                <a:spcPct val="125000"/>
              </a:lnSpc>
              <a:buSzTx/>
              <a:defRPr/>
            </a:pP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舒张压</a:t>
            </a:r>
            <a:endPar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文本框 17"/>
          <p:cNvSpPr txBox="1"/>
          <p:nvPr/>
        </p:nvSpPr>
        <p:spPr>
          <a:xfrm>
            <a:off x="4976495" y="2024380"/>
            <a:ext cx="1259205" cy="534035"/>
          </a:xfrm>
          <a:prstGeom prst="rect">
            <a:avLst/>
          </a:prstGeom>
          <a:noFill/>
        </p:spPr>
        <p:txBody>
          <a:bodyPr wrap="square" rtlCol="0" anchor="t">
            <a:noAutofit/>
          </a:bodyPr>
          <a:p>
            <a:pPr lvl="0" algn="l">
              <a:lnSpc>
                <a:spcPct val="125000"/>
              </a:lnSpc>
              <a:buSzTx/>
              <a:defRPr/>
            </a:pP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皮褶厚度</a:t>
            </a:r>
            <a:endPar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文本框 18"/>
          <p:cNvSpPr txBox="1"/>
          <p:nvPr/>
        </p:nvSpPr>
        <p:spPr>
          <a:xfrm>
            <a:off x="5748655" y="2024380"/>
            <a:ext cx="1259205" cy="534035"/>
          </a:xfrm>
          <a:prstGeom prst="rect">
            <a:avLst/>
          </a:prstGeom>
          <a:noFill/>
        </p:spPr>
        <p:txBody>
          <a:bodyPr wrap="square" rtlCol="0" anchor="t">
            <a:noAutofit/>
          </a:bodyPr>
          <a:p>
            <a:pPr lvl="0" algn="l">
              <a:lnSpc>
                <a:spcPct val="125000"/>
              </a:lnSpc>
              <a:buSzTx/>
              <a:defRPr/>
            </a:pP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血清胰岛素</a:t>
            </a:r>
            <a:endPar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文本框 19"/>
          <p:cNvSpPr txBox="1"/>
          <p:nvPr/>
        </p:nvSpPr>
        <p:spPr>
          <a:xfrm>
            <a:off x="6677660" y="1817370"/>
            <a:ext cx="1259205" cy="534035"/>
          </a:xfrm>
          <a:prstGeom prst="rect">
            <a:avLst/>
          </a:prstGeom>
          <a:noFill/>
        </p:spPr>
        <p:txBody>
          <a:bodyPr wrap="square" rtlCol="0" anchor="t">
            <a:noAutofit/>
          </a:bodyPr>
          <a:p>
            <a:pPr lvl="0" algn="l">
              <a:lnSpc>
                <a:spcPct val="125000"/>
              </a:lnSpc>
              <a:buSzTx/>
              <a:defRPr/>
            </a:pP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体质指数</a:t>
            </a:r>
            <a:endPar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文本框 20"/>
          <p:cNvSpPr txBox="1"/>
          <p:nvPr/>
        </p:nvSpPr>
        <p:spPr>
          <a:xfrm>
            <a:off x="7413625" y="2024380"/>
            <a:ext cx="1887220" cy="534035"/>
          </a:xfrm>
          <a:prstGeom prst="rect">
            <a:avLst/>
          </a:prstGeom>
          <a:noFill/>
        </p:spPr>
        <p:txBody>
          <a:bodyPr wrap="square" rtlCol="0" anchor="t">
            <a:noAutofit/>
          </a:bodyPr>
          <a:p>
            <a:pPr lvl="0" algn="l">
              <a:lnSpc>
                <a:spcPct val="125000"/>
              </a:lnSpc>
              <a:buSzTx/>
              <a:defRPr/>
            </a:pP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糖尿病</a:t>
            </a: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遗传系谱</a:t>
            </a: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功能</a:t>
            </a:r>
            <a:endPar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文本框 21"/>
          <p:cNvSpPr txBox="1"/>
          <p:nvPr/>
        </p:nvSpPr>
        <p:spPr>
          <a:xfrm>
            <a:off x="9237980" y="2024380"/>
            <a:ext cx="1259205" cy="534035"/>
          </a:xfrm>
          <a:prstGeom prst="rect">
            <a:avLst/>
          </a:prstGeom>
          <a:noFill/>
        </p:spPr>
        <p:txBody>
          <a:bodyPr wrap="square" rtlCol="0" anchor="t">
            <a:noAutofit/>
          </a:bodyPr>
          <a:p>
            <a:pPr marL="0" indent="0" algn="l">
              <a:lnSpc>
                <a:spcPct val="125000"/>
              </a:lnSpc>
              <a:defRPr/>
            </a:pPr>
            <a:r>
              <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rPr>
              <a:t>年龄</a:t>
            </a:r>
            <a:endParaRPr lang="zh-CN" altLang="en-US" b="1">
              <a:solidFill>
                <a:schemeClr val="tx1">
                  <a:lumMod val="95000"/>
                  <a:lumOff val="5000"/>
                </a:schemeClr>
              </a:solidFill>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3" name="type.wav"/>
          </p:stSnd>
        </p:sndAc>
      </p:transition>
    </mc:Choice>
    <mc:Fallback>
      <p:transition spd="slow">
        <p:random/>
        <p:sndAc>
          <p:stSnd>
            <p:snd r:embed="rId3" name="type.wav"/>
          </p:stSnd>
        </p:sndAc>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数据质量分析</a:t>
            </a:r>
            <a:endParaRPr lang="en-US" sz="1100"/>
          </a:p>
        </p:txBody>
      </p:sp>
      <p:sp>
        <p:nvSpPr>
          <p:cNvPr id="4" name="AutoShape 4"/>
          <p:cNvSpPr/>
          <p:nvPr/>
        </p:nvSpPr>
        <p:spPr>
          <a:xfrm>
            <a:off x="668655" y="1342390"/>
            <a:ext cx="10846435" cy="5111750"/>
          </a:xfrm>
          <a:prstGeom prst="roundRect">
            <a:avLst>
              <a:gd name="adj" fmla="val 6486"/>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7" name="AutoShape 7"/>
          <p:cNvSpPr/>
          <p:nvPr/>
        </p:nvSpPr>
        <p:spPr>
          <a:xfrm>
            <a:off x="1047750" y="1630045"/>
            <a:ext cx="8669020" cy="62420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类别分布：</a:t>
            </a: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数据存在轻微不平衡 (</a:t>
            </a:r>
            <a:r>
              <a:rPr 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阴性 500 / 阳性 268</a:t>
            </a: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)，但样本总量充足，无需额外过采样。</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8000"/>
              </a:lnSpc>
              <a:defRPr/>
            </a:pP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4" name="图片 13"/>
          <p:cNvPicPr>
            <a:picLocks noChangeAspect="1"/>
          </p:cNvPicPr>
          <p:nvPr/>
        </p:nvPicPr>
        <p:blipFill>
          <a:blip r:embed="rId2"/>
          <a:stretch>
            <a:fillRect/>
          </a:stretch>
        </p:blipFill>
        <p:spPr>
          <a:xfrm>
            <a:off x="1859915" y="2381885"/>
            <a:ext cx="4140835" cy="1432560"/>
          </a:xfrm>
          <a:prstGeom prst="rect">
            <a:avLst/>
          </a:prstGeom>
        </p:spPr>
      </p:pic>
      <p:pic>
        <p:nvPicPr>
          <p:cNvPr id="15" name="图片 14"/>
          <p:cNvPicPr>
            <a:picLocks noChangeAspect="1"/>
          </p:cNvPicPr>
          <p:nvPr/>
        </p:nvPicPr>
        <p:blipFill>
          <a:blip r:embed="rId3"/>
          <a:stretch>
            <a:fillRect/>
          </a:stretch>
        </p:blipFill>
        <p:spPr>
          <a:xfrm>
            <a:off x="6263005" y="2376170"/>
            <a:ext cx="4227830" cy="1432560"/>
          </a:xfrm>
          <a:prstGeom prst="rect">
            <a:avLst/>
          </a:prstGeom>
        </p:spPr>
      </p:pic>
      <p:sp>
        <p:nvSpPr>
          <p:cNvPr id="17" name="AutoShape 7"/>
          <p:cNvSpPr/>
          <p:nvPr/>
        </p:nvSpPr>
        <p:spPr>
          <a:xfrm>
            <a:off x="1047750" y="3223895"/>
            <a:ext cx="10147935" cy="156146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600"/>
          </a:p>
          <a:p>
            <a:pPr marL="0" indent="0" algn="l">
              <a:lnSpc>
                <a:spcPct val="108000"/>
              </a:lnSpc>
            </a:pPr>
            <a:r>
              <a:rPr lang="en-US" sz="16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关键特征差异：</a:t>
            </a:r>
            <a:r>
              <a:rPr lang="en-US" sz="16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患者组平均 BMI (35.14) 显著高于非患者组 (30.0)，且平均血糖值 (141.25) 已达高血糖诊断标准。</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7"/>
          <p:cNvSpPr/>
          <p:nvPr/>
        </p:nvSpPr>
        <p:spPr>
          <a:xfrm>
            <a:off x="1047750" y="4220210"/>
            <a:ext cx="10147935" cy="156146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endParaRPr lang="en-US" sz="1600"/>
          </a:p>
          <a:p>
            <a:pPr marL="0" indent="0" algn="l">
              <a:lnSpc>
                <a:spcPct val="108000"/>
              </a:lnSpc>
            </a:pPr>
            <a:r>
              <a:rPr lang="en-US" sz="16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6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缺失值情况</a:t>
            </a:r>
            <a:r>
              <a:rPr lang="en-US" sz="1600"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6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部分患者数值缺失，记录为</a:t>
            </a:r>
            <a:r>
              <a:rPr lang="en-US" altLang="zh-CN" sz="16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a:t>
            </a:r>
            <a:r>
              <a:rPr lang="zh-CN" altLang="en-US" sz="1600">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600">
                <a:solidFill>
                  <a:srgbClr val="4B5563"/>
                </a:solidFill>
                <a:latin typeface="Noto Sans SC" panose="020B0200000000000000" charset="-122"/>
                <a:ea typeface="Noto Sans SC" panose="020B0200000000000000" charset="-122"/>
                <a:cs typeface="Noto Sans SC" panose="020B0200000000000000" charset="-122"/>
                <a:sym typeface="+mn-ea"/>
              </a:rPr>
              <a:t>这可能会导致数据分析结果出现偏差，因此决定用</a:t>
            </a:r>
            <a:r>
              <a:rPr lang="zh-CN" altLang="en-US" sz="1600" b="1">
                <a:solidFill>
                  <a:srgbClr val="4B5563"/>
                </a:solidFill>
                <a:latin typeface="Noto Sans SC" panose="020B0200000000000000" charset="-122"/>
                <a:ea typeface="Noto Sans SC" panose="020B0200000000000000" charset="-122"/>
                <a:cs typeface="Noto Sans SC" panose="020B0200000000000000" charset="-122"/>
                <a:sym typeface="+mn-ea"/>
              </a:rPr>
              <a:t>平均值</a:t>
            </a:r>
            <a:r>
              <a:rPr lang="zh-CN" altLang="en-US" sz="1600">
                <a:solidFill>
                  <a:srgbClr val="4B5563"/>
                </a:solidFill>
                <a:latin typeface="Noto Sans SC" panose="020B0200000000000000" charset="-122"/>
                <a:ea typeface="Noto Sans SC" panose="020B0200000000000000" charset="-122"/>
                <a:cs typeface="Noto Sans SC" panose="020B0200000000000000" charset="-122"/>
                <a:sym typeface="+mn-ea"/>
              </a:rPr>
              <a:t>来代替，以确保分析的准确性和可靠性。</a:t>
            </a:r>
            <a:endParaRPr lang="zh-CN" altLang="en-US" sz="1600">
              <a:solidFill>
                <a:srgbClr val="4B5563"/>
              </a:solidFill>
              <a:latin typeface="Noto Sans SC" panose="020B0200000000000000" charset="-122"/>
              <a:ea typeface="Noto Sans SC" panose="020B0200000000000000" charset="-122"/>
              <a:cs typeface="Noto Sans SC" panose="020B0200000000000000" charset="-122"/>
              <a:sym typeface="+mn-ea"/>
            </a:endParaRPr>
          </a:p>
        </p:txBody>
      </p:sp>
      <p:pic>
        <p:nvPicPr>
          <p:cNvPr id="18" name="图片 17" descr="6af9dc5e0ed241c02fc59e0fb088cc3c"/>
          <p:cNvPicPr>
            <a:picLocks noChangeAspect="1"/>
          </p:cNvPicPr>
          <p:nvPr/>
        </p:nvPicPr>
        <p:blipFill>
          <a:blip r:embed="rId4"/>
          <a:srcRect/>
          <a:stretch>
            <a:fillRect/>
          </a:stretch>
        </p:blipFill>
        <p:spPr>
          <a:xfrm>
            <a:off x="6031865" y="4328795"/>
            <a:ext cx="5483225" cy="212534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sndAc>
          <p:stSnd>
            <p:snd r:embed="rId5" name="type.wav"/>
          </p:stSnd>
        </p:sndAc>
      </p:transition>
    </mc:Choice>
    <mc:Fallback>
      <p:transition spd="slow">
        <p:random/>
        <p:sndAc>
          <p:stSnd>
            <p:snd r:embed="rId5"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数据预处理</a:t>
            </a:r>
            <a:endParaRPr lang="en-US" sz="1100"/>
          </a:p>
        </p:txBody>
      </p:sp>
      <p:pic>
        <p:nvPicPr>
          <p:cNvPr id="16" name="图片 15" descr="f96e5d7eef9fb75c429c854b74167c69"/>
          <p:cNvPicPr>
            <a:picLocks noChangeAspect="1"/>
          </p:cNvPicPr>
          <p:nvPr/>
        </p:nvPicPr>
        <p:blipFill>
          <a:blip r:embed="rId2"/>
          <a:srcRect t="9667" r="1940" b="5571"/>
          <a:stretch>
            <a:fillRect/>
          </a:stretch>
        </p:blipFill>
        <p:spPr>
          <a:xfrm>
            <a:off x="1221740" y="2461260"/>
            <a:ext cx="9536430" cy="2628900"/>
          </a:xfrm>
          <a:prstGeom prst="roundRect">
            <a:avLst/>
          </a:prstGeom>
        </p:spPr>
      </p:pic>
      <p:sp>
        <p:nvSpPr>
          <p:cNvPr id="13" name="矩形 12"/>
          <p:cNvSpPr/>
          <p:nvPr/>
        </p:nvSpPr>
        <p:spPr>
          <a:xfrm>
            <a:off x="1652270" y="2717165"/>
            <a:ext cx="7128510" cy="637540"/>
          </a:xfrm>
          <a:prstGeom prst="rect">
            <a:avLst/>
          </a:prstGeom>
          <a:ln>
            <a:solidFill>
              <a:srgbClr val="FF0000"/>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14" name="直接箭头连接符 13"/>
          <p:cNvCxnSpPr/>
          <p:nvPr/>
        </p:nvCxnSpPr>
        <p:spPr>
          <a:xfrm flipV="1">
            <a:off x="3004185" y="1867535"/>
            <a:ext cx="0" cy="84963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5" name="AutoShape 7"/>
          <p:cNvSpPr/>
          <p:nvPr/>
        </p:nvSpPr>
        <p:spPr>
          <a:xfrm>
            <a:off x="4499610" y="5789295"/>
            <a:ext cx="3192780" cy="62420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用均值填充</a:t>
            </a: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缺失值</a:t>
            </a:r>
            <a:endPar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矩形 16"/>
          <p:cNvSpPr/>
          <p:nvPr/>
        </p:nvSpPr>
        <p:spPr>
          <a:xfrm>
            <a:off x="1652270" y="4301490"/>
            <a:ext cx="5505450" cy="541020"/>
          </a:xfrm>
          <a:prstGeom prst="rect">
            <a:avLst/>
          </a:prstGeom>
          <a:ln>
            <a:solidFill>
              <a:schemeClr val="accent1"/>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cxnSp>
        <p:nvCxnSpPr>
          <p:cNvPr id="18" name="直接箭头连接符 17"/>
          <p:cNvCxnSpPr/>
          <p:nvPr/>
        </p:nvCxnSpPr>
        <p:spPr>
          <a:xfrm flipH="1">
            <a:off x="5429250" y="4928870"/>
            <a:ext cx="9525" cy="8407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9" name="AutoShape 7"/>
          <p:cNvSpPr/>
          <p:nvPr/>
        </p:nvSpPr>
        <p:spPr>
          <a:xfrm>
            <a:off x="2361565" y="1243330"/>
            <a:ext cx="8669020" cy="624205"/>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统计指标均值</a:t>
            </a:r>
            <a:endParaRPr lang="zh-CN" altLang="en-US" sz="2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3" name="type.wav"/>
          </p:stSnd>
        </p:sndAc>
      </p:transition>
    </mc:Choice>
    <mc:Fallback>
      <p:transition spd="slow">
        <p:random/>
        <p:sndAc>
          <p:stSnd>
            <p:snd r:embed="rId3" name="type.wav"/>
          </p:stSnd>
        </p:sndAc>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4" name="AutoShape 4"/>
          <p:cNvSpPr/>
          <p:nvPr/>
        </p:nvSpPr>
        <p:spPr>
          <a:xfrm>
            <a:off x="0" y="3683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数据探索</a:t>
            </a:r>
            <a:endParaRPr lang="en-US" sz="1100"/>
          </a:p>
        </p:txBody>
      </p:sp>
      <p:sp>
        <p:nvSpPr>
          <p:cNvPr id="5" name="AutoShape 5"/>
          <p:cNvSpPr/>
          <p:nvPr/>
        </p:nvSpPr>
        <p:spPr>
          <a:xfrm>
            <a:off x="5778500" y="4953000"/>
            <a:ext cx="635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0" y="5334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数据可视化 · 特征重要性分析</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9FAFB">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特征皮尔逊相关性分析</a:t>
            </a:r>
            <a:endParaRPr lang="en-US" sz="1100"/>
          </a:p>
        </p:txBody>
      </p:sp>
      <p:pic>
        <p:nvPicPr>
          <p:cNvPr id="13" name="图片 12" descr="17b0fd7f87946263ff3e67c28d9e1744"/>
          <p:cNvPicPr>
            <a:picLocks noChangeAspect="1"/>
          </p:cNvPicPr>
          <p:nvPr/>
        </p:nvPicPr>
        <p:blipFill>
          <a:blip r:embed="rId2"/>
          <a:stretch>
            <a:fillRect/>
          </a:stretch>
        </p:blipFill>
        <p:spPr>
          <a:xfrm>
            <a:off x="2003425" y="1550670"/>
            <a:ext cx="8586470" cy="2239645"/>
          </a:xfrm>
          <a:prstGeom prst="rect">
            <a:avLst/>
          </a:prstGeom>
        </p:spPr>
      </p:pic>
      <p:pic>
        <p:nvPicPr>
          <p:cNvPr id="14" name="图片 13" descr="959e00f9da38ace3e3a86eb07b5e5e30"/>
          <p:cNvPicPr>
            <a:picLocks noChangeAspect="1"/>
          </p:cNvPicPr>
          <p:nvPr/>
        </p:nvPicPr>
        <p:blipFill>
          <a:blip r:embed="rId3"/>
          <a:stretch>
            <a:fillRect/>
          </a:stretch>
        </p:blipFill>
        <p:spPr>
          <a:xfrm>
            <a:off x="1163320" y="3790315"/>
            <a:ext cx="10266680" cy="2516505"/>
          </a:xfrm>
          <a:prstGeom prst="rect">
            <a:avLst/>
          </a:prstGeom>
        </p:spPr>
      </p:pic>
      <p:pic>
        <p:nvPicPr>
          <p:cNvPr id="11" name="图片 10"/>
          <p:cNvPicPr>
            <a:picLocks noChangeAspect="1"/>
          </p:cNvPicPr>
          <p:nvPr/>
        </p:nvPicPr>
        <p:blipFill>
          <a:blip r:embed="rId4"/>
          <a:stretch>
            <a:fillRect/>
          </a:stretch>
        </p:blipFill>
        <p:spPr>
          <a:xfrm>
            <a:off x="366395" y="1143000"/>
            <a:ext cx="11458575" cy="5276850"/>
          </a:xfrm>
          <a:prstGeom prst="rect">
            <a:avLst/>
          </a:prstGeom>
        </p:spPr>
      </p:pic>
      <p:sp>
        <p:nvSpPr>
          <p:cNvPr id="6" name="AutoShape 6"/>
          <p:cNvSpPr/>
          <p:nvPr/>
        </p:nvSpPr>
        <p:spPr>
          <a:xfrm>
            <a:off x="144145" y="5189855"/>
            <a:ext cx="4597400" cy="1524000"/>
          </a:xfrm>
          <a:prstGeom prst="rect">
            <a:avLst/>
          </a:prstGeom>
          <a:solidFill>
            <a:schemeClr val="bg1">
              <a:lumMod val="85000"/>
            </a:schemeClr>
          </a:solidFill>
          <a:ln w="12700" cap="flat" cmpd="sng">
            <a:noFill/>
            <a:prstDash val="solid"/>
            <a:round/>
          </a:ln>
        </p:spPr>
        <p:txBody>
          <a:bodyPr vert="horz" wrap="square" lIns="0" tIns="0" rIns="0" bIns="0" rtlCol="0" anchor="ctr" anchorCtr="0"/>
          <a:lstStyle/>
          <a:p>
            <a:pPr marL="0" indent="0" algn="l">
              <a:lnSpc>
                <a:spcPct val="108000"/>
              </a:lnSpc>
              <a:spcBef>
                <a:spcPts val="800"/>
              </a:spcBef>
              <a:defRPr/>
            </a:pPr>
            <a:r>
              <a:rPr lang="en-US" sz="1700" b="1" i="0" u="none" strike="noStrike">
                <a:solidFill>
                  <a:srgbClr val="374151"/>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1. 强正相关特征对</a:t>
            </a:r>
            <a:endParaRPr lang="en-US" sz="1100">
              <a:effectLst>
                <a:outerShdw blurRad="38100" dist="38100" dir="2700000" algn="tl">
                  <a:srgbClr val="000000">
                    <a:alpha val="43137"/>
                  </a:srgbClr>
                </a:outerShdw>
              </a:effectLst>
            </a:endParaRPr>
          </a:p>
          <a:p>
            <a:pPr marL="0" indent="0" algn="l">
              <a:lnSpc>
                <a:spcPct val="125000"/>
              </a:lnSpc>
              <a:spcBef>
                <a:spcPts val="1000"/>
              </a:spcBef>
            </a:pPr>
            <a:r>
              <a:rPr lang="en-US" sz="1400" b="0" i="0" u="none" strike="noStrike">
                <a:solidFill>
                  <a:srgbClr val="4B5563"/>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 怀孕次数 (Pregnancies) 与 年龄 (Age)</a:t>
            </a:r>
            <a:br>
              <a:rPr lang="en-US" sz="1600" b="0" i="0" u="none" strike="noStrike">
                <a:solidFill>
                  <a:srgbClr val="1F2329"/>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 胰岛素 (Insulin) 与 皮肤厚度 (SkinThickness)</a:t>
            </a:r>
            <a:br>
              <a:rPr lang="en-US" sz="1600" b="0" i="0" u="none" strike="noStrike">
                <a:solidFill>
                  <a:srgbClr val="1F2329"/>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4B5563"/>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 身体质量指数 (BMI) 与 皮肤厚度 (SkinThickness)</a:t>
            </a:r>
            <a:endParaRPr lang="en-US" sz="1400" b="0" i="0" u="none" strike="noStrike">
              <a:solidFill>
                <a:srgbClr val="4B5563"/>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459345" y="5443855"/>
            <a:ext cx="4597400" cy="1270000"/>
          </a:xfrm>
          <a:prstGeom prst="rect">
            <a:avLst/>
          </a:prstGeom>
          <a:solidFill>
            <a:schemeClr val="bg1">
              <a:lumMod val="85000"/>
            </a:schemeClr>
          </a:solidFill>
          <a:ln w="12700" cap="flat" cmpd="sng">
            <a:noFill/>
            <a:prstDash val="solid"/>
            <a:round/>
          </a:ln>
        </p:spPr>
        <p:txBody>
          <a:bodyPr vert="horz" wrap="square" lIns="0" tIns="0" rIns="0" bIns="0" rtlCol="0" anchor="ctr" anchorCtr="0"/>
          <a:lstStyle/>
          <a:p>
            <a:pPr marL="0" indent="0" algn="l">
              <a:lnSpc>
                <a:spcPct val="108000"/>
              </a:lnSpc>
              <a:spcBef>
                <a:spcPts val="1200"/>
              </a:spcBef>
              <a:defRPr/>
            </a:pPr>
            <a:r>
              <a:rPr lang="en-US" sz="1700" b="1" i="0" u="none" strike="noStrike">
                <a:solidFill>
                  <a:srgbClr val="374151"/>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2. 与患病结果 (Outcome) 最相关的特征</a:t>
            </a:r>
            <a:endParaRPr lang="en-US" sz="1100">
              <a:effectLst>
                <a:outerShdw blurRad="38100" dist="38100" dir="2700000" algn="tl">
                  <a:srgbClr val="000000">
                    <a:alpha val="43137"/>
                  </a:srgbClr>
                </a:outerShdw>
              </a:effectLst>
            </a:endParaRPr>
          </a:p>
          <a:p>
            <a:pPr marL="0" indent="0" algn="l">
              <a:lnSpc>
                <a:spcPct val="117000"/>
              </a:lnSpc>
              <a:spcBef>
                <a:spcPts val="800"/>
              </a:spcBef>
            </a:pPr>
            <a:r>
              <a:rPr lang="en-US" sz="1400" b="0" i="0" u="none" strike="noStrike">
                <a:solidFill>
                  <a:srgbClr val="4B5563"/>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在所有变量中，</a:t>
            </a:r>
            <a:r>
              <a:rPr lang="en-US" sz="1500" b="1" i="0" u="none" strike="noStrike">
                <a:solidFill>
                  <a:srgbClr val="DC2626"/>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血糖 (Glucose)</a:t>
            </a:r>
            <a:r>
              <a:rPr lang="en-US" sz="1400" b="0" i="0" u="none" strike="noStrike">
                <a:solidFill>
                  <a:srgbClr val="4B5563"/>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与</a:t>
            </a:r>
            <a:r>
              <a:rPr lang="en-US" sz="1500" b="1" i="0" u="none" strike="noStrike">
                <a:solidFill>
                  <a:srgbClr val="DC2626"/>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身体质量指数 (BMI)</a:t>
            </a:r>
            <a:r>
              <a:rPr lang="en-US" sz="1400" b="0" i="0" u="none" strike="noStrike">
                <a:solidFill>
                  <a:srgbClr val="4B5563"/>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rPr>
              <a:t>与最终是否患糖尿病呈现出最强的正相关性，是预测模型的核心变量。</a:t>
            </a:r>
            <a:endParaRPr lang="en-US" sz="1400" b="0" i="0" u="none" strike="noStrike">
              <a:solidFill>
                <a:srgbClr val="4B5563"/>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文本框 11"/>
          <p:cNvSpPr txBox="1"/>
          <p:nvPr/>
        </p:nvSpPr>
        <p:spPr>
          <a:xfrm>
            <a:off x="1791970" y="2317750"/>
            <a:ext cx="8608060" cy="2519680"/>
          </a:xfrm>
          <a:prstGeom prst="rect">
            <a:avLst/>
          </a:prstGeom>
          <a:solidFill>
            <a:schemeClr val="bg1"/>
          </a:solidFill>
        </p:spPr>
        <p:txBody>
          <a:bodyPr wrap="square" rtlCol="0">
            <a:noAutofit/>
            <a:scene3d>
              <a:camera prst="orthographicFront"/>
              <a:lightRig rig="threePt" dir="t"/>
            </a:scene3d>
          </a:bodyPr>
          <a:p>
            <a:pPr indent="0" algn="ctr" eaLnBrk="1" fontAlgn="auto" latinLnBrk="0" hangingPunct="1">
              <a:lnSpc>
                <a:spcPct val="150000"/>
              </a:lnSpc>
              <a:spcBef>
                <a:spcPts val="600"/>
              </a:spcBef>
              <a:spcAft>
                <a:spcPts val="600"/>
              </a:spcAft>
            </a:pPr>
            <a:r>
              <a:rPr lang="zh-CN" altLang="en-US" sz="600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多数特征之间相关性较弱</a:t>
            </a:r>
            <a:r>
              <a:rPr lang="zh-CN" altLang="en-US" sz="320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糖尿病属于典型多因素共同作用疾病</a:t>
            </a:r>
            <a:endParaRPr lang="zh-CN" altLang="en-US" sz="320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5" name="type.wav"/>
          </p:stSnd>
        </p:sndAc>
      </p:transition>
    </mc:Choice>
    <mc:Fallback>
      <p:transition spd="slow">
        <p:random/>
        <p:sndAc>
          <p:stSnd>
            <p:snd r:embed="rId5"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2"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6" grpId="0" animBg="1"/>
      <p:bldP spid="6" grpId="1" animBg="1"/>
      <p:bldP spid="7" grpId="0" animBg="1"/>
      <p:bldP spid="7" grpId="1" animBg="1"/>
      <p:bldP spid="12" grpId="2"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多变量关系与数据分布分析</a:t>
            </a:r>
            <a:r>
              <a:rPr lang="zh-CN" altLang="en-US" sz="18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a:solidFill>
                  <a:srgbClr val="374151"/>
                </a:solidFill>
                <a:latin typeface="Noto Sans SC" panose="020B0200000000000000" charset="-122"/>
                <a:ea typeface="Noto Sans SC" panose="020B0200000000000000" charset="-122"/>
                <a:cs typeface="Noto Sans SC" panose="020B0200000000000000" charset="-122"/>
              </a:rPr>
              <a:t>基于 Pair Plot 的特征可视化分析）</a:t>
            </a:r>
            <a:endParaRPr lang="zh-CN" altLang="en-US" sz="18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16" name="图片 15" descr="8cb16d8ee9e33918fadf1cee9907fa94"/>
          <p:cNvPicPr>
            <a:picLocks noChangeAspect="1"/>
          </p:cNvPicPr>
          <p:nvPr/>
        </p:nvPicPr>
        <p:blipFill>
          <a:blip r:embed="rId2"/>
          <a:stretch>
            <a:fillRect/>
          </a:stretch>
        </p:blipFill>
        <p:spPr>
          <a:xfrm>
            <a:off x="6021705" y="1143000"/>
            <a:ext cx="5995670" cy="5715000"/>
          </a:xfrm>
          <a:prstGeom prst="rect">
            <a:avLst/>
          </a:prstGeom>
        </p:spPr>
      </p:pic>
      <p:sp>
        <p:nvSpPr>
          <p:cNvPr id="18" name="AutoShape 6"/>
          <p:cNvSpPr/>
          <p:nvPr>
            <p:custDataLst>
              <p:tags r:id="rId3"/>
            </p:custDataLst>
          </p:nvPr>
        </p:nvSpPr>
        <p:spPr>
          <a:xfrm>
            <a:off x="682625" y="1349375"/>
            <a:ext cx="5175250" cy="5301615"/>
          </a:xfrm>
          <a:prstGeom prst="rect">
            <a:avLst/>
          </a:prstGeom>
          <a:noFill/>
          <a:ln w="12700" cap="flat" cmpd="sng">
            <a:noFill/>
            <a:prstDash val="solid"/>
            <a:round/>
          </a:ln>
        </p:spPr>
        <p:txBody>
          <a:bodyPr vert="horz" wrap="square" lIns="0" tIns="0" rIns="0" bIns="0" rtlCol="0" anchor="ctr" anchorCtr="0"/>
          <a:lstStyle/>
          <a:p>
            <a:pPr indent="0" algn="l" eaLnBrk="1" fontAlgn="auto" latinLnBrk="0" hangingPunct="1">
              <a:lnSpc>
                <a:spcPct val="117000"/>
              </a:lnSpc>
              <a:spcBef>
                <a:spcPts val="1600"/>
              </a:spcBef>
              <a:spcAft>
                <a:spcPts val="600"/>
              </a:spcAft>
            </a:pPr>
            <a:r>
              <a:rPr lang="zh-CN" altLang="en-US" sz="2000" b="1" i="0" u="none" strike="noStrike">
                <a:solidFill>
                  <a:schemeClr val="accent6">
                    <a:lumMod val="50000"/>
                  </a:schemeClr>
                </a:solidFill>
                <a:effectLst/>
                <a:latin typeface="+mj-lt"/>
                <a:ea typeface="+mn-ea"/>
                <a:cs typeface="+mj-lt"/>
                <a:sym typeface="Noto Sans SC" panose="020B0200000000000000" charset="-122"/>
              </a:rPr>
              <a:t>① 散点分布验证了热力图中的相关关系</a:t>
            </a:r>
            <a:endParaRPr lang="zh-CN" altLang="en-US" sz="2000" b="1" i="0" u="none" strike="noStrike">
              <a:solidFill>
                <a:schemeClr val="accent6">
                  <a:lumMod val="50000"/>
                </a:schemeClr>
              </a:solidFill>
              <a:effectLst/>
              <a:latin typeface="+mj-lt"/>
              <a:ea typeface="+mn-ea"/>
              <a:cs typeface="+mj-lt"/>
              <a:sym typeface="Noto Sans SC" panose="020B0200000000000000" charset="-122"/>
            </a:endParaRPr>
          </a:p>
          <a:p>
            <a:pPr indent="0" algn="l" eaLnBrk="1" fontAlgn="auto" latinLnBrk="0" hangingPunct="1">
              <a:lnSpc>
                <a:spcPct val="117000"/>
              </a:lnSpc>
              <a:spcBef>
                <a:spcPts val="400"/>
              </a:spcBef>
            </a:pPr>
            <a:r>
              <a:rPr lang="zh-CN" altLang="en-US" sz="1600" b="0" i="0" u="none" strike="noStrike">
                <a:solidFill>
                  <a:schemeClr val="tx1"/>
                </a:solidFill>
                <a:latin typeface="+mn-lt"/>
                <a:ea typeface="+mn-ea"/>
                <a:cs typeface="+mn-lt"/>
                <a:sym typeface="Noto Sans SC" panose="020B0200000000000000" charset="-122"/>
              </a:rPr>
              <a:t>例如：</a:t>
            </a:r>
            <a:endParaRPr lang="en-US" altLang="zh-CN" sz="1600" b="0" i="0" u="none" strike="noStrike">
              <a:solidFill>
                <a:schemeClr val="tx1"/>
              </a:solidFill>
              <a:latin typeface="+mn-lt"/>
              <a:ea typeface="+mn-ea"/>
              <a:cs typeface="+mn-lt"/>
              <a:sym typeface="Noto Sans SC" panose="020B0200000000000000" charset="-122"/>
            </a:endParaRPr>
          </a:p>
          <a:p>
            <a:pPr indent="0" algn="l" eaLnBrk="1" fontAlgn="auto" latinLnBrk="0" hangingPunct="1">
              <a:lnSpc>
                <a:spcPct val="117000"/>
              </a:lnSpc>
              <a:spcBef>
                <a:spcPts val="400"/>
              </a:spcBef>
            </a:pPr>
            <a:r>
              <a:rPr lang="en-US" altLang="zh-CN" sz="1600" b="0" i="0" u="none" strike="noStrike">
                <a:solidFill>
                  <a:schemeClr val="tx1"/>
                </a:solidFill>
                <a:latin typeface="+mn-lt"/>
                <a:ea typeface="+mn-ea"/>
                <a:cs typeface="+mn-lt"/>
                <a:sym typeface="Noto Sans SC" panose="020B0200000000000000" charset="-122"/>
              </a:rPr>
              <a:t>Pregnancies </a:t>
            </a:r>
            <a:r>
              <a:rPr lang="zh-CN" altLang="en-US" sz="1600" b="0" i="0" u="none" strike="noStrike">
                <a:solidFill>
                  <a:schemeClr val="tx1"/>
                </a:solidFill>
                <a:latin typeface="+mn-lt"/>
                <a:ea typeface="+mn-ea"/>
                <a:cs typeface="+mn-lt"/>
                <a:sym typeface="Noto Sans SC" panose="020B0200000000000000" charset="-122"/>
              </a:rPr>
              <a:t>与 </a:t>
            </a:r>
            <a:r>
              <a:rPr lang="en-US" altLang="zh-CN" sz="1600" b="0" i="0" u="none" strike="noStrike">
                <a:solidFill>
                  <a:schemeClr val="tx1"/>
                </a:solidFill>
                <a:latin typeface="+mn-lt"/>
                <a:ea typeface="+mn-ea"/>
                <a:cs typeface="+mn-lt"/>
                <a:sym typeface="Noto Sans SC" panose="020B0200000000000000" charset="-122"/>
              </a:rPr>
              <a:t>Age </a:t>
            </a:r>
            <a:r>
              <a:rPr lang="zh-CN" altLang="en-US" sz="1600" b="0" i="0" u="none" strike="noStrike">
                <a:solidFill>
                  <a:schemeClr val="tx1"/>
                </a:solidFill>
                <a:latin typeface="+mn-lt"/>
                <a:ea typeface="+mn-ea"/>
                <a:cs typeface="+mn-lt"/>
                <a:sym typeface="Noto Sans SC" panose="020B0200000000000000" charset="-122"/>
              </a:rPr>
              <a:t>呈一定正相关；</a:t>
            </a:r>
            <a:endParaRPr lang="zh-CN" altLang="en-US" sz="1600" b="0" i="0" u="none" strike="noStrike">
              <a:solidFill>
                <a:schemeClr val="tx1"/>
              </a:solidFill>
              <a:latin typeface="+mn-lt"/>
              <a:ea typeface="+mn-ea"/>
              <a:cs typeface="+mn-lt"/>
              <a:sym typeface="Noto Sans SC" panose="020B0200000000000000" charset="-122"/>
            </a:endParaRPr>
          </a:p>
          <a:p>
            <a:pPr indent="0" algn="l" eaLnBrk="1" fontAlgn="auto" latinLnBrk="0" hangingPunct="1">
              <a:lnSpc>
                <a:spcPct val="117000"/>
              </a:lnSpc>
              <a:spcBef>
                <a:spcPts val="400"/>
              </a:spcBef>
            </a:pPr>
            <a:r>
              <a:rPr lang="en-US" altLang="zh-CN" sz="1600" b="0" i="0" u="none" strike="noStrike">
                <a:solidFill>
                  <a:schemeClr val="tx1"/>
                </a:solidFill>
                <a:latin typeface="+mn-lt"/>
                <a:ea typeface="+mn-ea"/>
                <a:cs typeface="+mn-lt"/>
                <a:sym typeface="Noto Sans SC" panose="020B0200000000000000" charset="-122"/>
              </a:rPr>
              <a:t>Insulin </a:t>
            </a:r>
            <a:r>
              <a:rPr lang="zh-CN" altLang="en-US" sz="1600" b="0" i="0" u="none" strike="noStrike">
                <a:solidFill>
                  <a:schemeClr val="tx1"/>
                </a:solidFill>
                <a:latin typeface="+mn-lt"/>
                <a:ea typeface="+mn-ea"/>
                <a:cs typeface="+mn-lt"/>
                <a:sym typeface="Noto Sans SC" panose="020B0200000000000000" charset="-122"/>
              </a:rPr>
              <a:t>与 </a:t>
            </a:r>
            <a:r>
              <a:rPr lang="en-US" altLang="zh-CN" sz="1600" b="0" i="0" u="none" strike="noStrike">
                <a:solidFill>
                  <a:schemeClr val="tx1"/>
                </a:solidFill>
                <a:latin typeface="+mn-lt"/>
                <a:ea typeface="+mn-ea"/>
                <a:cs typeface="+mn-lt"/>
                <a:sym typeface="Noto Sans SC" panose="020B0200000000000000" charset="-122"/>
              </a:rPr>
              <a:t>SkinThickness </a:t>
            </a:r>
            <a:r>
              <a:rPr lang="zh-CN" altLang="en-US" sz="1600" b="0" i="0" u="none" strike="noStrike">
                <a:solidFill>
                  <a:schemeClr val="tx1"/>
                </a:solidFill>
                <a:latin typeface="+mn-lt"/>
                <a:ea typeface="+mn-ea"/>
                <a:cs typeface="+mn-lt"/>
                <a:sym typeface="Noto Sans SC" panose="020B0200000000000000" charset="-122"/>
              </a:rPr>
              <a:t>存在关联趋势；</a:t>
            </a:r>
            <a:endParaRPr lang="zh-CN" altLang="en-US" sz="1600" b="0" i="0" u="none" strike="noStrike">
              <a:solidFill>
                <a:schemeClr val="tx1"/>
              </a:solidFill>
              <a:latin typeface="+mn-lt"/>
              <a:ea typeface="+mn-ea"/>
              <a:cs typeface="+mn-lt"/>
              <a:sym typeface="Noto Sans SC" panose="020B0200000000000000" charset="-122"/>
            </a:endParaRPr>
          </a:p>
          <a:p>
            <a:pPr indent="0" algn="l" eaLnBrk="1" fontAlgn="auto" latinLnBrk="0" hangingPunct="1">
              <a:lnSpc>
                <a:spcPct val="117000"/>
              </a:lnSpc>
              <a:spcBef>
                <a:spcPts val="400"/>
              </a:spcBef>
            </a:pPr>
            <a:r>
              <a:rPr lang="en-US" altLang="zh-CN" sz="1600" b="0" i="0" u="none" strike="noStrike">
                <a:solidFill>
                  <a:schemeClr val="tx1"/>
                </a:solidFill>
                <a:latin typeface="+mn-lt"/>
                <a:ea typeface="+mn-ea"/>
                <a:cs typeface="+mn-lt"/>
                <a:sym typeface="Noto Sans SC" panose="020B0200000000000000" charset="-122"/>
              </a:rPr>
              <a:t>Glucose(</a:t>
            </a:r>
            <a:r>
              <a:rPr lang="zh-CN" altLang="en-US" sz="1600" b="0" i="0" u="none" strike="noStrike">
                <a:solidFill>
                  <a:schemeClr val="tx1"/>
                </a:solidFill>
                <a:latin typeface="+mn-lt"/>
                <a:ea typeface="+mn-ea"/>
                <a:cs typeface="+mn-lt"/>
                <a:sym typeface="Noto Sans SC" panose="020B0200000000000000" charset="-122"/>
              </a:rPr>
              <a:t>血糖)在两组人群中分布差异明显,患病组的血糖普遍更高。</a:t>
            </a:r>
            <a:endParaRPr lang="zh-CN" altLang="en-US" sz="1600" b="0" i="0" u="none" strike="noStrike">
              <a:solidFill>
                <a:schemeClr val="tx1"/>
              </a:solidFill>
              <a:latin typeface="+mn-lt"/>
              <a:ea typeface="+mn-ea"/>
              <a:cs typeface="+mn-lt"/>
              <a:sym typeface="Noto Sans SC" panose="020B0200000000000000" charset="-122"/>
            </a:endParaRPr>
          </a:p>
          <a:p>
            <a:pPr indent="0" algn="l" eaLnBrk="1" fontAlgn="auto" latinLnBrk="0" hangingPunct="1">
              <a:lnSpc>
                <a:spcPct val="117000"/>
              </a:lnSpc>
              <a:spcBef>
                <a:spcPts val="1600"/>
              </a:spcBef>
              <a:spcAft>
                <a:spcPts val="600"/>
              </a:spcAft>
            </a:pPr>
            <a:r>
              <a:rPr lang="zh-CN" altLang="en-US" sz="2000" b="1" i="0" u="none" strike="noStrike">
                <a:solidFill>
                  <a:schemeClr val="accent6">
                    <a:lumMod val="50000"/>
                  </a:schemeClr>
                </a:solidFill>
                <a:effectLst/>
                <a:latin typeface="+mj-lt"/>
                <a:ea typeface="+mn-ea"/>
                <a:cs typeface="+mj-lt"/>
                <a:sym typeface="Noto Sans SC" panose="020B0200000000000000" charset="-122"/>
              </a:rPr>
              <a:t>② 各特征之间不存在明显线性分类边界</a:t>
            </a:r>
            <a:endParaRPr lang="en-US" altLang="zh-CN" sz="2000" b="1" i="0" u="none" strike="noStrike">
              <a:solidFill>
                <a:schemeClr val="accent6">
                  <a:lumMod val="50000"/>
                </a:schemeClr>
              </a:solidFill>
              <a:effectLst/>
              <a:latin typeface="+mj-lt"/>
              <a:ea typeface="+mn-ea"/>
              <a:cs typeface="+mj-lt"/>
              <a:sym typeface="Noto Sans SC" panose="020B0200000000000000" charset="-122"/>
            </a:endParaRPr>
          </a:p>
          <a:p>
            <a:pPr indent="0" algn="l" eaLnBrk="1" fontAlgn="auto" latinLnBrk="0" hangingPunct="1">
              <a:lnSpc>
                <a:spcPct val="117000"/>
              </a:lnSpc>
              <a:spcBef>
                <a:spcPts val="400"/>
              </a:spcBef>
            </a:pPr>
            <a:r>
              <a:rPr lang="zh-CN" altLang="en-US" sz="1600" b="0" i="0" u="none" strike="noStrike">
                <a:solidFill>
                  <a:schemeClr val="tx1"/>
                </a:solidFill>
                <a:latin typeface="+mn-lt"/>
                <a:ea typeface="+mn-ea"/>
                <a:cs typeface="+mn-lt"/>
                <a:sym typeface="Noto Sans SC" panose="020B0200000000000000" charset="-122"/>
              </a:rPr>
              <a:t>患病与未患病样本在多数区域高度重叠。</a:t>
            </a:r>
            <a:endParaRPr lang="en-US" altLang="zh-CN" sz="1600" b="0" i="0" u="none" strike="noStrike">
              <a:solidFill>
                <a:schemeClr val="tx1"/>
              </a:solidFill>
              <a:latin typeface="+mn-lt"/>
              <a:ea typeface="+mn-ea"/>
              <a:cs typeface="+mn-lt"/>
              <a:sym typeface="Noto Sans SC" panose="020B0200000000000000" charset="-122"/>
            </a:endParaRPr>
          </a:p>
          <a:p>
            <a:pPr indent="0" algn="l" eaLnBrk="1" fontAlgn="auto" latinLnBrk="0" hangingPunct="1">
              <a:lnSpc>
                <a:spcPct val="117000"/>
              </a:lnSpc>
              <a:spcBef>
                <a:spcPts val="1600"/>
              </a:spcBef>
              <a:spcAft>
                <a:spcPts val="600"/>
              </a:spcAft>
            </a:pPr>
            <a:r>
              <a:rPr lang="zh-CN" altLang="en-US" sz="2000" b="1" i="0" u="none" strike="noStrike">
                <a:solidFill>
                  <a:schemeClr val="accent6">
                    <a:lumMod val="50000"/>
                  </a:schemeClr>
                </a:solidFill>
                <a:effectLst/>
                <a:latin typeface="+mj-lt"/>
                <a:ea typeface="+mn-ea"/>
                <a:cs typeface="+mj-lt"/>
                <a:sym typeface="Noto Sans SC" panose="020B0200000000000000" charset="-122"/>
              </a:rPr>
              <a:t>③ 单一指标无法直接完成糖尿病分类</a:t>
            </a:r>
            <a:endParaRPr lang="en-US" altLang="zh-CN" sz="2000" b="1" i="0" u="none" strike="noStrike">
              <a:solidFill>
                <a:schemeClr val="accent6">
                  <a:lumMod val="50000"/>
                </a:schemeClr>
              </a:solidFill>
              <a:effectLst/>
              <a:latin typeface="+mj-lt"/>
              <a:ea typeface="+mn-ea"/>
              <a:cs typeface="+mj-lt"/>
              <a:sym typeface="Noto Sans SC" panose="020B0200000000000000" charset="-122"/>
            </a:endParaRPr>
          </a:p>
          <a:p>
            <a:pPr indent="0" algn="l" eaLnBrk="1" fontAlgn="auto" latinLnBrk="0" hangingPunct="1">
              <a:lnSpc>
                <a:spcPct val="117000"/>
              </a:lnSpc>
              <a:spcBef>
                <a:spcPts val="400"/>
              </a:spcBef>
            </a:pPr>
            <a:r>
              <a:rPr lang="zh-CN" altLang="en-US" sz="1600" b="0" i="0" u="none" strike="noStrike">
                <a:solidFill>
                  <a:schemeClr val="tx1"/>
                </a:solidFill>
                <a:latin typeface="+mn-lt"/>
                <a:ea typeface="+mn-ea"/>
                <a:cs typeface="+mn-lt"/>
                <a:sym typeface="Noto Sans SC" panose="020B0200000000000000" charset="-122"/>
              </a:rPr>
              <a:t>例如 “</a:t>
            </a:r>
            <a:r>
              <a:rPr lang="en-US" altLang="zh-CN" sz="1600" b="0" i="0" u="none" strike="noStrike">
                <a:solidFill>
                  <a:schemeClr val="tx1"/>
                </a:solidFill>
                <a:latin typeface="+mn-lt"/>
                <a:ea typeface="+mn-ea"/>
                <a:cs typeface="+mn-lt"/>
                <a:sym typeface="Noto Sans SC" panose="020B0200000000000000" charset="-122"/>
              </a:rPr>
              <a:t>Glucose + BMI” </a:t>
            </a:r>
            <a:r>
              <a:rPr lang="zh-CN" altLang="en-US" sz="1600" b="0" i="0" u="none" strike="noStrike">
                <a:solidFill>
                  <a:schemeClr val="tx1"/>
                </a:solidFill>
                <a:latin typeface="+mn-lt"/>
                <a:ea typeface="+mn-ea"/>
                <a:cs typeface="+mn-lt"/>
                <a:sym typeface="Noto Sans SC" panose="020B0200000000000000" charset="-122"/>
              </a:rPr>
              <a:t>组合中，仍存在大量类别交叉样本。</a:t>
            </a:r>
            <a:endParaRPr lang="en-US" altLang="zh-CN" sz="1600" b="0" i="0" u="none" strike="noStrike">
              <a:solidFill>
                <a:schemeClr val="tx1"/>
              </a:solidFill>
              <a:latin typeface="+mn-lt"/>
              <a:ea typeface="+mn-ea"/>
              <a:cs typeface="+mn-lt"/>
              <a:sym typeface="Noto Sans SC" panose="020B0200000000000000" charset="-122"/>
            </a:endParaRPr>
          </a:p>
          <a:p>
            <a:pPr indent="0" algn="l" eaLnBrk="1" fontAlgn="auto" latinLnBrk="0" hangingPunct="1">
              <a:lnSpc>
                <a:spcPct val="117000"/>
              </a:lnSpc>
              <a:spcBef>
                <a:spcPts val="1600"/>
              </a:spcBef>
              <a:spcAft>
                <a:spcPts val="600"/>
              </a:spcAft>
            </a:pPr>
            <a:r>
              <a:rPr lang="zh-CN" altLang="en-US" sz="2000" b="1" i="0" u="none" strike="noStrike">
                <a:solidFill>
                  <a:schemeClr val="accent6">
                    <a:lumMod val="50000"/>
                  </a:schemeClr>
                </a:solidFill>
                <a:effectLst/>
                <a:latin typeface="+mj-lt"/>
                <a:ea typeface="+mn-ea"/>
                <a:cs typeface="+mj-lt"/>
                <a:sym typeface="Noto Sans SC" panose="020B0200000000000000" charset="-122"/>
              </a:rPr>
              <a:t>④ 糖尿病属于典型非线性分类问题</a:t>
            </a:r>
            <a:endParaRPr lang="en-US" altLang="zh-CN" sz="2000" b="1" i="0" u="none" strike="noStrike">
              <a:solidFill>
                <a:schemeClr val="accent6">
                  <a:lumMod val="50000"/>
                </a:schemeClr>
              </a:solidFill>
              <a:effectLst/>
              <a:latin typeface="+mj-lt"/>
              <a:ea typeface="+mn-ea"/>
              <a:cs typeface="+mj-lt"/>
              <a:sym typeface="Noto Sans SC" panose="020B0200000000000000" charset="-122"/>
            </a:endParaRPr>
          </a:p>
          <a:p>
            <a:pPr indent="0" algn="l" eaLnBrk="1" fontAlgn="auto" latinLnBrk="0" hangingPunct="1">
              <a:lnSpc>
                <a:spcPct val="117000"/>
              </a:lnSpc>
              <a:spcBef>
                <a:spcPts val="400"/>
              </a:spcBef>
            </a:pPr>
            <a:r>
              <a:rPr lang="zh-CN" altLang="en-US" sz="1600" b="0" i="0" u="none" strike="noStrike">
                <a:solidFill>
                  <a:schemeClr val="tx1"/>
                </a:solidFill>
                <a:latin typeface="+mn-lt"/>
                <a:ea typeface="+mn-ea"/>
                <a:cs typeface="+mn-lt"/>
                <a:sym typeface="Noto Sans SC" panose="020B0200000000000000" charset="-122"/>
              </a:rPr>
              <a:t>因此需要利用机器学习模型进行综合判别。</a:t>
            </a:r>
            <a:endParaRPr lang="zh-CN" altLang="en-US" sz="1600" b="0" i="0" u="none" strike="noStrike">
              <a:solidFill>
                <a:schemeClr val="tx1"/>
              </a:solidFill>
              <a:latin typeface="+mn-lt"/>
              <a:ea typeface="+mn-ea"/>
              <a:cs typeface="+mn-lt"/>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4" name="type.wav"/>
          </p:stSnd>
        </p:sndAc>
      </p:transition>
    </mc:Choice>
    <mc:Fallback>
      <p:transition spd="slow">
        <p:random/>
        <p:sndAc>
          <p:stSnd>
            <p:snd r:embed="rId4"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8" grpId="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患病组与健康组特征分布差异分析</a:t>
            </a:r>
            <a:r>
              <a:rPr lang="zh-CN" altLang="en-US" sz="18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a:solidFill>
                  <a:srgbClr val="374151"/>
                </a:solidFill>
                <a:latin typeface="Noto Sans SC" panose="020B0200000000000000" charset="-122"/>
                <a:ea typeface="Noto Sans SC" panose="020B0200000000000000" charset="-122"/>
                <a:cs typeface="Noto Sans SC" panose="020B0200000000000000" charset="-122"/>
              </a:rPr>
              <a:t>血糖）</a:t>
            </a:r>
            <a:endParaRPr lang="zh-CN" altLang="en-US" sz="18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16" name="图片 15" descr="92182a666829fe79bc02cfc0cf4a2770"/>
          <p:cNvPicPr>
            <a:picLocks noChangeAspect="1"/>
          </p:cNvPicPr>
          <p:nvPr/>
        </p:nvPicPr>
        <p:blipFill>
          <a:blip r:embed="rId2"/>
          <a:srcRect r="45320"/>
          <a:stretch>
            <a:fillRect/>
          </a:stretch>
        </p:blipFill>
        <p:spPr>
          <a:xfrm>
            <a:off x="1069975" y="1392555"/>
            <a:ext cx="4410710" cy="1057910"/>
          </a:xfrm>
          <a:prstGeom prst="rect">
            <a:avLst/>
          </a:prstGeom>
        </p:spPr>
      </p:pic>
      <p:pic>
        <p:nvPicPr>
          <p:cNvPr id="17" name="图片 16" descr="cd06906725262514aa15e8181c4b36e5"/>
          <p:cNvPicPr>
            <a:picLocks noChangeAspect="1"/>
          </p:cNvPicPr>
          <p:nvPr/>
        </p:nvPicPr>
        <p:blipFill>
          <a:blip r:embed="rId3"/>
          <a:stretch>
            <a:fillRect/>
          </a:stretch>
        </p:blipFill>
        <p:spPr>
          <a:xfrm>
            <a:off x="978535" y="2700655"/>
            <a:ext cx="4502150" cy="3396615"/>
          </a:xfrm>
          <a:prstGeom prst="rect">
            <a:avLst/>
          </a:prstGeom>
        </p:spPr>
      </p:pic>
      <p:pic>
        <p:nvPicPr>
          <p:cNvPr id="18" name="图片 17" descr="8fcd673b96abd9504ddaab189f06ffde"/>
          <p:cNvPicPr>
            <a:picLocks noChangeAspect="1"/>
          </p:cNvPicPr>
          <p:nvPr/>
        </p:nvPicPr>
        <p:blipFill>
          <a:blip r:embed="rId4"/>
          <a:srcRect r="48894"/>
          <a:stretch>
            <a:fillRect/>
          </a:stretch>
        </p:blipFill>
        <p:spPr>
          <a:xfrm>
            <a:off x="6868795" y="1393190"/>
            <a:ext cx="4634230" cy="1057275"/>
          </a:xfrm>
          <a:prstGeom prst="rect">
            <a:avLst/>
          </a:prstGeom>
        </p:spPr>
      </p:pic>
      <p:pic>
        <p:nvPicPr>
          <p:cNvPr id="19" name="图片 18" descr="64b55deb9858c8302a707a49246a9b0e"/>
          <p:cNvPicPr>
            <a:picLocks noChangeAspect="1"/>
          </p:cNvPicPr>
          <p:nvPr/>
        </p:nvPicPr>
        <p:blipFill>
          <a:blip r:embed="rId5"/>
          <a:stretch>
            <a:fillRect/>
          </a:stretch>
        </p:blipFill>
        <p:spPr>
          <a:xfrm>
            <a:off x="6960870" y="2700655"/>
            <a:ext cx="4469130" cy="3404235"/>
          </a:xfrm>
          <a:prstGeom prst="rect">
            <a:avLst/>
          </a:prstGeom>
        </p:spPr>
      </p:pic>
      <p:sp>
        <p:nvSpPr>
          <p:cNvPr id="20" name="文本框 19"/>
          <p:cNvSpPr txBox="1"/>
          <p:nvPr/>
        </p:nvSpPr>
        <p:spPr>
          <a:xfrm>
            <a:off x="2919095" y="3399155"/>
            <a:ext cx="6550660" cy="902335"/>
          </a:xfrm>
          <a:prstGeom prst="rect">
            <a:avLst/>
          </a:prstGeom>
          <a:solidFill>
            <a:schemeClr val="bg1"/>
          </a:solidFill>
        </p:spPr>
        <p:txBody>
          <a:bodyPr wrap="square">
            <a:spAutoFit/>
          </a:bodyPr>
          <a:p>
            <a:pPr algn="l">
              <a:spcAft>
                <a:spcPct val="60000"/>
              </a:spcAft>
            </a:pPr>
            <a:r>
              <a:rPr lang="en-US" altLang="zh-CN" sz="2200" b="1"/>
              <a:t>Glucose </a:t>
            </a:r>
            <a:r>
              <a:rPr lang="zh-CN" altLang="en-US" sz="2200" b="1"/>
              <a:t>分布差异最明显</a:t>
            </a:r>
            <a:endParaRPr lang="zh-CN" altLang="en-US" sz="2200" b="1"/>
          </a:p>
          <a:p>
            <a:pPr algn="l"/>
            <a:r>
              <a:rPr lang="zh-CN" altLang="en-US" sz="1600"/>
              <a:t>患病组血糖整体明显高于健康组，高血糖是糖尿病最核心的生理特征。</a:t>
            </a:r>
            <a:endParaRPr lang="zh-CN" altLang="en-US" sz="1600"/>
          </a:p>
        </p:txBody>
      </p:sp>
      <p:sp>
        <p:nvSpPr>
          <p:cNvPr id="21" name="文本框 20"/>
          <p:cNvSpPr txBox="1"/>
          <p:nvPr/>
        </p:nvSpPr>
        <p:spPr>
          <a:xfrm>
            <a:off x="1481455" y="4394200"/>
            <a:ext cx="1041400" cy="448945"/>
          </a:xfrm>
          <a:prstGeom prst="rect">
            <a:avLst/>
          </a:prstGeom>
          <a:solidFill>
            <a:schemeClr val="bg1">
              <a:lumMod val="85000"/>
            </a:schemeClr>
          </a:solidFill>
        </p:spPr>
        <p:txBody>
          <a:bodyPr wrap="square" rtlCol="0">
            <a:noAutofit/>
          </a:bodyPr>
          <a:p>
            <a:r>
              <a:rPr lang="zh-CN" altLang="en-US" sz="2000" b="1"/>
              <a:t>未患病</a:t>
            </a:r>
            <a:endParaRPr lang="zh-CN" altLang="en-US" sz="2000" b="1"/>
          </a:p>
        </p:txBody>
      </p:sp>
      <p:sp>
        <p:nvSpPr>
          <p:cNvPr id="22" name="文本框 21"/>
          <p:cNvSpPr txBox="1"/>
          <p:nvPr/>
        </p:nvSpPr>
        <p:spPr>
          <a:xfrm>
            <a:off x="7522845" y="4301490"/>
            <a:ext cx="755650" cy="448945"/>
          </a:xfrm>
          <a:prstGeom prst="rect">
            <a:avLst/>
          </a:prstGeom>
          <a:solidFill>
            <a:schemeClr val="bg1">
              <a:lumMod val="85000"/>
            </a:schemeClr>
          </a:solidFill>
        </p:spPr>
        <p:txBody>
          <a:bodyPr wrap="square" rtlCol="0">
            <a:noAutofit/>
          </a:bodyPr>
          <a:p>
            <a:r>
              <a:rPr lang="zh-CN" altLang="en-US" sz="2000" b="1"/>
              <a:t>患病</a:t>
            </a:r>
            <a:endParaRPr lang="zh-CN" altLang="en-US" sz="2000" b="1"/>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6" name="type.wav"/>
          </p:stSnd>
        </p:sndAc>
      </p:transition>
    </mc:Choice>
    <mc:Fallback>
      <p:transition spd="slow">
        <p:random/>
        <p:sndAc>
          <p:stSnd>
            <p:snd r:embed="rId6"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患病组与健康组特征分布差异分析</a:t>
            </a:r>
            <a:r>
              <a:rPr lang="zh-CN" altLang="en-US" sz="18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altLang="zh-CN" sz="1800">
                <a:solidFill>
                  <a:srgbClr val="374151"/>
                </a:solidFill>
                <a:latin typeface="Noto Sans SC" panose="020B0200000000000000" charset="-122"/>
                <a:ea typeface="Noto Sans SC" panose="020B0200000000000000" charset="-122"/>
                <a:cs typeface="Noto Sans SC" panose="020B0200000000000000" charset="-122"/>
              </a:rPr>
              <a:t>BMI</a:t>
            </a:r>
            <a:r>
              <a:rPr lang="zh-CN" altLang="en-US" sz="1800">
                <a:solidFill>
                  <a:srgbClr val="374151"/>
                </a:solidFill>
                <a:latin typeface="Noto Sans SC" panose="020B0200000000000000" charset="-122"/>
                <a:ea typeface="Noto Sans SC" panose="020B0200000000000000" charset="-122"/>
                <a:cs typeface="Noto Sans SC" panose="020B0200000000000000" charset="-122"/>
              </a:rPr>
              <a:t>）</a:t>
            </a:r>
            <a:endParaRPr lang="zh-CN" altLang="en-US" sz="18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7" name="图片 6" descr="cad98ed3bbcb0e752e3c888ac25b71c0"/>
          <p:cNvPicPr>
            <a:picLocks noChangeAspect="1"/>
          </p:cNvPicPr>
          <p:nvPr/>
        </p:nvPicPr>
        <p:blipFill>
          <a:blip r:embed="rId2"/>
          <a:stretch>
            <a:fillRect/>
          </a:stretch>
        </p:blipFill>
        <p:spPr>
          <a:xfrm>
            <a:off x="978535" y="2708910"/>
            <a:ext cx="4664075" cy="3406140"/>
          </a:xfrm>
          <a:prstGeom prst="rect">
            <a:avLst/>
          </a:prstGeom>
        </p:spPr>
      </p:pic>
      <p:sp>
        <p:nvSpPr>
          <p:cNvPr id="21" name="文本框 20"/>
          <p:cNvSpPr txBox="1"/>
          <p:nvPr/>
        </p:nvSpPr>
        <p:spPr>
          <a:xfrm>
            <a:off x="1481455" y="4394200"/>
            <a:ext cx="1041400" cy="448945"/>
          </a:xfrm>
          <a:prstGeom prst="rect">
            <a:avLst/>
          </a:prstGeom>
          <a:solidFill>
            <a:schemeClr val="bg1">
              <a:lumMod val="85000"/>
            </a:schemeClr>
          </a:solidFill>
        </p:spPr>
        <p:txBody>
          <a:bodyPr wrap="square" rtlCol="0">
            <a:noAutofit/>
          </a:bodyPr>
          <a:p>
            <a:r>
              <a:rPr lang="zh-CN" altLang="en-US" sz="2000" b="1"/>
              <a:t>未患病</a:t>
            </a:r>
            <a:endParaRPr lang="zh-CN" altLang="en-US" sz="2000" b="1"/>
          </a:p>
        </p:txBody>
      </p:sp>
      <p:pic>
        <p:nvPicPr>
          <p:cNvPr id="5" name="图片 4" descr="30cd06fe3c0c0121ff5f92d4d88d1325"/>
          <p:cNvPicPr>
            <a:picLocks noChangeAspect="1"/>
          </p:cNvPicPr>
          <p:nvPr/>
        </p:nvPicPr>
        <p:blipFill>
          <a:blip r:embed="rId3"/>
          <a:stretch>
            <a:fillRect/>
          </a:stretch>
        </p:blipFill>
        <p:spPr>
          <a:xfrm>
            <a:off x="6989445" y="2700020"/>
            <a:ext cx="4561840" cy="3395345"/>
          </a:xfrm>
          <a:prstGeom prst="rect">
            <a:avLst/>
          </a:prstGeom>
        </p:spPr>
      </p:pic>
      <p:sp>
        <p:nvSpPr>
          <p:cNvPr id="22" name="文本框 21"/>
          <p:cNvSpPr txBox="1"/>
          <p:nvPr/>
        </p:nvSpPr>
        <p:spPr>
          <a:xfrm>
            <a:off x="7522845" y="4301490"/>
            <a:ext cx="755650" cy="448945"/>
          </a:xfrm>
          <a:prstGeom prst="rect">
            <a:avLst/>
          </a:prstGeom>
          <a:solidFill>
            <a:schemeClr val="bg1">
              <a:lumMod val="85000"/>
            </a:schemeClr>
          </a:solidFill>
        </p:spPr>
        <p:txBody>
          <a:bodyPr wrap="square" rtlCol="0">
            <a:noAutofit/>
          </a:bodyPr>
          <a:p>
            <a:r>
              <a:rPr lang="zh-CN" altLang="en-US" sz="2000" b="1"/>
              <a:t>患病</a:t>
            </a:r>
            <a:endParaRPr lang="zh-CN" altLang="en-US" sz="2000" b="1"/>
          </a:p>
        </p:txBody>
      </p:sp>
      <p:pic>
        <p:nvPicPr>
          <p:cNvPr id="4" name="图片 3" descr="f7ebe1750b15b0691f97ac02c038a701"/>
          <p:cNvPicPr>
            <a:picLocks noChangeAspect="1"/>
          </p:cNvPicPr>
          <p:nvPr/>
        </p:nvPicPr>
        <p:blipFill>
          <a:blip r:embed="rId4"/>
          <a:srcRect r="25938"/>
          <a:stretch>
            <a:fillRect/>
          </a:stretch>
        </p:blipFill>
        <p:spPr>
          <a:xfrm>
            <a:off x="6868795" y="1384300"/>
            <a:ext cx="4802505" cy="1074420"/>
          </a:xfrm>
          <a:prstGeom prst="rect">
            <a:avLst/>
          </a:prstGeom>
        </p:spPr>
      </p:pic>
      <p:pic>
        <p:nvPicPr>
          <p:cNvPr id="6" name="图片 5" descr="d6a00aa4e670f8ebfc9c125d8ed1ea67"/>
          <p:cNvPicPr>
            <a:picLocks noChangeAspect="1"/>
          </p:cNvPicPr>
          <p:nvPr/>
        </p:nvPicPr>
        <p:blipFill>
          <a:blip r:embed="rId5"/>
          <a:srcRect r="22101"/>
          <a:stretch>
            <a:fillRect/>
          </a:stretch>
        </p:blipFill>
        <p:spPr>
          <a:xfrm>
            <a:off x="762000" y="1358265"/>
            <a:ext cx="4997450" cy="1100455"/>
          </a:xfrm>
          <a:prstGeom prst="rect">
            <a:avLst/>
          </a:prstGeom>
        </p:spPr>
      </p:pic>
      <p:sp>
        <p:nvSpPr>
          <p:cNvPr id="20" name="文本框 19"/>
          <p:cNvSpPr txBox="1"/>
          <p:nvPr/>
        </p:nvSpPr>
        <p:spPr>
          <a:xfrm>
            <a:off x="2919095" y="3399155"/>
            <a:ext cx="6550660" cy="902335"/>
          </a:xfrm>
          <a:prstGeom prst="rect">
            <a:avLst/>
          </a:prstGeom>
          <a:solidFill>
            <a:schemeClr val="bg1"/>
          </a:solidFill>
        </p:spPr>
        <p:txBody>
          <a:bodyPr wrap="square">
            <a:spAutoFit/>
          </a:bodyPr>
          <a:p>
            <a:pPr algn="l">
              <a:spcAft>
                <a:spcPct val="60000"/>
              </a:spcAft>
            </a:pPr>
            <a:r>
              <a:rPr lang="en-US" altLang="zh-CN" sz="2200" b="1"/>
              <a:t>BMI </a:t>
            </a:r>
            <a:r>
              <a:rPr lang="zh-CN" altLang="en-US" sz="2200" b="1"/>
              <a:t>在患者组整体更高</a:t>
            </a:r>
            <a:endParaRPr lang="zh-CN" altLang="en-US" sz="2200" b="1"/>
          </a:p>
          <a:p>
            <a:pPr algn="l"/>
            <a:r>
              <a:rPr lang="zh-CN" altLang="en-US" sz="1600"/>
              <a:t>说明肥胖与糖尿病风险之间存在明显关联。</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6" name="type.wav"/>
          </p:stSnd>
        </p:sndAc>
      </p:transition>
    </mc:Choice>
    <mc:Fallback>
      <p:transition spd="slow">
        <p:random/>
        <p:sndAc>
          <p:stSnd>
            <p:snd r:embed="rId6"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患病组与健康组特征分布差异分析</a:t>
            </a:r>
            <a:r>
              <a:rPr lang="zh-CN" altLang="en-US" sz="18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a:solidFill>
                  <a:srgbClr val="374151"/>
                </a:solidFill>
                <a:latin typeface="Noto Sans SC" panose="020B0200000000000000" charset="-122"/>
                <a:ea typeface="Noto Sans SC" panose="020B0200000000000000" charset="-122"/>
                <a:cs typeface="Noto Sans SC" panose="020B0200000000000000" charset="-122"/>
              </a:rPr>
              <a:t>年龄）</a:t>
            </a:r>
            <a:endParaRPr lang="zh-CN" altLang="en-US" sz="18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9" name="图片 8" descr="1313da6f2475639b3e0165f2d7b4720d"/>
          <p:cNvPicPr>
            <a:picLocks noChangeAspect="1"/>
          </p:cNvPicPr>
          <p:nvPr/>
        </p:nvPicPr>
        <p:blipFill>
          <a:blip r:embed="rId2"/>
          <a:stretch>
            <a:fillRect/>
          </a:stretch>
        </p:blipFill>
        <p:spPr>
          <a:xfrm>
            <a:off x="1076960" y="2694940"/>
            <a:ext cx="4561205" cy="3394710"/>
          </a:xfrm>
          <a:prstGeom prst="rect">
            <a:avLst/>
          </a:prstGeom>
        </p:spPr>
      </p:pic>
      <p:sp>
        <p:nvSpPr>
          <p:cNvPr id="21" name="文本框 20"/>
          <p:cNvSpPr txBox="1"/>
          <p:nvPr/>
        </p:nvSpPr>
        <p:spPr>
          <a:xfrm>
            <a:off x="3116580" y="4394200"/>
            <a:ext cx="1041400" cy="448945"/>
          </a:xfrm>
          <a:prstGeom prst="rect">
            <a:avLst/>
          </a:prstGeom>
          <a:solidFill>
            <a:schemeClr val="bg1">
              <a:lumMod val="85000"/>
            </a:schemeClr>
          </a:solidFill>
        </p:spPr>
        <p:txBody>
          <a:bodyPr wrap="square" rtlCol="0">
            <a:noAutofit/>
          </a:bodyPr>
          <a:p>
            <a:r>
              <a:rPr lang="zh-CN" altLang="en-US" sz="2000" b="1"/>
              <a:t>未患病</a:t>
            </a:r>
            <a:endParaRPr lang="zh-CN" altLang="en-US" sz="2000" b="1"/>
          </a:p>
        </p:txBody>
      </p:sp>
      <p:pic>
        <p:nvPicPr>
          <p:cNvPr id="7" name="图片 6" descr="8ed600428fc1d52f5f92a14e025924d6"/>
          <p:cNvPicPr>
            <a:picLocks noChangeAspect="1"/>
          </p:cNvPicPr>
          <p:nvPr/>
        </p:nvPicPr>
        <p:blipFill>
          <a:blip r:embed="rId3"/>
          <a:stretch>
            <a:fillRect/>
          </a:stretch>
        </p:blipFill>
        <p:spPr>
          <a:xfrm>
            <a:off x="6938645" y="2700655"/>
            <a:ext cx="4491355" cy="3421380"/>
          </a:xfrm>
          <a:prstGeom prst="rect">
            <a:avLst/>
          </a:prstGeom>
        </p:spPr>
      </p:pic>
      <p:sp>
        <p:nvSpPr>
          <p:cNvPr id="22" name="文本框 21"/>
          <p:cNvSpPr txBox="1"/>
          <p:nvPr/>
        </p:nvSpPr>
        <p:spPr>
          <a:xfrm>
            <a:off x="10321290" y="4394200"/>
            <a:ext cx="755650" cy="448945"/>
          </a:xfrm>
          <a:prstGeom prst="rect">
            <a:avLst/>
          </a:prstGeom>
          <a:solidFill>
            <a:schemeClr val="bg1">
              <a:lumMod val="85000"/>
            </a:schemeClr>
          </a:solidFill>
        </p:spPr>
        <p:txBody>
          <a:bodyPr wrap="square" rtlCol="0">
            <a:noAutofit/>
          </a:bodyPr>
          <a:p>
            <a:r>
              <a:rPr lang="zh-CN" altLang="en-US" sz="2000" b="1"/>
              <a:t>患病</a:t>
            </a:r>
            <a:endParaRPr lang="zh-CN" altLang="en-US" sz="2000" b="1"/>
          </a:p>
        </p:txBody>
      </p:sp>
      <p:sp>
        <p:nvSpPr>
          <p:cNvPr id="20" name="文本框 19"/>
          <p:cNvSpPr txBox="1"/>
          <p:nvPr/>
        </p:nvSpPr>
        <p:spPr>
          <a:xfrm>
            <a:off x="2919095" y="3399155"/>
            <a:ext cx="6550660" cy="886460"/>
          </a:xfrm>
          <a:prstGeom prst="rect">
            <a:avLst/>
          </a:prstGeom>
          <a:solidFill>
            <a:schemeClr val="bg1"/>
          </a:solidFill>
        </p:spPr>
        <p:txBody>
          <a:bodyPr wrap="square">
            <a:spAutoFit/>
          </a:bodyPr>
          <a:p>
            <a:pPr algn="l">
              <a:spcAft>
                <a:spcPct val="60000"/>
              </a:spcAft>
            </a:pPr>
            <a:r>
              <a:rPr lang="zh-CN" altLang="en-US" sz="2200" b="1"/>
              <a:t>患者组年龄整体偏高</a:t>
            </a:r>
            <a:endParaRPr lang="zh-CN" altLang="en-US" sz="2200" b="1"/>
          </a:p>
          <a:p>
            <a:pPr algn="l"/>
            <a:r>
              <a:rPr lang="zh-CN" altLang="en-US" sz="1600"/>
              <a:t>年龄增长会提高糖尿病患病风险。</a:t>
            </a:r>
            <a:endParaRPr lang="zh-CN" altLang="en-US" sz="1600"/>
          </a:p>
        </p:txBody>
      </p:sp>
      <p:pic>
        <p:nvPicPr>
          <p:cNvPr id="8" name="图片 7" descr="adc139e8585c64ba576dda611884365f"/>
          <p:cNvPicPr>
            <a:picLocks noChangeAspect="1"/>
          </p:cNvPicPr>
          <p:nvPr/>
        </p:nvPicPr>
        <p:blipFill>
          <a:blip r:embed="rId4"/>
          <a:srcRect r="24651"/>
          <a:stretch>
            <a:fillRect/>
          </a:stretch>
        </p:blipFill>
        <p:spPr>
          <a:xfrm>
            <a:off x="762000" y="1377950"/>
            <a:ext cx="5048250" cy="1082040"/>
          </a:xfrm>
          <a:prstGeom prst="rect">
            <a:avLst/>
          </a:prstGeom>
        </p:spPr>
      </p:pic>
      <p:pic>
        <p:nvPicPr>
          <p:cNvPr id="6" name="图片 5" descr="a4135a0c5dfb340b9b41eb8998779ffc"/>
          <p:cNvPicPr>
            <a:picLocks noChangeAspect="1"/>
          </p:cNvPicPr>
          <p:nvPr/>
        </p:nvPicPr>
        <p:blipFill>
          <a:blip r:embed="rId5"/>
          <a:srcRect r="13385"/>
          <a:stretch>
            <a:fillRect/>
          </a:stretch>
        </p:blipFill>
        <p:spPr>
          <a:xfrm>
            <a:off x="6539865" y="1377315"/>
            <a:ext cx="5307330" cy="108902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sndAc>
          <p:stSnd>
            <p:snd r:embed="rId6" name="type.wav"/>
          </p:stSnd>
        </p:sndAc>
      </p:transition>
    </mc:Choice>
    <mc:Fallback>
      <p:transition spd="slow">
        <p:random/>
        <p:sndAc>
          <p:stSnd>
            <p:snd r:embed="rId6"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患病组与健康组特征分布差异分析</a:t>
            </a:r>
            <a:r>
              <a:rPr lang="zh-CN" altLang="en-US" sz="18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a:solidFill>
                  <a:srgbClr val="374151"/>
                </a:solidFill>
                <a:latin typeface="Noto Sans SC" panose="020B0200000000000000" charset="-122"/>
                <a:ea typeface="Noto Sans SC" panose="020B0200000000000000" charset="-122"/>
                <a:cs typeface="Noto Sans SC" panose="020B0200000000000000" charset="-122"/>
              </a:rPr>
              <a:t>胰岛素）</a:t>
            </a:r>
            <a:endParaRPr lang="zh-CN" altLang="en-US" sz="1800">
              <a:solidFill>
                <a:srgbClr val="374151"/>
              </a:solidFill>
              <a:latin typeface="Noto Sans SC" panose="020B0200000000000000" charset="-122"/>
              <a:ea typeface="Noto Sans SC" panose="020B0200000000000000" charset="-122"/>
              <a:cs typeface="Noto Sans SC" panose="020B0200000000000000" charset="-122"/>
            </a:endParaRPr>
          </a:p>
        </p:txBody>
      </p:sp>
      <p:pic>
        <p:nvPicPr>
          <p:cNvPr id="5" name="图片 4" descr="6c4fa2f0d2d0e7c6052a11f2932b5d5f"/>
          <p:cNvPicPr>
            <a:picLocks noChangeAspect="1"/>
          </p:cNvPicPr>
          <p:nvPr/>
        </p:nvPicPr>
        <p:blipFill>
          <a:blip r:embed="rId2"/>
          <a:stretch>
            <a:fillRect/>
          </a:stretch>
        </p:blipFill>
        <p:spPr>
          <a:xfrm>
            <a:off x="6870065" y="2699385"/>
            <a:ext cx="4559935" cy="3394075"/>
          </a:xfrm>
          <a:prstGeom prst="rect">
            <a:avLst/>
          </a:prstGeom>
        </p:spPr>
      </p:pic>
      <p:pic>
        <p:nvPicPr>
          <p:cNvPr id="7" name="图片 6" descr="fbdff071b29166a27ac739ccf892ec1d"/>
          <p:cNvPicPr>
            <a:picLocks noChangeAspect="1"/>
          </p:cNvPicPr>
          <p:nvPr/>
        </p:nvPicPr>
        <p:blipFill>
          <a:blip r:embed="rId3"/>
          <a:stretch>
            <a:fillRect/>
          </a:stretch>
        </p:blipFill>
        <p:spPr>
          <a:xfrm>
            <a:off x="954405" y="2623185"/>
            <a:ext cx="4662170" cy="3470275"/>
          </a:xfrm>
          <a:prstGeom prst="rect">
            <a:avLst/>
          </a:prstGeom>
        </p:spPr>
      </p:pic>
      <p:sp>
        <p:nvSpPr>
          <p:cNvPr id="21" name="文本框 20"/>
          <p:cNvSpPr txBox="1"/>
          <p:nvPr/>
        </p:nvSpPr>
        <p:spPr>
          <a:xfrm>
            <a:off x="3006725" y="4394200"/>
            <a:ext cx="1041400" cy="448945"/>
          </a:xfrm>
          <a:prstGeom prst="rect">
            <a:avLst/>
          </a:prstGeom>
          <a:solidFill>
            <a:schemeClr val="bg1">
              <a:lumMod val="85000"/>
            </a:schemeClr>
          </a:solidFill>
        </p:spPr>
        <p:txBody>
          <a:bodyPr wrap="square" rtlCol="0">
            <a:noAutofit/>
          </a:bodyPr>
          <a:p>
            <a:r>
              <a:rPr lang="zh-CN" altLang="en-US" sz="2000" b="1"/>
              <a:t>未患病</a:t>
            </a:r>
            <a:endParaRPr lang="zh-CN" altLang="en-US" sz="2000" b="1"/>
          </a:p>
        </p:txBody>
      </p:sp>
      <p:sp>
        <p:nvSpPr>
          <p:cNvPr id="22" name="文本框 21"/>
          <p:cNvSpPr txBox="1"/>
          <p:nvPr/>
        </p:nvSpPr>
        <p:spPr>
          <a:xfrm>
            <a:off x="9849485" y="4301490"/>
            <a:ext cx="755650" cy="448945"/>
          </a:xfrm>
          <a:prstGeom prst="rect">
            <a:avLst/>
          </a:prstGeom>
          <a:solidFill>
            <a:schemeClr val="bg1">
              <a:lumMod val="85000"/>
            </a:schemeClr>
          </a:solidFill>
        </p:spPr>
        <p:txBody>
          <a:bodyPr wrap="square" rtlCol="0">
            <a:noAutofit/>
          </a:bodyPr>
          <a:p>
            <a:r>
              <a:rPr lang="zh-CN" altLang="en-US" sz="2000" b="1"/>
              <a:t>患病</a:t>
            </a:r>
            <a:endParaRPr lang="zh-CN" altLang="en-US" sz="2000" b="1"/>
          </a:p>
        </p:txBody>
      </p:sp>
      <p:pic>
        <p:nvPicPr>
          <p:cNvPr id="4" name="图片 3" descr="c6a78348e29d8de02268b5fb793fc080"/>
          <p:cNvPicPr>
            <a:picLocks noChangeAspect="1"/>
          </p:cNvPicPr>
          <p:nvPr/>
        </p:nvPicPr>
        <p:blipFill>
          <a:blip r:embed="rId4"/>
          <a:srcRect r="34526"/>
          <a:stretch>
            <a:fillRect/>
          </a:stretch>
        </p:blipFill>
        <p:spPr>
          <a:xfrm>
            <a:off x="6789420" y="1391920"/>
            <a:ext cx="4812030" cy="1058545"/>
          </a:xfrm>
          <a:prstGeom prst="rect">
            <a:avLst/>
          </a:prstGeom>
        </p:spPr>
      </p:pic>
      <p:pic>
        <p:nvPicPr>
          <p:cNvPr id="6" name="图片 5" descr="feaebf926299114fb5eb17415af239cc"/>
          <p:cNvPicPr>
            <a:picLocks noChangeAspect="1"/>
          </p:cNvPicPr>
          <p:nvPr/>
        </p:nvPicPr>
        <p:blipFill>
          <a:blip r:embed="rId5"/>
          <a:srcRect r="18680"/>
          <a:stretch>
            <a:fillRect/>
          </a:stretch>
        </p:blipFill>
        <p:spPr>
          <a:xfrm>
            <a:off x="954405" y="1386205"/>
            <a:ext cx="4526280" cy="1070610"/>
          </a:xfrm>
          <a:prstGeom prst="rect">
            <a:avLst/>
          </a:prstGeom>
        </p:spPr>
      </p:pic>
      <p:sp>
        <p:nvSpPr>
          <p:cNvPr id="20" name="文本框 19"/>
          <p:cNvSpPr txBox="1"/>
          <p:nvPr/>
        </p:nvSpPr>
        <p:spPr>
          <a:xfrm>
            <a:off x="2919095" y="3399155"/>
            <a:ext cx="6550660" cy="902335"/>
          </a:xfrm>
          <a:prstGeom prst="rect">
            <a:avLst/>
          </a:prstGeom>
          <a:solidFill>
            <a:schemeClr val="bg1"/>
          </a:solidFill>
        </p:spPr>
        <p:txBody>
          <a:bodyPr wrap="square">
            <a:spAutoFit/>
          </a:bodyPr>
          <a:p>
            <a:pPr algn="l">
              <a:spcAft>
                <a:spcPct val="60000"/>
              </a:spcAft>
            </a:pPr>
            <a:r>
              <a:rPr lang="en-US" altLang="zh-CN" sz="2200" b="1"/>
              <a:t>Insulin </a:t>
            </a:r>
            <a:r>
              <a:rPr lang="zh-CN" altLang="en-US" sz="2200" b="1"/>
              <a:t>分布波动较大</a:t>
            </a:r>
            <a:endParaRPr lang="zh-CN" altLang="en-US" sz="2200" b="1"/>
          </a:p>
          <a:p>
            <a:pPr algn="l"/>
            <a:r>
              <a:rPr lang="zh-CN" altLang="en-US" sz="1600"/>
              <a:t>说明胰岛素水平个体差异明显，其预测能力受数据质量影响较大。</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6" name="type.wav"/>
          </p:stSnd>
        </p:sndAc>
      </p:transition>
    </mc:Choice>
    <mc:Fallback>
      <p:transition spd="slow">
        <p:random/>
        <p:sndAc>
          <p:stSnd>
            <p:snd r:embed="rId6"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blinds(horizontal)">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ldLvl="0" animBg="1"/>
      <p:bldP spid="20"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健康组特征画像分析</a:t>
            </a:r>
            <a:endParaRPr lang="zh-CN" altLang="en-US" sz="180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0" name="AutoShape 10"/>
          <p:cNvSpPr/>
          <p:nvPr>
            <p:custDataLst>
              <p:tags r:id="rId2"/>
            </p:custDataLst>
          </p:nvPr>
        </p:nvSpPr>
        <p:spPr>
          <a:xfrm>
            <a:off x="762000" y="1272540"/>
            <a:ext cx="11142980" cy="533146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custDataLst>
              <p:tags r:id="rId3"/>
            </p:custDataLst>
          </p:nvPr>
        </p:nvSpPr>
        <p:spPr>
          <a:xfrm>
            <a:off x="1308735" y="2136775"/>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健康组典型特征</a:t>
            </a:r>
            <a:r>
              <a:rPr 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200"/>
          </a:p>
          <a:p>
            <a:pPr marL="0" indent="0" algn="l">
              <a:lnSpc>
                <a:spcPct val="117000"/>
              </a:lnSpc>
              <a:spcBef>
                <a:spcPts val="1000"/>
              </a:spcBef>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血糖主要集中于正常区间；</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en-US" altLang="zh-CN"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BMI</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整体较低；</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年龄以年轻群体为主；</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遗传风险整体较弱。</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 name="图片 15" descr="7257d5614eb83d5de7443339486afe6c"/>
          <p:cNvPicPr>
            <a:picLocks noChangeAspect="1"/>
          </p:cNvPicPr>
          <p:nvPr/>
        </p:nvPicPr>
        <p:blipFill>
          <a:blip r:embed="rId4"/>
          <a:stretch>
            <a:fillRect/>
          </a:stretch>
        </p:blipFill>
        <p:spPr>
          <a:xfrm>
            <a:off x="7307580" y="1272540"/>
            <a:ext cx="4045585" cy="1270635"/>
          </a:xfrm>
          <a:prstGeom prst="rect">
            <a:avLst/>
          </a:prstGeom>
        </p:spPr>
      </p:pic>
      <p:pic>
        <p:nvPicPr>
          <p:cNvPr id="17" name="图片 16" descr="62baf35cb7608067b3e1d111e0da3bed"/>
          <p:cNvPicPr>
            <a:picLocks noChangeAspect="1"/>
          </p:cNvPicPr>
          <p:nvPr/>
        </p:nvPicPr>
        <p:blipFill>
          <a:blip r:embed="rId5"/>
          <a:stretch>
            <a:fillRect/>
          </a:stretch>
        </p:blipFill>
        <p:spPr>
          <a:xfrm>
            <a:off x="3696970" y="2543175"/>
            <a:ext cx="8208010" cy="4069080"/>
          </a:xfrm>
          <a:prstGeom prst="rect">
            <a:avLst/>
          </a:prstGeom>
        </p:spPr>
      </p:pic>
      <p:sp>
        <p:nvSpPr>
          <p:cNvPr id="4" name="AutoShape 12"/>
          <p:cNvSpPr/>
          <p:nvPr>
            <p:custDataLst>
              <p:tags r:id="rId6"/>
            </p:custDataLst>
          </p:nvPr>
        </p:nvSpPr>
        <p:spPr>
          <a:xfrm>
            <a:off x="1205230" y="4755515"/>
            <a:ext cx="2598420" cy="136398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数据特征</a:t>
            </a:r>
            <a:endPar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endPar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defRPr/>
            </a:pPr>
            <a:r>
              <a:rPr lang="zh-CN" altLang="en-US" sz="1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整体分布较稳定，可作为后续患者组分析的重要基线。</a:t>
            </a:r>
            <a:r>
              <a:rPr lang="en-US" sz="1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900"/>
          </a:p>
          <a:p>
            <a:pPr marL="0" indent="0" algn="l">
              <a:lnSpc>
                <a:spcPct val="117000"/>
              </a:lnSpc>
              <a:spcBef>
                <a:spcPts val="1000"/>
              </a:spcBef>
            </a:pPr>
            <a:endParaRPr lang="en-US" altLang="en-US" sz="9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7" name="type.wav"/>
          </p:stSnd>
        </p:sndAc>
      </p:transition>
    </mc:Choice>
    <mc:Fallback>
      <p:transition spd="slow">
        <p:random/>
        <p:sndAc>
          <p:stSnd>
            <p:snd r:embed="rId7"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糖尿病患者特征画像分析</a:t>
            </a:r>
            <a:endParaRPr lang="zh-CN" altLang="en-US" sz="180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0" name="AutoShape 10"/>
          <p:cNvSpPr/>
          <p:nvPr>
            <p:custDataLst>
              <p:tags r:id="rId2"/>
            </p:custDataLst>
          </p:nvPr>
        </p:nvSpPr>
        <p:spPr>
          <a:xfrm>
            <a:off x="762000" y="1272540"/>
            <a:ext cx="11142980" cy="5331460"/>
          </a:xfrm>
          <a:prstGeom prst="roundRect">
            <a:avLst>
              <a:gd name="adj" fmla="val 63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custDataLst>
              <p:tags r:id="rId3"/>
            </p:custDataLst>
          </p:nvPr>
        </p:nvSpPr>
        <p:spPr>
          <a:xfrm>
            <a:off x="1308735" y="1954530"/>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患者组典型特征</a:t>
            </a:r>
            <a:r>
              <a:rPr 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endParaRPr lang="en-US" sz="1200"/>
          </a:p>
          <a:p>
            <a:pPr marL="0" indent="0" algn="l">
              <a:lnSpc>
                <a:spcPct val="117000"/>
              </a:lnSpc>
              <a:spcBef>
                <a:spcPts val="1000"/>
              </a:spcBef>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血糖整体明显升高；</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en-US" altLang="zh-CN"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BMI</a:t>
            </a: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处于肥胖区间；</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年龄整体偏大；</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遗传风险更高。</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图片 17" descr="7ea09402ddd4bd2b912c2e1bfb1ffea0"/>
          <p:cNvPicPr>
            <a:picLocks noChangeAspect="1"/>
          </p:cNvPicPr>
          <p:nvPr/>
        </p:nvPicPr>
        <p:blipFill>
          <a:blip r:embed="rId4"/>
          <a:srcRect t="8745" r="9822"/>
          <a:stretch>
            <a:fillRect/>
          </a:stretch>
        </p:blipFill>
        <p:spPr>
          <a:xfrm>
            <a:off x="6923405" y="1272540"/>
            <a:ext cx="3994785" cy="1301115"/>
          </a:xfrm>
          <a:prstGeom prst="rect">
            <a:avLst/>
          </a:prstGeom>
        </p:spPr>
      </p:pic>
      <p:pic>
        <p:nvPicPr>
          <p:cNvPr id="19" name="图片 18" descr="baa4c95c4295ad6e097fd9a57732ac06"/>
          <p:cNvPicPr>
            <a:picLocks noChangeAspect="1"/>
          </p:cNvPicPr>
          <p:nvPr/>
        </p:nvPicPr>
        <p:blipFill>
          <a:blip r:embed="rId5"/>
          <a:stretch>
            <a:fillRect/>
          </a:stretch>
        </p:blipFill>
        <p:spPr>
          <a:xfrm>
            <a:off x="3766185" y="2569210"/>
            <a:ext cx="8138795" cy="4034790"/>
          </a:xfrm>
          <a:prstGeom prst="rect">
            <a:avLst/>
          </a:prstGeom>
        </p:spPr>
      </p:pic>
      <p:sp>
        <p:nvSpPr>
          <p:cNvPr id="20" name="AutoShape 12"/>
          <p:cNvSpPr/>
          <p:nvPr>
            <p:custDataLst>
              <p:tags r:id="rId6"/>
            </p:custDataLst>
          </p:nvPr>
        </p:nvSpPr>
        <p:spPr>
          <a:xfrm>
            <a:off x="1308735" y="4140200"/>
            <a:ext cx="2794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研究意义</a:t>
            </a:r>
            <a:endParaRPr lang="zh-CN" altLang="en-US" sz="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00000"/>
              </a:lnSpc>
              <a:spcBef>
                <a:spcPts val="1200"/>
              </a:spcBef>
              <a:defRPr/>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说明糖尿病的发生与：</a:t>
            </a:r>
            <a:endParaRPr lang="en-US" altLang="zh-CN"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高血糖</a:t>
            </a:r>
            <a:r>
              <a:rPr lang="en-US" altLang="zh-CN"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肥胖</a:t>
            </a:r>
            <a:r>
              <a:rPr lang="en-US" altLang="zh-CN"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年龄增长</a:t>
            </a:r>
            <a:r>
              <a:rPr lang="en-US" altLang="zh-CN"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遗传因素</a:t>
            </a:r>
            <a:endParaRPr lang="en-US" altLang="zh-CN"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密切相关。</a:t>
            </a:r>
            <a:endParaRPr lang="zh-CN" alt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文本框 20"/>
          <p:cNvSpPr txBox="1"/>
          <p:nvPr/>
        </p:nvSpPr>
        <p:spPr>
          <a:xfrm>
            <a:off x="2481580" y="2961005"/>
            <a:ext cx="7703185" cy="1179195"/>
          </a:xfrm>
          <a:prstGeom prst="rect">
            <a:avLst/>
          </a:prstGeom>
          <a:solidFill>
            <a:schemeClr val="bg1">
              <a:lumMod val="95000"/>
            </a:schemeClr>
          </a:solidFill>
        </p:spPr>
        <p:txBody>
          <a:bodyPr wrap="square">
            <a:noAutofit/>
          </a:bodyPr>
          <a:p>
            <a:pPr indent="0" algn="ctr" eaLnBrk="1" fontAlgn="auto" latinLnBrk="0" hangingPunct="1">
              <a:spcBef>
                <a:spcPts val="1200"/>
              </a:spcBef>
            </a:pPr>
            <a:r>
              <a:rPr lang="zh-CN" altLang="en-US" sz="2400" b="1"/>
              <a:t>患者画像</a:t>
            </a:r>
            <a:endParaRPr lang="zh-CN" altLang="en-US" sz="2400" b="1"/>
          </a:p>
          <a:p>
            <a:pPr indent="0" algn="l" eaLnBrk="1" fontAlgn="auto" latinLnBrk="0" hangingPunct="1">
              <a:spcBef>
                <a:spcPts val="600"/>
              </a:spcBef>
            </a:pPr>
            <a:r>
              <a:rPr lang="zh-CN" altLang="en-US" sz="1800"/>
              <a:t>30 岁左右、怀孕 3 次以上、</a:t>
            </a:r>
            <a:r>
              <a:rPr lang="en-US" altLang="zh-CN" sz="1800"/>
              <a:t>BMI35 </a:t>
            </a:r>
            <a:r>
              <a:rPr lang="zh-CN" altLang="en-US" sz="1800"/>
              <a:t>左右（肥胖）、血糖 125</a:t>
            </a:r>
            <a:r>
              <a:rPr lang="en-US" altLang="zh-CN" sz="1800"/>
              <a:t>mg/dL </a:t>
            </a:r>
            <a:r>
              <a:rPr lang="zh-CN" altLang="en-US" sz="1800"/>
              <a:t>以上、有一定家族遗传史</a:t>
            </a:r>
            <a:endParaRPr lang="zh-CN" altLang="en-US" sz="18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7" name="type.wav"/>
          </p:stSnd>
        </p:sndAc>
      </p:transition>
    </mc:Choice>
    <mc:Fallback>
      <p:transition spd="slow">
        <p:random/>
        <p:sndAc>
          <p:stSnd>
            <p:snd r:embed="rId7"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blinds(horizontal)">
                                      <p:cBhvr>
                                        <p:cTn id="11"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bldLvl="0" animBg="1"/>
      <p:bldP spid="21" grpId="1" animBg="1"/>
      <p:bldP spid="20" grpId="0"/>
      <p:bldP spid="20" grpId="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381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CHAPTER 04</a:t>
            </a:r>
            <a:endParaRPr lang="en-US" sz="1100"/>
          </a:p>
        </p:txBody>
      </p:sp>
      <p:sp>
        <p:nvSpPr>
          <p:cNvPr id="4" name="AutoShape 4"/>
          <p:cNvSpPr/>
          <p:nvPr/>
        </p:nvSpPr>
        <p:spPr>
          <a:xfrm>
            <a:off x="0" y="1778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1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5" name="AutoShape 5"/>
          <p:cNvSpPr/>
          <p:nvPr/>
        </p:nvSpPr>
        <p:spPr>
          <a:xfrm>
            <a:off x="0" y="3556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模型建立</a:t>
            </a:r>
            <a:endParaRPr lang="en-US" sz="1100"/>
          </a:p>
        </p:txBody>
      </p:sp>
      <p:sp>
        <p:nvSpPr>
          <p:cNvPr id="6" name="AutoShape 6"/>
          <p:cNvSpPr/>
          <p:nvPr>
            <p:custDataLst>
              <p:tags r:id="rId2"/>
            </p:custDataLst>
          </p:nvPr>
        </p:nvSpPr>
        <p:spPr>
          <a:xfrm>
            <a:off x="1549400" y="4953000"/>
            <a:ext cx="24765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7" name="Picture 7"/>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803400" y="5270500"/>
            <a:ext cx="406400" cy="406400"/>
          </a:xfrm>
          <a:prstGeom prst="rect">
            <a:avLst/>
          </a:prstGeom>
        </p:spPr>
      </p:pic>
      <p:sp>
        <p:nvSpPr>
          <p:cNvPr id="8" name="AutoShape 8"/>
          <p:cNvSpPr/>
          <p:nvPr>
            <p:custDataLst>
              <p:tags r:id="rId6"/>
            </p:custDataLst>
          </p:nvPr>
        </p:nvSpPr>
        <p:spPr>
          <a:xfrm>
            <a:off x="2336800" y="5207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Decision Tree</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custDataLst>
              <p:tags r:id="rId7"/>
            </p:custDataLst>
          </p:nvPr>
        </p:nvSpPr>
        <p:spPr>
          <a:xfrm>
            <a:off x="4857750" y="4953000"/>
            <a:ext cx="24765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111750" y="5270500"/>
            <a:ext cx="406400" cy="406400"/>
          </a:xfrm>
          <a:prstGeom prst="rect">
            <a:avLst/>
          </a:prstGeom>
        </p:spPr>
      </p:pic>
      <p:sp>
        <p:nvSpPr>
          <p:cNvPr id="14" name="AutoShape 14"/>
          <p:cNvSpPr/>
          <p:nvPr>
            <p:custDataLst>
              <p:tags r:id="rId11"/>
            </p:custDataLst>
          </p:nvPr>
        </p:nvSpPr>
        <p:spPr>
          <a:xfrm>
            <a:off x="5645150" y="5207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MLP神经网络</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MLP Neural Network</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8394700" y="4953000"/>
            <a:ext cx="24765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648700" y="5270500"/>
            <a:ext cx="406400" cy="406400"/>
          </a:xfrm>
          <a:prstGeom prst="rect">
            <a:avLst/>
          </a:prstGeom>
        </p:spPr>
      </p:pic>
      <p:sp>
        <p:nvSpPr>
          <p:cNvPr id="17" name="AutoShape 17"/>
          <p:cNvSpPr/>
          <p:nvPr/>
        </p:nvSpPr>
        <p:spPr>
          <a:xfrm>
            <a:off x="9182100" y="5207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支持向量机 (SVM)</a:t>
            </a:r>
            <a:endParaRPr lang="en-US" sz="1100"/>
          </a:p>
          <a:p>
            <a:pPr marL="0" indent="0" algn="l">
              <a:lnSpc>
                <a:spcPct val="125000"/>
              </a:lnSpc>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 Vector Machine</a:t>
            </a:r>
            <a:endPar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14" name="type.wav"/>
          </p:stSnd>
        </p:sndAc>
      </p:transition>
    </mc:Choice>
    <mc:Fallback>
      <p:transition spd="slow">
        <p:random/>
        <p:sndAc>
          <p:stSnd>
            <p:snd r:embed="rId14" name="type.wav"/>
          </p:stSnd>
        </p:sndAc>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糖尿病关键特征筛选</a:t>
            </a:r>
            <a:r>
              <a:rPr lang="zh-CN" altLang="en-US" sz="2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（基于决策树的特征重要性分析）</a:t>
            </a:r>
            <a:endParaRPr lang="zh-CN" altLang="en-US" sz="2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6" name="图片 15" descr="830ee78ad76f3abb0856c8fce30b3dc2"/>
          <p:cNvPicPr>
            <a:picLocks noChangeAspect="1"/>
          </p:cNvPicPr>
          <p:nvPr/>
        </p:nvPicPr>
        <p:blipFill>
          <a:blip r:embed="rId2"/>
          <a:stretch>
            <a:fillRect/>
          </a:stretch>
        </p:blipFill>
        <p:spPr>
          <a:xfrm>
            <a:off x="0" y="1349375"/>
            <a:ext cx="6511925" cy="3428365"/>
          </a:xfrm>
          <a:prstGeom prst="rect">
            <a:avLst/>
          </a:prstGeom>
        </p:spPr>
      </p:pic>
      <p:pic>
        <p:nvPicPr>
          <p:cNvPr id="4" name="图片 3" descr="9b515f31bf0eb7e214b10d54ade4f24d"/>
          <p:cNvPicPr>
            <a:picLocks noChangeAspect="1"/>
          </p:cNvPicPr>
          <p:nvPr/>
        </p:nvPicPr>
        <p:blipFill>
          <a:blip r:embed="rId3"/>
          <a:stretch>
            <a:fillRect/>
          </a:stretch>
        </p:blipFill>
        <p:spPr>
          <a:xfrm>
            <a:off x="6511925" y="1349375"/>
            <a:ext cx="5300345" cy="3418840"/>
          </a:xfrm>
          <a:prstGeom prst="rect">
            <a:avLst/>
          </a:prstGeom>
        </p:spPr>
      </p:pic>
      <p:sp>
        <p:nvSpPr>
          <p:cNvPr id="5" name="文本框 4"/>
          <p:cNvSpPr txBox="1"/>
          <p:nvPr/>
        </p:nvSpPr>
        <p:spPr>
          <a:xfrm>
            <a:off x="986155" y="4592955"/>
            <a:ext cx="9646285" cy="2600960"/>
          </a:xfrm>
          <a:prstGeom prst="rect">
            <a:avLst/>
          </a:prstGeom>
        </p:spPr>
        <p:txBody>
          <a:bodyPr wrap="square">
            <a:noAutofit/>
          </a:bodyPr>
          <a:p>
            <a:pPr>
              <a:spcAft>
                <a:spcPct val="60000"/>
              </a:spcAft>
            </a:pPr>
            <a:r>
              <a:rPr lang="zh-CN" altLang="en-US" sz="2300" b="1">
                <a:effectLst>
                  <a:outerShdw blurRad="38100" dist="38100" dir="2700000" algn="tl">
                    <a:srgbClr val="000000">
                      <a:alpha val="43137"/>
                    </a:srgbClr>
                  </a:outerShdw>
                </a:effectLst>
              </a:rPr>
              <a:t>研究发现</a:t>
            </a:r>
            <a:endParaRPr lang="zh-CN" altLang="en-US" sz="2300" b="1">
              <a:effectLst>
                <a:outerShdw blurRad="38100" dist="38100" dir="2700000" algn="tl">
                  <a:srgbClr val="000000">
                    <a:alpha val="43137"/>
                  </a:srgbClr>
                </a:outerShdw>
              </a:effectLst>
            </a:endParaRPr>
          </a:p>
          <a:p>
            <a:pPr indent="0" eaLnBrk="1" fontAlgn="auto" latinLnBrk="0" hangingPunct="1">
              <a:spcBef>
                <a:spcPts val="600"/>
              </a:spcBef>
              <a:spcAft>
                <a:spcPts val="600"/>
              </a:spcAft>
            </a:pPr>
            <a:r>
              <a:rPr lang="en-US" altLang="zh-CN" sz="2200" b="1"/>
              <a:t>① Glucose </a:t>
            </a:r>
            <a:r>
              <a:rPr lang="zh-CN" altLang="en-US" sz="2200" b="1"/>
              <a:t>重要性最高</a:t>
            </a:r>
            <a:endParaRPr lang="zh-CN" altLang="en-US" sz="2200" b="1"/>
          </a:p>
          <a:p>
            <a:r>
              <a:rPr lang="zh-CN" altLang="en-US" sz="1600"/>
              <a:t>说明血糖是影响糖尿病预测的核心指标。</a:t>
            </a:r>
            <a:endParaRPr lang="zh-CN" altLang="en-US" sz="1600"/>
          </a:p>
          <a:p>
            <a:pPr indent="0" eaLnBrk="1" fontAlgn="auto" latinLnBrk="0" hangingPunct="1">
              <a:spcBef>
                <a:spcPts val="600"/>
              </a:spcBef>
              <a:spcAft>
                <a:spcPts val="600"/>
              </a:spcAft>
            </a:pPr>
            <a:r>
              <a:rPr lang="en-US" altLang="zh-CN" sz="2200" b="1"/>
              <a:t>② BMI </a:t>
            </a:r>
            <a:r>
              <a:rPr lang="zh-CN" altLang="en-US" sz="2200" b="1"/>
              <a:t>为第二重要特征</a:t>
            </a:r>
            <a:endParaRPr lang="zh-CN" altLang="en-US" sz="2200" b="1"/>
          </a:p>
          <a:p>
            <a:r>
              <a:rPr lang="zh-CN" altLang="en-US" sz="1600"/>
              <a:t>肥胖与糖尿病风险存在显著关联。</a:t>
            </a:r>
            <a:endParaRPr lang="zh-CN" altLang="en-US" sz="1600"/>
          </a:p>
          <a:p>
            <a:pPr>
              <a:spcAft>
                <a:spcPct val="60000"/>
              </a:spcAft>
            </a:pPr>
            <a:endParaRPr lang="zh-CN" altLang="en-US" sz="1600"/>
          </a:p>
        </p:txBody>
      </p:sp>
      <p:sp>
        <p:nvSpPr>
          <p:cNvPr id="6" name="文本框 5"/>
          <p:cNvSpPr txBox="1"/>
          <p:nvPr/>
        </p:nvSpPr>
        <p:spPr>
          <a:xfrm>
            <a:off x="6118225" y="4768215"/>
            <a:ext cx="9130665" cy="2007235"/>
          </a:xfrm>
          <a:prstGeom prst="rect">
            <a:avLst/>
          </a:prstGeom>
        </p:spPr>
        <p:txBody>
          <a:bodyPr wrap="square">
            <a:noAutofit/>
          </a:bodyPr>
          <a:p>
            <a:pPr indent="0" eaLnBrk="1" fontAlgn="auto" latinLnBrk="0" hangingPunct="1">
              <a:spcBef>
                <a:spcPts val="600"/>
              </a:spcBef>
              <a:spcAft>
                <a:spcPts val="600"/>
              </a:spcAft>
            </a:pPr>
            <a:r>
              <a:rPr lang="en-US" altLang="zh-CN" sz="2200" b="1"/>
              <a:t>③ Age </a:t>
            </a:r>
            <a:r>
              <a:rPr lang="zh-CN" altLang="en-US" sz="2200" b="1"/>
              <a:t>与 </a:t>
            </a:r>
            <a:r>
              <a:rPr lang="en-US" altLang="zh-CN" sz="2200" b="1"/>
              <a:t>Pregnancies </a:t>
            </a:r>
            <a:r>
              <a:rPr lang="zh-CN" altLang="en-US" sz="2200" b="1"/>
              <a:t>具有一定贡献</a:t>
            </a:r>
            <a:endParaRPr lang="zh-CN" altLang="en-US" sz="2200" b="1"/>
          </a:p>
          <a:p>
            <a:r>
              <a:rPr lang="zh-CN" altLang="en-US" sz="1600"/>
              <a:t>年龄增长与妊娠经历可能提高患病风险。</a:t>
            </a:r>
            <a:endParaRPr lang="zh-CN" altLang="en-US" sz="1600"/>
          </a:p>
          <a:p>
            <a:pPr indent="0" eaLnBrk="1" fontAlgn="auto" latinLnBrk="0" hangingPunct="1">
              <a:spcBef>
                <a:spcPts val="600"/>
              </a:spcBef>
              <a:spcAft>
                <a:spcPts val="600"/>
              </a:spcAft>
            </a:pPr>
            <a:r>
              <a:rPr lang="en-US" altLang="zh-CN" sz="2200" b="1"/>
              <a:t>④ </a:t>
            </a:r>
            <a:r>
              <a:rPr lang="zh-CN" altLang="en-US" sz="2200" b="1"/>
              <a:t>综合特征重要性结果</a:t>
            </a:r>
            <a:endParaRPr lang="zh-CN" altLang="en-US" sz="2200" b="1"/>
          </a:p>
          <a:p>
            <a:r>
              <a:rPr lang="zh-CN" altLang="en-US" sz="1600"/>
              <a:t>后续模型重点采用：</a:t>
            </a:r>
            <a:endParaRPr lang="zh-CN" altLang="en-US" sz="1600"/>
          </a:p>
          <a:p>
            <a:pPr>
              <a:buFont typeface="Arial" panose="020B0604020202020204"/>
              <a:buChar char="•"/>
            </a:pPr>
            <a:r>
              <a:rPr lang="zh-CN" altLang="en-US" sz="1600"/>
              <a:t> </a:t>
            </a:r>
            <a:r>
              <a:rPr lang="en-US" altLang="zh-CN" sz="1600"/>
              <a:t>Glucose  BMI  Insulin </a:t>
            </a:r>
            <a:endParaRPr lang="en-US" altLang="zh-CN" sz="1600"/>
          </a:p>
          <a:p>
            <a:r>
              <a:rPr lang="zh-CN" altLang="en-US" sz="1600"/>
              <a:t>等核心变量进行训练。</a:t>
            </a:r>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4" name="type.wav"/>
          </p:stSnd>
        </p:sndAc>
      </p:transition>
    </mc:Choice>
    <mc:Fallback>
      <p:transition spd="slow">
        <p:random/>
        <p:sndAc>
          <p:stSnd>
            <p:snd r:embed="rId4"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5" grpId="1"/>
      <p:bldP spid="6" grpId="0"/>
      <p:bldP spid="6" grpId="1"/>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决策树模型分析</a:t>
            </a:r>
            <a:endParaRPr lang="zh-CN" altLang="en-US" sz="2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图片 17" descr="545a1f107e407cf8cabf3135b0521dab"/>
          <p:cNvPicPr>
            <a:picLocks noChangeAspect="1"/>
          </p:cNvPicPr>
          <p:nvPr/>
        </p:nvPicPr>
        <p:blipFill>
          <a:blip r:embed="rId2"/>
          <a:stretch>
            <a:fillRect/>
          </a:stretch>
        </p:blipFill>
        <p:spPr>
          <a:xfrm>
            <a:off x="245745" y="1779270"/>
            <a:ext cx="6249035" cy="3481705"/>
          </a:xfrm>
          <a:prstGeom prst="rect">
            <a:avLst/>
          </a:prstGeom>
        </p:spPr>
      </p:pic>
      <p:sp>
        <p:nvSpPr>
          <p:cNvPr id="20" name="文本框 19"/>
          <p:cNvSpPr txBox="1"/>
          <p:nvPr/>
        </p:nvSpPr>
        <p:spPr>
          <a:xfrm>
            <a:off x="6826885" y="1489710"/>
            <a:ext cx="5080000" cy="4307840"/>
          </a:xfrm>
          <a:prstGeom prst="rect">
            <a:avLst/>
          </a:prstGeom>
        </p:spPr>
        <p:txBody>
          <a:bodyPr>
            <a:spAutoFit/>
          </a:bodyPr>
          <a:p>
            <a:pPr indent="0" eaLnBrk="1" fontAlgn="auto" latinLnBrk="0" hangingPunct="1">
              <a:spcBef>
                <a:spcPts val="1200"/>
              </a:spcBef>
              <a:spcAft>
                <a:spcPts val="600"/>
              </a:spcAft>
            </a:pPr>
            <a:r>
              <a:rPr lang="en-US" sz="2000" b="1">
                <a:solidFill>
                  <a:srgbClr val="2DD4BF"/>
                </a:solidFill>
                <a:latin typeface="Noto Sans SC" panose="020B0200000000000000" charset="-122"/>
                <a:ea typeface="Noto Sans SC" panose="020B0200000000000000" charset="-122"/>
                <a:cs typeface="Noto Sans SC" panose="020B0200000000000000" charset="-122"/>
              </a:rPr>
              <a:t>模型原理</a:t>
            </a:r>
            <a:endParaRPr lang="zh-CN" altLang="en-US" sz="2300" b="1"/>
          </a:p>
          <a:p>
            <a:r>
              <a:rPr lang="zh-CN" altLang="en-US" sz="1600"/>
              <a:t>决策树通过不断选择区分度最高的特征，对数据进行递归划分，从而形成树状分类结构。</a:t>
            </a:r>
            <a:endParaRPr lang="zh-CN" altLang="en-US" sz="1600"/>
          </a:p>
          <a:p>
            <a:pPr indent="0" eaLnBrk="1" fontAlgn="auto" latinLnBrk="0" hangingPunct="1">
              <a:spcBef>
                <a:spcPts val="1200"/>
              </a:spcBef>
              <a:spcAft>
                <a:spcPts val="600"/>
              </a:spcAft>
            </a:pPr>
            <a:r>
              <a:rPr lang="en-US" sz="2000" b="1">
                <a:solidFill>
                  <a:srgbClr val="2DD4BF"/>
                </a:solidFill>
                <a:latin typeface="Noto Sans SC" panose="020B0200000000000000" charset="-122"/>
                <a:ea typeface="Noto Sans SC" panose="020B0200000000000000" charset="-122"/>
                <a:cs typeface="Noto Sans SC" panose="020B0200000000000000" charset="-122"/>
              </a:rPr>
              <a:t>模型特点</a:t>
            </a:r>
            <a:endParaRPr lang="en-US" sz="2000" b="1">
              <a:solidFill>
                <a:srgbClr val="2DD4BF"/>
              </a:solidFill>
              <a:latin typeface="Noto Sans SC" panose="020B0200000000000000" charset="-122"/>
              <a:ea typeface="Noto Sans SC" panose="020B0200000000000000" charset="-122"/>
              <a:cs typeface="Noto Sans SC" panose="020B0200000000000000" charset="-122"/>
            </a:endParaRPr>
          </a:p>
          <a:p>
            <a:pPr>
              <a:buFont typeface="Arial" panose="020B0604020202020204"/>
              <a:buChar char="•"/>
            </a:pPr>
            <a:r>
              <a:rPr lang="zh-CN" altLang="en-US" sz="1600"/>
              <a:t> 可解释性强； </a:t>
            </a:r>
            <a:endParaRPr lang="zh-CN" altLang="en-US" sz="1600"/>
          </a:p>
          <a:p>
            <a:pPr>
              <a:buFont typeface="Arial" panose="020B0604020202020204"/>
              <a:buChar char="•"/>
            </a:pPr>
            <a:r>
              <a:rPr lang="zh-CN" altLang="en-US" sz="1600"/>
              <a:t> 易于可视化； </a:t>
            </a:r>
            <a:endParaRPr lang="zh-CN" altLang="en-US" sz="1600"/>
          </a:p>
          <a:p>
            <a:pPr>
              <a:buFont typeface="Arial" panose="020B0604020202020204"/>
              <a:buChar char="•"/>
            </a:pPr>
            <a:r>
              <a:rPr lang="zh-CN" altLang="en-US" sz="1600"/>
              <a:t> 能够直观展示分类规则。 </a:t>
            </a:r>
            <a:endParaRPr lang="zh-CN" altLang="en-US" sz="1600"/>
          </a:p>
          <a:p>
            <a:pPr indent="0" eaLnBrk="1" fontAlgn="auto" latinLnBrk="0" hangingPunct="1">
              <a:spcBef>
                <a:spcPts val="1200"/>
              </a:spcBef>
              <a:spcAft>
                <a:spcPts val="600"/>
              </a:spcAft>
            </a:pPr>
            <a:r>
              <a:rPr lang="en-US" sz="2000" b="1">
                <a:solidFill>
                  <a:srgbClr val="2DD4BF"/>
                </a:solidFill>
                <a:latin typeface="Noto Sans SC" panose="020B0200000000000000" charset="-122"/>
                <a:ea typeface="Noto Sans SC" panose="020B0200000000000000" charset="-122"/>
                <a:cs typeface="Noto Sans SC" panose="020B0200000000000000" charset="-122"/>
              </a:rPr>
              <a:t>实验结果</a:t>
            </a:r>
            <a:endParaRPr lang="en-US" sz="2000" b="1">
              <a:solidFill>
                <a:srgbClr val="2DD4BF"/>
              </a:solidFill>
              <a:latin typeface="Noto Sans SC" panose="020B0200000000000000" charset="-122"/>
              <a:ea typeface="Noto Sans SC" panose="020B0200000000000000" charset="-122"/>
              <a:cs typeface="Noto Sans SC" panose="020B0200000000000000" charset="-122"/>
            </a:endParaRPr>
          </a:p>
          <a:p>
            <a:pPr>
              <a:buFont typeface="Arial" panose="020B0604020202020204"/>
              <a:buChar char="•"/>
            </a:pPr>
            <a:r>
              <a:rPr lang="zh-CN" altLang="en-US" sz="1600"/>
              <a:t> 训练准确率：</a:t>
            </a:r>
            <a:r>
              <a:rPr lang="en-US" altLang="zh-CN" sz="1600"/>
              <a:t>80.0% </a:t>
            </a:r>
            <a:endParaRPr lang="en-US" altLang="zh-CN" sz="1600"/>
          </a:p>
          <a:p>
            <a:pPr>
              <a:buFont typeface="Arial" panose="020B0604020202020204"/>
              <a:buChar char="•"/>
            </a:pPr>
            <a:r>
              <a:rPr lang="en-US" altLang="zh-CN" sz="1600"/>
              <a:t> </a:t>
            </a:r>
            <a:r>
              <a:rPr lang="zh-CN" altLang="en-US" sz="1600"/>
              <a:t>测试准确率：</a:t>
            </a:r>
            <a:r>
              <a:rPr lang="en-US" altLang="zh-CN" sz="1600"/>
              <a:t>75.0% </a:t>
            </a:r>
            <a:endParaRPr lang="en-US" altLang="zh-CN" sz="1600"/>
          </a:p>
          <a:p>
            <a:pPr indent="0" eaLnBrk="1" fontAlgn="auto" latinLnBrk="0" hangingPunct="1">
              <a:spcBef>
                <a:spcPts val="1200"/>
              </a:spcBef>
              <a:spcAft>
                <a:spcPts val="600"/>
              </a:spcAft>
            </a:pPr>
            <a:r>
              <a:rPr lang="en-US" sz="2000" b="1">
                <a:solidFill>
                  <a:srgbClr val="2DD4BF"/>
                </a:solidFill>
                <a:latin typeface="Noto Sans SC" panose="020B0200000000000000" charset="-122"/>
                <a:ea typeface="Noto Sans SC" panose="020B0200000000000000" charset="-122"/>
                <a:cs typeface="Noto Sans SC" panose="020B0200000000000000" charset="-122"/>
              </a:rPr>
              <a:t>结果分析</a:t>
            </a:r>
            <a:endParaRPr lang="en-US" sz="2000" b="1">
              <a:solidFill>
                <a:srgbClr val="2DD4BF"/>
              </a:solidFill>
              <a:latin typeface="Noto Sans SC" panose="020B0200000000000000" charset="-122"/>
              <a:ea typeface="Noto Sans SC" panose="020B0200000000000000" charset="-122"/>
              <a:cs typeface="Noto Sans SC" panose="020B0200000000000000" charset="-122"/>
            </a:endParaRPr>
          </a:p>
          <a:p>
            <a:r>
              <a:rPr lang="zh-CN" altLang="en-US" sz="1600"/>
              <a:t>模型能够较好识别糖尿病风险特征，但测试准确率低于训练准确率，说明存在一定过拟合现象。</a:t>
            </a:r>
            <a:endParaRPr lang="zh-CN" altLang="en-US" sz="1600"/>
          </a:p>
        </p:txBody>
      </p:sp>
      <p:pic>
        <p:nvPicPr>
          <p:cNvPr id="21" name="图片 20"/>
          <p:cNvPicPr>
            <a:picLocks noChangeAspect="1"/>
          </p:cNvPicPr>
          <p:nvPr/>
        </p:nvPicPr>
        <p:blipFill>
          <a:blip r:embed="rId3"/>
          <a:stretch>
            <a:fillRect/>
          </a:stretch>
        </p:blipFill>
        <p:spPr>
          <a:xfrm>
            <a:off x="3823335" y="2640330"/>
            <a:ext cx="4545330" cy="21590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sndAc>
          <p:stSnd>
            <p:snd r:embed="rId4" name="type.wav"/>
          </p:stSnd>
        </p:sndAc>
      </p:transition>
    </mc:Choice>
    <mc:Fallback>
      <p:transition spd="slow">
        <p:random/>
        <p:sndAc>
          <p:stSnd>
            <p:snd r:embed="rId4"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多层感知机（</a:t>
            </a:r>
            <a:r>
              <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MLP）</a:t>
            </a: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模型分析</a:t>
            </a:r>
            <a:endParaRPr lang="zh-CN" altLang="en-US" sz="24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 name="图片 3"/>
          <p:cNvPicPr>
            <a:picLocks noChangeAspect="1"/>
          </p:cNvPicPr>
          <p:nvPr/>
        </p:nvPicPr>
        <p:blipFill>
          <a:blip r:embed="rId2"/>
          <a:stretch>
            <a:fillRect/>
          </a:stretch>
        </p:blipFill>
        <p:spPr>
          <a:xfrm>
            <a:off x="461645" y="1362075"/>
            <a:ext cx="11269345" cy="484759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sndAc>
          <p:stSnd>
            <p:snd r:embed="rId3" name="type.wav"/>
          </p:stSnd>
        </p:sndAc>
      </p:transition>
    </mc:Choice>
    <mc:Fallback>
      <p:transition spd="slow">
        <p:random/>
        <p:sndAc>
          <p:stSnd>
            <p:snd r:embed="rId3" name="type.wav"/>
          </p:stSnd>
        </p:sndAc>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支持向量机（</a:t>
            </a:r>
            <a:r>
              <a:rPr lang="en-US" altLang="zh-CN"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SVM）</a:t>
            </a: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模型分析</a:t>
            </a:r>
            <a:r>
              <a:rPr lang="zh-CN" altLang="en-US" sz="20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（基于血糖与 </a:t>
            </a:r>
            <a:r>
              <a:rPr lang="en-US" altLang="zh-CN" sz="20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BMI </a:t>
            </a:r>
            <a:r>
              <a:rPr lang="zh-CN" altLang="en-US" sz="20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特征的分类边界可视化）</a:t>
            </a:r>
            <a:endParaRPr lang="zh-CN" altLang="en-US" sz="200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5" name="图片 4" descr="e466c9c1ff6e49d1953452377fcc87d2"/>
          <p:cNvPicPr>
            <a:picLocks noChangeAspect="1"/>
          </p:cNvPicPr>
          <p:nvPr/>
        </p:nvPicPr>
        <p:blipFill>
          <a:blip r:embed="rId2"/>
          <a:stretch>
            <a:fillRect/>
          </a:stretch>
        </p:blipFill>
        <p:spPr>
          <a:xfrm>
            <a:off x="229870" y="1382395"/>
            <a:ext cx="6981825" cy="4665980"/>
          </a:xfrm>
          <a:prstGeom prst="rect">
            <a:avLst/>
          </a:prstGeom>
        </p:spPr>
      </p:pic>
      <p:pic>
        <p:nvPicPr>
          <p:cNvPr id="6" name="图片 5"/>
          <p:cNvPicPr>
            <a:picLocks noChangeAspect="1"/>
          </p:cNvPicPr>
          <p:nvPr/>
        </p:nvPicPr>
        <p:blipFill>
          <a:blip r:embed="rId3"/>
          <a:stretch>
            <a:fillRect/>
          </a:stretch>
        </p:blipFill>
        <p:spPr>
          <a:xfrm>
            <a:off x="5224145" y="1755775"/>
            <a:ext cx="1162050" cy="619125"/>
          </a:xfrm>
          <a:prstGeom prst="rect">
            <a:avLst/>
          </a:prstGeom>
        </p:spPr>
      </p:pic>
      <p:pic>
        <p:nvPicPr>
          <p:cNvPr id="7" name="图片 6"/>
          <p:cNvPicPr>
            <a:picLocks noChangeAspect="1"/>
          </p:cNvPicPr>
          <p:nvPr/>
        </p:nvPicPr>
        <p:blipFill>
          <a:blip r:embed="rId4"/>
          <a:stretch>
            <a:fillRect/>
          </a:stretch>
        </p:blipFill>
        <p:spPr>
          <a:xfrm>
            <a:off x="2080895" y="4502785"/>
            <a:ext cx="1752600" cy="390525"/>
          </a:xfrm>
          <a:prstGeom prst="rect">
            <a:avLst/>
          </a:prstGeom>
        </p:spPr>
      </p:pic>
      <p:pic>
        <p:nvPicPr>
          <p:cNvPr id="8" name="图片 7"/>
          <p:cNvPicPr>
            <a:picLocks noChangeAspect="1"/>
          </p:cNvPicPr>
          <p:nvPr/>
        </p:nvPicPr>
        <p:blipFill>
          <a:blip r:embed="rId5"/>
          <a:stretch>
            <a:fillRect/>
          </a:stretch>
        </p:blipFill>
        <p:spPr>
          <a:xfrm>
            <a:off x="5039360" y="4748530"/>
            <a:ext cx="971550" cy="323850"/>
          </a:xfrm>
          <a:prstGeom prst="rect">
            <a:avLst/>
          </a:prstGeom>
        </p:spPr>
      </p:pic>
      <p:pic>
        <p:nvPicPr>
          <p:cNvPr id="9" name="图片 8"/>
          <p:cNvPicPr>
            <a:picLocks noChangeAspect="1"/>
          </p:cNvPicPr>
          <p:nvPr/>
        </p:nvPicPr>
        <p:blipFill>
          <a:blip r:embed="rId6"/>
          <a:stretch>
            <a:fillRect/>
          </a:stretch>
        </p:blipFill>
        <p:spPr>
          <a:xfrm>
            <a:off x="4279265" y="5006975"/>
            <a:ext cx="2200275" cy="352425"/>
          </a:xfrm>
          <a:prstGeom prst="rect">
            <a:avLst/>
          </a:prstGeom>
        </p:spPr>
      </p:pic>
      <p:cxnSp>
        <p:nvCxnSpPr>
          <p:cNvPr id="10" name="直接连接符 9"/>
          <p:cNvCxnSpPr/>
          <p:nvPr/>
        </p:nvCxnSpPr>
        <p:spPr>
          <a:xfrm flipH="1">
            <a:off x="5519420" y="4399280"/>
            <a:ext cx="351155" cy="329565"/>
          </a:xfrm>
          <a:prstGeom prst="line">
            <a:avLst/>
          </a:prstGeom>
          <a:ln>
            <a:solidFill>
              <a:schemeClr val="accent6">
                <a:lumMod val="75000"/>
              </a:schemeClr>
            </a:solidFill>
          </a:ln>
        </p:spPr>
        <p:style>
          <a:lnRef idx="2">
            <a:schemeClr val="accent1"/>
          </a:lnRef>
          <a:fillRef idx="0">
            <a:srgbClr val="FFFFFF"/>
          </a:fillRef>
          <a:effectRef idx="0">
            <a:srgbClr val="FFFFFF"/>
          </a:effectRef>
          <a:fontRef idx="minor">
            <a:schemeClr val="tx1"/>
          </a:fontRef>
        </p:style>
      </p:cxnSp>
      <p:cxnSp>
        <p:nvCxnSpPr>
          <p:cNvPr id="12" name="直接连接符 11"/>
          <p:cNvCxnSpPr/>
          <p:nvPr/>
        </p:nvCxnSpPr>
        <p:spPr>
          <a:xfrm>
            <a:off x="3154045" y="1590040"/>
            <a:ext cx="3775075" cy="3862705"/>
          </a:xfrm>
          <a:prstGeom prst="line">
            <a:avLst/>
          </a:prstGeom>
          <a:ln>
            <a:solidFill>
              <a:srgbClr val="92D050"/>
            </a:solidFill>
          </a:ln>
        </p:spPr>
        <p:style>
          <a:lnRef idx="3">
            <a:schemeClr val="accent1"/>
          </a:lnRef>
          <a:fillRef idx="0">
            <a:srgbClr val="FFFFFF"/>
          </a:fillRef>
          <a:effectRef idx="0">
            <a:srgbClr val="FFFFFF"/>
          </a:effectRef>
          <a:fontRef idx="minor">
            <a:schemeClr val="tx1"/>
          </a:fontRef>
        </p:style>
      </p:cxnSp>
      <p:sp>
        <p:nvSpPr>
          <p:cNvPr id="13" name="AutoShape 7"/>
          <p:cNvSpPr/>
          <p:nvPr/>
        </p:nvSpPr>
        <p:spPr>
          <a:xfrm>
            <a:off x="7216775" y="768350"/>
            <a:ext cx="5027295" cy="6332855"/>
          </a:xfrm>
          <a:prstGeom prst="rect">
            <a:avLst/>
          </a:prstGeom>
          <a:noFill/>
          <a:ln w="12700" cap="flat" cmpd="sng">
            <a:noFill/>
            <a:prstDash val="solid"/>
            <a:round/>
          </a:ln>
        </p:spPr>
        <p:txBody>
          <a:bodyPr vert="horz" wrap="square" lIns="0" tIns="0" rIns="0" bIns="0" rtlCol="0" anchor="ctr" anchorCtr="0"/>
          <a:lstStyle/>
          <a:p>
            <a:pPr indent="0" algn="l" eaLnBrk="1" fontAlgn="auto" latinLnBrk="0" hangingPunct="1">
              <a:lnSpc>
                <a:spcPct val="117000"/>
              </a:lnSpc>
              <a:spcBef>
                <a:spcPts val="600"/>
              </a:spcBef>
              <a:spcAft>
                <a:spcPts val="600"/>
              </a:spcAft>
              <a:defRPr/>
            </a:pPr>
            <a:r>
              <a:rPr lang="zh-CN" altLang="en-US" sz="20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模型分析</a:t>
            </a:r>
            <a:endParaRPr lang="zh-CN" altLang="en-US" sz="20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17000"/>
              </a:lnSpc>
              <a:spcBef>
                <a:spcPts val="600"/>
              </a:spcBef>
            </a:pP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模型原理</a:t>
            </a:r>
            <a:endParaRPr lang="en-US" altLang="zh-CN"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SVM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通过构建最大间隔超平面，实现不同类别样本之间的最优分类。</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17000"/>
              </a:lnSpc>
              <a:spcBef>
                <a:spcPts val="600"/>
              </a:spcBef>
            </a:pP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决策边界分析</a:t>
            </a:r>
            <a:endParaRPr lang="en-US" altLang="zh-CN"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模型整体能够区分：</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高血糖</a:t>
            </a:r>
            <a:r>
              <a:rPr lang="en-US" altLang="zh-CN" sz="13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3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高 </a:t>
            </a:r>
            <a:r>
              <a:rPr lang="en-US" altLang="zh-CN" sz="13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BMI</a:t>
            </a:r>
            <a:endParaRPr lang="en-US" altLang="zh-CN" sz="13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的糖尿病高风险人群，与医学认知基本一致。</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17000"/>
              </a:lnSpc>
              <a:spcBef>
                <a:spcPts val="600"/>
              </a:spcBef>
            </a:pP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分类结果分析</a:t>
            </a:r>
            <a:endParaRPr lang="en-US" altLang="zh-CN"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红色</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区域表示模型预测的</a:t>
            </a:r>
            <a:r>
              <a:rPr lang="zh-CN" altLang="en-US" sz="1300" b="0"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患病区域</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chemeClr val="accent1"/>
                </a:solidFill>
                <a:latin typeface="Noto Sans SC" panose="020B0200000000000000" charset="-122"/>
                <a:ea typeface="Noto Sans SC" panose="020B0200000000000000" charset="-122"/>
                <a:cs typeface="Noto Sans SC" panose="020B0200000000000000" charset="-122"/>
                <a:sym typeface="Noto Sans SC" panose="020B0200000000000000" charset="-122"/>
              </a:rPr>
              <a:t>蓝色</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区域表示模型预测的</a:t>
            </a:r>
            <a:r>
              <a:rPr lang="zh-CN" altLang="en-US" sz="1300" b="0" i="0" u="none" strike="noStrike">
                <a:solidFill>
                  <a:schemeClr val="accent1"/>
                </a:solidFill>
                <a:latin typeface="Noto Sans SC" panose="020B0200000000000000" charset="-122"/>
                <a:ea typeface="Noto Sans SC" panose="020B0200000000000000" charset="-122"/>
                <a:cs typeface="Noto Sans SC" panose="020B0200000000000000" charset="-122"/>
                <a:sym typeface="Noto Sans SC" panose="020B0200000000000000" charset="-122"/>
              </a:rPr>
              <a:t>健康区域</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可以看到：</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高血糖、高 </a:t>
            </a:r>
            <a:r>
              <a:rPr lang="en-US" altLang="zh-CN" sz="13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BMI </a:t>
            </a:r>
            <a:r>
              <a:rPr lang="zh-CN" altLang="en-US" sz="1300" b="1" i="0" u="none" strike="noStrike">
                <a:solidFill>
                  <a:schemeClr val="accent2"/>
                </a:solidFill>
                <a:latin typeface="Noto Sans SC" panose="020B0200000000000000" charset="-122"/>
                <a:ea typeface="Noto Sans SC" panose="020B0200000000000000" charset="-122"/>
                <a:cs typeface="Noto Sans SC" panose="020B0200000000000000" charset="-122"/>
                <a:sym typeface="Noto Sans SC" panose="020B0200000000000000" charset="-122"/>
              </a:rPr>
              <a:t>区域更容易被判定为糖尿病</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17000"/>
              </a:lnSpc>
              <a:spcBef>
                <a:spcPts val="600"/>
              </a:spcBef>
            </a:pP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模型局限性</a:t>
            </a:r>
            <a:endParaRPr lang="en-US" altLang="zh-CN"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由于两类样本存在明显重叠，模型仍存在一定误诊与漏诊现象。</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其中：漏诊风险需要重点关注。</a:t>
            </a:r>
            <a:endPar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eaLnBrk="1" fontAlgn="auto" latinLnBrk="0" hangingPunct="1">
              <a:lnSpc>
                <a:spcPct val="117000"/>
              </a:lnSpc>
              <a:spcBef>
                <a:spcPts val="600"/>
              </a:spcBef>
            </a:pPr>
            <a:r>
              <a:rPr lang="zh-CN" altLang="en-US"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实验结果</a:t>
            </a:r>
            <a:endParaRPr lang="en-US" altLang="zh-CN" sz="16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SVM </a:t>
            </a: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模型测试准确率达到：</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altLang="zh-CN" sz="16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rPr>
              <a:t>80.5%</a:t>
            </a:r>
            <a:endParaRPr lang="en-US" altLang="zh-CN" sz="1600" b="1" i="0" u="none" strike="noStrike">
              <a:solidFill>
                <a:srgbClr val="FF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为本研究所有模型中的最高值。</a:t>
            </a:r>
            <a:endParaRPr lang="zh-CN" alt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7" name="type.wav"/>
          </p:stSnd>
        </p:sndAc>
      </p:transition>
    </mc:Choice>
    <mc:Fallback>
      <p:transition spd="slow">
        <p:random/>
        <p:sndAc>
          <p:stSnd>
            <p:snd r:embed="rId7" name="type.wav"/>
          </p:stSnd>
        </p:sndAc>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4" name="AutoShape 4"/>
          <p:cNvSpPr/>
          <p:nvPr/>
        </p:nvSpPr>
        <p:spPr>
          <a:xfrm>
            <a:off x="0" y="3937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模型评估</a:t>
            </a:r>
            <a:endParaRPr lang="en-US" sz="1100"/>
          </a:p>
        </p:txBody>
      </p:sp>
      <p:sp>
        <p:nvSpPr>
          <p:cNvPr id="5" name="AutoShape 5"/>
          <p:cNvSpPr/>
          <p:nvPr/>
        </p:nvSpPr>
        <p:spPr>
          <a:xfrm>
            <a:off x="0" y="5207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spc="4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 EVALUATION</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模型性能</a:t>
            </a: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评估</a:t>
            </a:r>
            <a:endPar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4" name="Table 4"/>
          <p:cNvGraphicFramePr>
            <a:graphicFrameLocks noGrp="1"/>
          </p:cNvGraphicFramePr>
          <p:nvPr/>
        </p:nvGraphicFramePr>
        <p:xfrm>
          <a:off x="762000" y="1524000"/>
          <a:ext cx="10668000" cy="3340100"/>
        </p:xfrm>
        <a:graphic>
          <a:graphicData uri="http://schemas.openxmlformats.org/drawingml/2006/table">
            <a:tbl>
              <a:tblPr>
                <a:effectLst/>
              </a:tblPr>
              <a:tblGrid>
                <a:gridCol w="2032000"/>
                <a:gridCol w="1778000"/>
                <a:gridCol w="2286000"/>
                <a:gridCol w="2286000"/>
                <a:gridCol w="2286000"/>
              </a:tblGrid>
              <a:tr h="698500">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 (Model)</a:t>
                      </a:r>
                      <a:endParaRPr lang="en-US" sz="1100"/>
                    </a:p>
                  </a:txBody>
                  <a:tcPr marL="101600" marR="101600" marT="101600" marB="101600" anchor="t" anchorCtr="0">
                    <a:lnL>
                      <a:noFill/>
                    </a:lnL>
                    <a:lnR>
                      <a:noFill/>
                    </a:lnR>
                    <a:lnT>
                      <a:noFill/>
                    </a:lnT>
                    <a:lnB>
                      <a:noFill/>
                    </a:lnB>
                    <a:solidFill>
                      <a:srgbClr val="2DD4BF">
                        <a:alpha val="100000"/>
                      </a:srgbClr>
                    </a:solidFill>
                  </a:tcPr>
                </a:tc>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特征选择策略</a:t>
                      </a:r>
                      <a:endParaRPr lang="en-US" sz="1100"/>
                    </a:p>
                  </a:txBody>
                  <a:tcPr marL="101600" marR="101600" marT="101600" marB="101600" anchor="t" anchorCtr="0">
                    <a:lnL>
                      <a:noFill/>
                    </a:lnL>
                    <a:lnR>
                      <a:noFill/>
                    </a:lnR>
                    <a:lnT>
                      <a:noFill/>
                    </a:lnT>
                    <a:lnB>
                      <a:noFill/>
                    </a:lnB>
                    <a:solidFill>
                      <a:srgbClr val="2DD4BF">
                        <a:alpha val="100000"/>
                      </a:srgbClr>
                    </a:solidFill>
                  </a:tcPr>
                </a:tc>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训练集准确率</a:t>
                      </a:r>
                      <a:endParaRPr lang="en-US" sz="1100"/>
                    </a:p>
                  </a:txBody>
                  <a:tcPr marL="101600" marR="101600" marT="101600" marB="101600" anchor="t" anchorCtr="0">
                    <a:lnL>
                      <a:noFill/>
                    </a:lnL>
                    <a:lnR>
                      <a:noFill/>
                    </a:lnR>
                    <a:lnT>
                      <a:noFill/>
                    </a:lnT>
                    <a:lnB>
                      <a:noFill/>
                    </a:lnB>
                    <a:solidFill>
                      <a:srgbClr val="2DD4BF">
                        <a:alpha val="100000"/>
                      </a:srgbClr>
                    </a:solidFill>
                  </a:tcPr>
                </a:tc>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测试集准确率</a:t>
                      </a:r>
                      <a:endParaRPr lang="en-US" sz="1100"/>
                    </a:p>
                  </a:txBody>
                  <a:tcPr marL="101600" marR="101600" marT="101600" marB="101600" anchor="t" anchorCtr="0">
                    <a:lnL>
                      <a:noFill/>
                    </a:lnL>
                    <a:lnR>
                      <a:noFill/>
                    </a:lnR>
                    <a:lnT>
                      <a:noFill/>
                    </a:lnT>
                    <a:lnB>
                      <a:noFill/>
                    </a:lnB>
                    <a:solidFill>
                      <a:srgbClr val="2DD4BF">
                        <a:alpha val="100000"/>
                      </a:srgbClr>
                    </a:solidFill>
                  </a:tcPr>
                </a:tc>
                <a:tc>
                  <a:txBody>
                    <a:bodyPr rtlCol="0"/>
                    <a:lstStyle/>
                    <a:p>
                      <a:pPr marL="0" indent="0" algn="ctr">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综合评价</a:t>
                      </a:r>
                      <a:endParaRPr lang="en-US" sz="1100"/>
                    </a:p>
                  </a:txBody>
                  <a:tcPr marL="101600" marR="101600" marT="101600" marB="101600" anchor="t" anchorCtr="0">
                    <a:lnL>
                      <a:noFill/>
                    </a:lnL>
                    <a:lnR>
                      <a:noFill/>
                    </a:lnR>
                    <a:lnT>
                      <a:noFill/>
                    </a:lnT>
                    <a:lnB>
                      <a:noFill/>
                    </a:lnB>
                    <a:solidFill>
                      <a:srgbClr val="2DD4BF">
                        <a:alpha val="100000"/>
                      </a:srgbClr>
                    </a:solidFill>
                  </a:tcPr>
                </a:tc>
              </a:tr>
              <a:tr h="6604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 (DT)</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使用全部特征</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80.0%</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75.0%</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训练准确率高，存在明显过拟合</a:t>
                      </a:r>
                      <a:endParaRPr lang="en-US" sz="1100"/>
                    </a:p>
                  </a:txBody>
                  <a:tcPr marL="101600" marR="101600" marT="101600" marB="101600" anchor="t" anchorCtr="0">
                    <a:lnL>
                      <a:noFill/>
                    </a:lnL>
                    <a:lnR>
                      <a:noFill/>
                    </a:lnR>
                    <a:lnT>
                      <a:noFill/>
                    </a:lnT>
                    <a:lnB w="12700" cap="flat" cmpd="sng" algn="ctr">
                      <a:solidFill>
                        <a:srgbClr val="E5E7EB"/>
                      </a:solidFill>
                      <a:prstDash val="solid"/>
                      <a:round/>
                      <a:headEnd type="none" w="med" len="med"/>
                      <a:tailEnd type="none" w="med" len="med"/>
                    </a:lnB>
                    <a:solidFill>
                      <a:srgbClr val="FFFFFF">
                        <a:alpha val="100000"/>
                      </a:srgbClr>
                    </a:solidFill>
                  </a:tcPr>
                </a:tc>
              </a:tr>
              <a:tr h="6604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决策树 (DT)</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使用3</a:t>
                      </a:r>
                      <a:r>
                        <a:rPr lang="zh-CN" alt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个</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关键特征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79.0%</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76.6%</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泛化能力小幅提升，特征降维有效</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r>
              <a:tr h="660400">
                <a:tc>
                  <a:txBody>
                    <a:bodyPr rtlCol="0"/>
                    <a:lstStyle/>
                    <a:p>
                      <a:pPr marL="0" indent="0" algn="ctr">
                        <a:lnSpc>
                          <a:spcPct val="100000"/>
                        </a:lnSpc>
                        <a:defRPr/>
                      </a:pPr>
                      <a:r>
                        <a:rPr lang="en-US" sz="14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MLP 神经网络</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使用全部特征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71.66%</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74.68%</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c>
                  <a:txBody>
                    <a:bodyPr rtlCol="0"/>
                    <a:lstStyle/>
                    <a:p>
                      <a:pPr marL="0" indent="0" algn="ctr">
                        <a:lnSpc>
                          <a:spcPct val="100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收敛过程稳定，但整体性能表现中等</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FFFFF">
                        <a:alpha val="100000"/>
                      </a:srgbClr>
                    </a:solidFill>
                  </a:tcPr>
                </a:tc>
              </a:tr>
              <a:tr h="660400">
                <a:tc>
                  <a:txBody>
                    <a:bodyPr rtlCol="0"/>
                    <a:lstStyle/>
                    <a:p>
                      <a:pPr marL="0" indent="0" algn="ctr">
                        <a:lnSpc>
                          <a:spcPct val="100000"/>
                        </a:lnSpc>
                        <a:defRPr/>
                      </a:pPr>
                      <a:r>
                        <a:rPr lang="en-US" sz="14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支持向量机 (SVM)</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使用全部特征</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(未测)</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5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80.5% (最高)</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3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性能最佳，具备极强的泛化能力</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r>
            </a:tbl>
          </a:graphicData>
        </a:graphic>
      </p:graphicFrame>
      <p:sp>
        <p:nvSpPr>
          <p:cNvPr id="5" name="AutoShape 5"/>
          <p:cNvSpPr/>
          <p:nvPr/>
        </p:nvSpPr>
        <p:spPr>
          <a:xfrm>
            <a:off x="762000" y="5016500"/>
            <a:ext cx="10668000" cy="1397000"/>
          </a:xfrm>
          <a:prstGeom prst="roundRect">
            <a:avLst>
              <a:gd name="adj" fmla="val 9090"/>
            </a:avLst>
          </a:prstGeom>
          <a:solidFill>
            <a:srgbClr val="FFFFFF">
              <a:alpha val="95000"/>
            </a:srgbClr>
          </a:solidFill>
          <a:ln w="25400" cap="flat" cmpd="sng">
            <a:solidFill>
              <a:srgbClr val="2DD4BF">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500" y="5334000"/>
            <a:ext cx="762000" cy="762000"/>
          </a:xfrm>
          <a:prstGeom prst="rect">
            <a:avLst/>
          </a:prstGeom>
        </p:spPr>
      </p:pic>
      <p:sp>
        <p:nvSpPr>
          <p:cNvPr id="7" name="AutoShape 7"/>
          <p:cNvSpPr/>
          <p:nvPr/>
        </p:nvSpPr>
        <p:spPr>
          <a:xfrm>
            <a:off x="2095500" y="5207000"/>
            <a:ext cx="914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实验结论：</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在本次对比实验中，</a:t>
            </a:r>
            <a:r>
              <a:rPr lang="en-US" sz="1600" b="1" i="0" u="none" strike="noStrike">
                <a:solidFill>
                  <a:srgbClr val="0D9488"/>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支持向量机 (SVM)</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表现出最强的预测能力和泛化性能，其测试集准确率高达</a:t>
            </a:r>
            <a:r>
              <a:rPr lang="en-US" sz="1600" b="1" i="0" u="none" strike="noStrike">
                <a:solidFill>
                  <a:srgbClr val="EA580C"/>
                </a:solidFill>
                <a:latin typeface="Noto Sans SC" panose="020B0200000000000000" charset="-122"/>
                <a:ea typeface="Noto Sans SC" panose="020B0200000000000000" charset="-122"/>
                <a:cs typeface="Noto Sans SC" panose="020B0200000000000000" charset="-122"/>
                <a:sym typeface="Noto Sans SC" panose="020B0200000000000000" charset="-122"/>
              </a:rPr>
              <a:t>80.5%</a:t>
            </a:r>
            <a:r>
              <a:rPr lang="en-US" sz="15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，显著优于决策树和MLP神经网络，是解决该分类问题的最佳模型选择。</a:t>
            </a:r>
            <a:endParaRPr lang="en-US" sz="1100"/>
          </a:p>
        </p:txBody>
      </p:sp>
      <p:sp>
        <p:nvSpPr>
          <p:cNvPr id="8" name="AutoShape 7"/>
          <p:cNvSpPr/>
          <p:nvPr/>
        </p:nvSpPr>
        <p:spPr>
          <a:xfrm>
            <a:off x="3713480" y="2139315"/>
            <a:ext cx="4765040" cy="2522220"/>
          </a:xfrm>
          <a:prstGeom prst="roundRect">
            <a:avLst/>
          </a:prstGeom>
          <a:solidFill>
            <a:schemeClr val="bg1"/>
          </a:solidFill>
          <a:ln w="12700" cap="flat" cmpd="sng">
            <a:solidFill>
              <a:srgbClr val="2DD4BF"/>
            </a:solidFill>
            <a:prstDash val="solid"/>
            <a:round/>
          </a:ln>
        </p:spPr>
        <p:txBody>
          <a:bodyPr vert="horz" wrap="square" lIns="0" tIns="0" rIns="0" bIns="0" rtlCol="0" anchor="ctr" anchorCtr="0"/>
          <a:lstStyle/>
          <a:p>
            <a:pPr marL="0" indent="0" algn="l">
              <a:lnSpc>
                <a:spcPct val="108000"/>
              </a:lnSpc>
              <a:defRPr/>
            </a:pPr>
            <a:r>
              <a:rPr lang="en-US" sz="1500" b="1">
                <a:solidFill>
                  <a:srgbClr val="374151"/>
                </a:solidFill>
                <a:latin typeface="Noto Sans SC" panose="020B0200000000000000" charset="-122"/>
                <a:ea typeface="Noto Sans SC" panose="020B0200000000000000" charset="-122"/>
                <a:cs typeface="Noto Sans SC" panose="020B0200000000000000" charset="-122"/>
              </a:rPr>
              <a:t>决策树</a:t>
            </a:r>
            <a:r>
              <a:rPr lang="zh-CN" altLang="en-US" sz="1500" b="1">
                <a:solidFill>
                  <a:srgbClr val="374151"/>
                </a:solidFill>
                <a:latin typeface="Noto Sans SC" panose="020B0200000000000000" charset="-122"/>
                <a:ea typeface="Noto Sans SC" panose="020B0200000000000000" charset="-122"/>
                <a:cs typeface="Noto Sans SC" panose="020B0200000000000000" charset="-122"/>
              </a:rPr>
              <a:t>：</a:t>
            </a:r>
            <a:r>
              <a:rPr lang="en-US" sz="1500">
                <a:solidFill>
                  <a:srgbClr val="374151"/>
                </a:solidFill>
                <a:latin typeface="Noto Sans SC" panose="020B0200000000000000" charset="-122"/>
                <a:ea typeface="Noto Sans SC" panose="020B0200000000000000" charset="-122"/>
                <a:cs typeface="Noto Sans SC" panose="020B0200000000000000" charset="-122"/>
              </a:rPr>
              <a:t>可解释性较强</a:t>
            </a:r>
            <a:endParaRPr lang="en-US" sz="1500">
              <a:solidFill>
                <a:srgbClr val="374151"/>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defRPr/>
            </a:pPr>
            <a:r>
              <a:rPr lang="en-US" sz="1500">
                <a:solidFill>
                  <a:srgbClr val="374151"/>
                </a:solidFill>
                <a:latin typeface="Noto Sans SC" panose="020B0200000000000000" charset="-122"/>
                <a:ea typeface="Noto Sans SC" panose="020B0200000000000000" charset="-122"/>
                <a:cs typeface="Noto Sans SC" panose="020B0200000000000000" charset="-122"/>
              </a:rPr>
              <a:t>但存在一定过拟合现象。</a:t>
            </a:r>
            <a:endParaRPr lang="en-US" sz="1500">
              <a:solidFill>
                <a:srgbClr val="374151"/>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defRPr/>
            </a:pPr>
            <a:endParaRPr lang="en-US" sz="1500">
              <a:solidFill>
                <a:srgbClr val="374151"/>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defRPr/>
            </a:pPr>
            <a:r>
              <a:rPr lang="en-US" sz="1500" b="1">
                <a:solidFill>
                  <a:srgbClr val="374151"/>
                </a:solidFill>
                <a:latin typeface="Noto Sans SC" panose="020B0200000000000000" charset="-122"/>
                <a:ea typeface="Noto Sans SC" panose="020B0200000000000000" charset="-122"/>
                <a:cs typeface="Noto Sans SC" panose="020B0200000000000000" charset="-122"/>
              </a:rPr>
              <a:t>MLP</a:t>
            </a:r>
            <a:r>
              <a:rPr lang="zh-CN" altLang="en-US" sz="1500" b="1">
                <a:solidFill>
                  <a:srgbClr val="374151"/>
                </a:solidFill>
                <a:latin typeface="Noto Sans SC" panose="020B0200000000000000" charset="-122"/>
                <a:ea typeface="Noto Sans SC" panose="020B0200000000000000" charset="-122"/>
                <a:cs typeface="Noto Sans SC" panose="020B0200000000000000" charset="-122"/>
              </a:rPr>
              <a:t>：</a:t>
            </a:r>
            <a:r>
              <a:rPr lang="en-US" sz="1500">
                <a:solidFill>
                  <a:srgbClr val="374151"/>
                </a:solidFill>
                <a:latin typeface="Noto Sans SC" panose="020B0200000000000000" charset="-122"/>
                <a:ea typeface="Noto Sans SC" panose="020B0200000000000000" charset="-122"/>
                <a:cs typeface="Noto Sans SC" panose="020B0200000000000000" charset="-122"/>
              </a:rPr>
              <a:t> 对样本规模较敏感</a:t>
            </a:r>
            <a:endParaRPr lang="en-US" sz="1500">
              <a:solidFill>
                <a:srgbClr val="374151"/>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defRPr/>
            </a:pPr>
            <a:r>
              <a:rPr lang="en-US" sz="1500">
                <a:solidFill>
                  <a:srgbClr val="374151"/>
                </a:solidFill>
                <a:latin typeface="Noto Sans SC" panose="020B0200000000000000" charset="-122"/>
                <a:ea typeface="Noto Sans SC" panose="020B0200000000000000" charset="-122"/>
                <a:cs typeface="Noto Sans SC" panose="020B0200000000000000" charset="-122"/>
              </a:rPr>
              <a:t>在当前数据规模下未能充分发挥深度学习优势。</a:t>
            </a:r>
            <a:endParaRPr lang="en-US" sz="1500">
              <a:solidFill>
                <a:srgbClr val="374151"/>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defRPr/>
            </a:pPr>
            <a:endParaRPr lang="en-US" sz="1500">
              <a:solidFill>
                <a:srgbClr val="374151"/>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defRPr/>
            </a:pPr>
            <a:r>
              <a:rPr lang="en-US" sz="1500" b="1">
                <a:solidFill>
                  <a:srgbClr val="374151"/>
                </a:solidFill>
                <a:latin typeface="Noto Sans SC" panose="020B0200000000000000" charset="-122"/>
                <a:ea typeface="Noto Sans SC" panose="020B0200000000000000" charset="-122"/>
                <a:cs typeface="Noto Sans SC" panose="020B0200000000000000" charset="-122"/>
              </a:rPr>
              <a:t>糖尿病</a:t>
            </a:r>
            <a:r>
              <a:rPr lang="en-US" sz="1500">
                <a:solidFill>
                  <a:srgbClr val="374151"/>
                </a:solidFill>
                <a:latin typeface="Noto Sans SC" panose="020B0200000000000000" charset="-122"/>
                <a:ea typeface="Noto Sans SC" panose="020B0200000000000000" charset="-122"/>
                <a:cs typeface="Noto Sans SC" panose="020B0200000000000000" charset="-122"/>
              </a:rPr>
              <a:t>属于典型</a:t>
            </a:r>
            <a:r>
              <a:rPr lang="en-US" sz="1500" b="1">
                <a:solidFill>
                  <a:srgbClr val="374151"/>
                </a:solidFill>
                <a:latin typeface="Noto Sans SC" panose="020B0200000000000000" charset="-122"/>
                <a:ea typeface="Noto Sans SC" panose="020B0200000000000000" charset="-122"/>
                <a:cs typeface="Noto Sans SC" panose="020B0200000000000000" charset="-122"/>
              </a:rPr>
              <a:t>非线性</a:t>
            </a:r>
            <a:r>
              <a:rPr lang="en-US" sz="1500">
                <a:solidFill>
                  <a:srgbClr val="374151"/>
                </a:solidFill>
                <a:latin typeface="Noto Sans SC" panose="020B0200000000000000" charset="-122"/>
                <a:ea typeface="Noto Sans SC" panose="020B0200000000000000" charset="-122"/>
                <a:cs typeface="Noto Sans SC" panose="020B0200000000000000" charset="-122"/>
              </a:rPr>
              <a:t>分类问题</a:t>
            </a:r>
            <a:endParaRPr lang="en-US" sz="1500">
              <a:solidFill>
                <a:srgbClr val="374151"/>
              </a:solidFill>
              <a:latin typeface="Noto Sans SC" panose="020B0200000000000000" charset="-122"/>
              <a:ea typeface="Noto Sans SC" panose="020B0200000000000000" charset="-122"/>
              <a:cs typeface="Noto Sans SC" panose="020B0200000000000000" charset="-122"/>
            </a:endParaRPr>
          </a:p>
          <a:p>
            <a:pPr marL="0" indent="0" algn="l">
              <a:lnSpc>
                <a:spcPct val="108000"/>
              </a:lnSpc>
              <a:defRPr/>
            </a:pPr>
            <a:r>
              <a:rPr lang="en-US" sz="1500">
                <a:solidFill>
                  <a:srgbClr val="374151"/>
                </a:solidFill>
                <a:latin typeface="Noto Sans SC" panose="020B0200000000000000" charset="-122"/>
                <a:ea typeface="Noto Sans SC" panose="020B0200000000000000" charset="-122"/>
                <a:cs typeface="Noto Sans SC" panose="020B0200000000000000" charset="-122"/>
              </a:rPr>
              <a:t>需要结合多个医学特征进行综合预测。</a:t>
            </a:r>
            <a:endParaRPr lang="en-US" sz="1500">
              <a:solidFill>
                <a:srgbClr val="374151"/>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4" name="type.wav"/>
          </p:stSnd>
        </p:sndAc>
      </p:transition>
    </mc:Choice>
    <mc:Fallback>
      <p:transition spd="slow">
        <p:random/>
        <p:sndAc>
          <p:stSnd>
            <p:snd r:embed="rId4" name="type.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8" grpId="1"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糖尿病关键风险因素分析</a:t>
            </a:r>
            <a:endPar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图片 8" descr="9b515f31bf0eb7e214b10d54ade4f24d"/>
          <p:cNvPicPr>
            <a:picLocks noChangeAspect="1"/>
          </p:cNvPicPr>
          <p:nvPr/>
        </p:nvPicPr>
        <p:blipFill>
          <a:blip r:embed="rId2"/>
          <a:stretch>
            <a:fillRect/>
          </a:stretch>
        </p:blipFill>
        <p:spPr>
          <a:xfrm>
            <a:off x="305435" y="1845945"/>
            <a:ext cx="5531485" cy="3567430"/>
          </a:xfrm>
          <a:prstGeom prst="rect">
            <a:avLst/>
          </a:prstGeom>
        </p:spPr>
      </p:pic>
      <p:sp>
        <p:nvSpPr>
          <p:cNvPr id="10" name="AutoShape 7"/>
          <p:cNvSpPr/>
          <p:nvPr/>
        </p:nvSpPr>
        <p:spPr>
          <a:xfrm>
            <a:off x="7127240" y="902335"/>
            <a:ext cx="3342640" cy="2037715"/>
          </a:xfrm>
          <a:prstGeom prst="roundRect">
            <a:avLst/>
          </a:prstGeom>
          <a:solidFill>
            <a:schemeClr val="bg1"/>
          </a:solidFill>
          <a:ln w="12700" cap="flat" cmpd="sng">
            <a:solidFill>
              <a:srgbClr val="2DD4BF"/>
            </a:solidFill>
            <a:prstDash val="solid"/>
            <a:round/>
          </a:ln>
        </p:spPr>
        <p:txBody>
          <a:bodyPr vert="horz" wrap="square" lIns="0" tIns="0" rIns="0" bIns="0" rtlCol="0" anchor="ctr" anchorCtr="0"/>
          <a:lstStyle/>
          <a:p>
            <a:pPr indent="0" algn="ctr" eaLnBrk="1" fontAlgn="auto" latinLnBrk="0" hangingPunct="1">
              <a:lnSpc>
                <a:spcPct val="108000"/>
              </a:lnSpc>
              <a:spcAft>
                <a:spcPts val="1200"/>
              </a:spcAft>
              <a:defRPr/>
            </a:pPr>
            <a:r>
              <a:rPr lang="en-US" sz="2400" b="1">
                <a:solidFill>
                  <a:srgbClr val="374151"/>
                </a:solidFill>
                <a:latin typeface="Noto Sans SC" panose="020B0200000000000000" charset="-122"/>
                <a:ea typeface="Noto Sans SC" panose="020B0200000000000000" charset="-122"/>
                <a:cs typeface="Noto Sans SC" panose="020B0200000000000000" charset="-122"/>
              </a:rPr>
              <a:t>研究发现</a:t>
            </a:r>
            <a:endParaRPr lang="en-US" altLang="zh-CN" sz="2400">
              <a:solidFill>
                <a:srgbClr val="374151"/>
              </a:solidFill>
              <a:latin typeface="Noto Sans SC" panose="020B0200000000000000" charset="-122"/>
              <a:ea typeface="Noto Sans SC" panose="020B0200000000000000" charset="-122"/>
              <a:cs typeface="Noto Sans SC" panose="020B0200000000000000" charset="-122"/>
            </a:endParaRPr>
          </a:p>
          <a:p>
            <a:pPr marL="0" algn="ctr">
              <a:lnSpc>
                <a:spcPct val="108000"/>
              </a:lnSpc>
              <a:buSzTx/>
              <a:defRPr/>
            </a:pPr>
            <a:r>
              <a:rPr lang="en-US" sz="1500">
                <a:solidFill>
                  <a:srgbClr val="374151"/>
                </a:solidFill>
                <a:latin typeface="Noto Sans SC" panose="020B0200000000000000" charset="-122"/>
                <a:ea typeface="Noto Sans SC" panose="020B0200000000000000" charset="-122"/>
                <a:cs typeface="Noto Sans SC" panose="020B0200000000000000" charset="-122"/>
              </a:rPr>
              <a:t>模型结果表明：</a:t>
            </a:r>
            <a:endParaRPr lang="en-US" altLang="zh-CN" sz="1500" b="1">
              <a:solidFill>
                <a:srgbClr val="374151"/>
              </a:solidFill>
              <a:latin typeface="Noto Sans SC" panose="020B0200000000000000" charset="-122"/>
              <a:ea typeface="Noto Sans SC" panose="020B0200000000000000" charset="-122"/>
              <a:cs typeface="Noto Sans SC" panose="020B0200000000000000" charset="-122"/>
            </a:endParaRPr>
          </a:p>
          <a:p>
            <a:pPr marL="0" indent="0" algn="ctr">
              <a:lnSpc>
                <a:spcPct val="108000"/>
              </a:lnSpc>
              <a:defRPr/>
            </a:pPr>
            <a:r>
              <a:rPr lang="en-US" altLang="zh-CN" sz="1500" b="1">
                <a:solidFill>
                  <a:srgbClr val="374151"/>
                </a:solidFill>
                <a:latin typeface="Noto Sans SC" panose="020B0200000000000000" charset="-122"/>
                <a:ea typeface="Noto Sans SC" panose="020B0200000000000000" charset="-122"/>
                <a:cs typeface="Noto Sans SC" panose="020B0200000000000000" charset="-122"/>
              </a:rPr>
              <a:t>Glucose</a:t>
            </a:r>
            <a:endParaRPr lang="en-US" altLang="zh-CN" sz="1500" b="1">
              <a:solidFill>
                <a:srgbClr val="374151"/>
              </a:solidFill>
              <a:latin typeface="Noto Sans SC" panose="020B0200000000000000" charset="-122"/>
              <a:ea typeface="Noto Sans SC" panose="020B0200000000000000" charset="-122"/>
              <a:cs typeface="Noto Sans SC" panose="020B0200000000000000" charset="-122"/>
            </a:endParaRPr>
          </a:p>
          <a:p>
            <a:pPr marL="0" indent="0" algn="ctr">
              <a:lnSpc>
                <a:spcPct val="108000"/>
              </a:lnSpc>
              <a:defRPr/>
            </a:pPr>
            <a:r>
              <a:rPr lang="en-US" altLang="zh-CN" sz="1500" b="1">
                <a:solidFill>
                  <a:srgbClr val="374151"/>
                </a:solidFill>
                <a:latin typeface="Noto Sans SC" panose="020B0200000000000000" charset="-122"/>
                <a:ea typeface="Noto Sans SC" panose="020B0200000000000000" charset="-122"/>
                <a:cs typeface="Noto Sans SC" panose="020B0200000000000000" charset="-122"/>
              </a:rPr>
              <a:t>BMI</a:t>
            </a:r>
            <a:endParaRPr lang="en-US" altLang="zh-CN" sz="1500" b="1">
              <a:solidFill>
                <a:srgbClr val="374151"/>
              </a:solidFill>
              <a:latin typeface="Noto Sans SC" panose="020B0200000000000000" charset="-122"/>
              <a:ea typeface="Noto Sans SC" panose="020B0200000000000000" charset="-122"/>
              <a:cs typeface="Noto Sans SC" panose="020B0200000000000000" charset="-122"/>
            </a:endParaRPr>
          </a:p>
          <a:p>
            <a:pPr marL="0" indent="0" algn="ctr">
              <a:lnSpc>
                <a:spcPct val="108000"/>
              </a:lnSpc>
              <a:defRPr/>
            </a:pPr>
            <a:r>
              <a:rPr lang="en-US" altLang="zh-CN" sz="1500" b="1">
                <a:solidFill>
                  <a:srgbClr val="374151"/>
                </a:solidFill>
                <a:latin typeface="Noto Sans SC" panose="020B0200000000000000" charset="-122"/>
                <a:ea typeface="Noto Sans SC" panose="020B0200000000000000" charset="-122"/>
                <a:cs typeface="Noto Sans SC" panose="020B0200000000000000" charset="-122"/>
              </a:rPr>
              <a:t>Age</a:t>
            </a:r>
            <a:endParaRPr lang="en-US" altLang="zh-CN" sz="1500" b="1">
              <a:solidFill>
                <a:srgbClr val="374151"/>
              </a:solidFill>
              <a:latin typeface="Noto Sans SC" panose="020B0200000000000000" charset="-122"/>
              <a:ea typeface="Noto Sans SC" panose="020B0200000000000000" charset="-122"/>
              <a:cs typeface="Noto Sans SC" panose="020B0200000000000000" charset="-122"/>
            </a:endParaRPr>
          </a:p>
          <a:p>
            <a:pPr marL="0" indent="0" algn="ctr">
              <a:lnSpc>
                <a:spcPct val="108000"/>
              </a:lnSpc>
              <a:defRPr/>
            </a:pPr>
            <a:r>
              <a:rPr lang="zh-CN" altLang="en-US" sz="1500">
                <a:solidFill>
                  <a:srgbClr val="374151"/>
                </a:solidFill>
                <a:latin typeface="Noto Sans SC" panose="020B0200000000000000" charset="-122"/>
                <a:ea typeface="Noto Sans SC" panose="020B0200000000000000" charset="-122"/>
                <a:cs typeface="Noto Sans SC" panose="020B0200000000000000" charset="-122"/>
              </a:rPr>
              <a:t>是影响糖尿病预测的关键指标。</a:t>
            </a:r>
            <a:endParaRPr lang="zh-CN" altLang="en-US" sz="1500">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11" name="AutoShape 8"/>
          <p:cNvSpPr/>
          <p:nvPr>
            <p:custDataLst>
              <p:tags r:id="rId3"/>
            </p:custDataLst>
          </p:nvPr>
        </p:nvSpPr>
        <p:spPr>
          <a:xfrm>
            <a:off x="5991225" y="3141980"/>
            <a:ext cx="5655310" cy="3536950"/>
          </a:xfrm>
          <a:prstGeom prst="roundRect">
            <a:avLst>
              <a:gd name="adj" fmla="val 7058"/>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1"/>
          <p:cNvSpPr/>
          <p:nvPr>
            <p:custDataLst>
              <p:tags r:id="rId4"/>
            </p:custDataLst>
          </p:nvPr>
        </p:nvSpPr>
        <p:spPr>
          <a:xfrm>
            <a:off x="6264910" y="4028440"/>
            <a:ext cx="5040630" cy="234251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a:solidFill>
                  <a:srgbClr val="4B5563"/>
                </a:solidFill>
                <a:latin typeface="Noto Sans SC" panose="020B0200000000000000" charset="-122"/>
                <a:ea typeface="Noto Sans SC" panose="020B0200000000000000" charset="-122"/>
                <a:cs typeface="Noto Sans SC" panose="020B0200000000000000" charset="-122"/>
              </a:rPr>
              <a:t>高</a:t>
            </a:r>
            <a:r>
              <a:rPr lang="en-US" sz="1400" b="1">
                <a:solidFill>
                  <a:srgbClr val="4B5563"/>
                </a:solidFill>
                <a:latin typeface="Noto Sans SC" panose="020B0200000000000000" charset="-122"/>
                <a:ea typeface="Noto Sans SC" panose="020B0200000000000000" charset="-122"/>
                <a:cs typeface="Noto Sans SC" panose="020B0200000000000000" charset="-122"/>
              </a:rPr>
              <a:t>血糖是核心风险特征</a:t>
            </a:r>
            <a:endParaRPr lang="en-US"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sz="1400">
                <a:solidFill>
                  <a:srgbClr val="4B5563"/>
                </a:solidFill>
                <a:latin typeface="Noto Sans SC" panose="020B0200000000000000" charset="-122"/>
                <a:ea typeface="Noto Sans SC" panose="020B0200000000000000" charset="-122"/>
                <a:cs typeface="Noto Sans SC" panose="020B0200000000000000" charset="-122"/>
              </a:rPr>
              <a:t>与临床医学结论一致。</a:t>
            </a:r>
            <a:endParaRPr lang="en-US"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endParaRPr lang="en-US"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sz="1400" b="1">
                <a:solidFill>
                  <a:srgbClr val="4B5563"/>
                </a:solidFill>
                <a:latin typeface="Noto Sans SC" panose="020B0200000000000000" charset="-122"/>
                <a:ea typeface="Noto Sans SC" panose="020B0200000000000000" charset="-122"/>
                <a:cs typeface="Noto Sans SC" panose="020B0200000000000000" charset="-122"/>
              </a:rPr>
              <a:t>肥胖显著增加患病风险</a:t>
            </a:r>
            <a:endParaRPr lang="en-US" sz="1400" b="1">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sz="1400">
                <a:solidFill>
                  <a:srgbClr val="4B5563"/>
                </a:solidFill>
                <a:latin typeface="Noto Sans SC" panose="020B0200000000000000" charset="-122"/>
                <a:ea typeface="Noto Sans SC" panose="020B0200000000000000" charset="-122"/>
                <a:cs typeface="Noto Sans SC" panose="020B0200000000000000" charset="-122"/>
              </a:rPr>
              <a:t>BMI 与胰岛素抵抗存在明显关联。</a:t>
            </a:r>
            <a:endParaRPr lang="en-US"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endParaRPr lang="en-US"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sz="1400" b="1">
                <a:solidFill>
                  <a:srgbClr val="4B5563"/>
                </a:solidFill>
                <a:latin typeface="Noto Sans SC" panose="020B0200000000000000" charset="-122"/>
                <a:ea typeface="Noto Sans SC" panose="020B0200000000000000" charset="-122"/>
                <a:cs typeface="Noto Sans SC" panose="020B0200000000000000" charset="-122"/>
              </a:rPr>
              <a:t>年龄增长提高患病概率</a:t>
            </a:r>
            <a:endParaRPr lang="en-US" sz="1400" b="1">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sz="1400">
                <a:solidFill>
                  <a:srgbClr val="4B5563"/>
                </a:solidFill>
                <a:latin typeface="Noto Sans SC" panose="020B0200000000000000" charset="-122"/>
                <a:ea typeface="Noto Sans SC" panose="020B0200000000000000" charset="-122"/>
                <a:cs typeface="Noto Sans SC" panose="020B0200000000000000" charset="-122"/>
              </a:rPr>
              <a:t>中青年及以上群体需加强筛查。</a:t>
            </a:r>
            <a:endParaRPr lang="en-US"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endParaRPr lang="en-US"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sz="1400" b="1">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应用价值</a:t>
            </a:r>
            <a:endParaRPr lang="en-US" sz="1400" b="1">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rPr>
              <a:t>机器学习能够基于常规体检数据实现糖尿病早期风险识别。</a:t>
            </a:r>
            <a:endParaRPr lang="en-US" sz="1400">
              <a:solidFill>
                <a:schemeClr val="tx1">
                  <a:lumMod val="65000"/>
                  <a:lumOff val="35000"/>
                </a:schemeClr>
              </a:solidFill>
              <a:effectLst>
                <a:outerShdw blurRad="38100" dist="38100" dir="2700000" algn="tl">
                  <a:srgbClr val="000000">
                    <a:alpha val="43137"/>
                  </a:srgbClr>
                </a:outerShdw>
              </a:effectLst>
              <a:latin typeface="Noto Sans SC" panose="020B0200000000000000" charset="-122"/>
              <a:ea typeface="Noto Sans SC" panose="020B0200000000000000" charset="-122"/>
              <a:cs typeface="Noto Sans SC" panose="020B0200000000000000" charset="-122"/>
            </a:endParaRPr>
          </a:p>
        </p:txBody>
      </p:sp>
      <p:sp>
        <p:nvSpPr>
          <p:cNvPr id="13" name="AutoShape 10"/>
          <p:cNvSpPr/>
          <p:nvPr>
            <p:custDataLst>
              <p:tags r:id="rId5"/>
            </p:custDataLst>
          </p:nvPr>
        </p:nvSpPr>
        <p:spPr>
          <a:xfrm>
            <a:off x="6264910" y="3255645"/>
            <a:ext cx="368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医学意义</a:t>
            </a:r>
            <a:endParaRPr lang="en-US" sz="1100"/>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6" name="type.wav"/>
          </p:stSnd>
        </p:sndAc>
      </p:transition>
    </mc:Choice>
    <mc:Fallback>
      <p:transition spd="slow">
        <p:random/>
        <p:sndAc>
          <p:stSnd>
            <p:snd r:embed="rId6" name="type.wav"/>
          </p:stSnd>
        </p:sndAc>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模型局限性分析</a:t>
            </a:r>
            <a:endPar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8"/>
          <p:cNvSpPr/>
          <p:nvPr>
            <p:custDataLst>
              <p:tags r:id="rId2"/>
            </p:custDataLst>
          </p:nvPr>
        </p:nvSpPr>
        <p:spPr>
          <a:xfrm>
            <a:off x="761365" y="1410335"/>
            <a:ext cx="10885170" cy="4960620"/>
          </a:xfrm>
          <a:prstGeom prst="roundRect">
            <a:avLst>
              <a:gd name="adj" fmla="val 7058"/>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1"/>
          <p:cNvSpPr/>
          <p:nvPr>
            <p:custDataLst>
              <p:tags r:id="rId3"/>
            </p:custDataLst>
          </p:nvPr>
        </p:nvSpPr>
        <p:spPr>
          <a:xfrm>
            <a:off x="1447800" y="2515235"/>
            <a:ext cx="4686935" cy="57975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a:solidFill>
                  <a:srgbClr val="4B5563"/>
                </a:solidFill>
                <a:latin typeface="Noto Sans SC" panose="020B0200000000000000" charset="-122"/>
                <a:ea typeface="Noto Sans SC" panose="020B0200000000000000" charset="-122"/>
                <a:cs typeface="Noto Sans SC" panose="020B0200000000000000" charset="-122"/>
              </a:rPr>
              <a:t>本研究仅包含768条样本数据，可能影响模型泛化能力。</a:t>
            </a:r>
            <a:endParaRPr 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3" name="AutoShape 10"/>
          <p:cNvSpPr/>
          <p:nvPr>
            <p:custDataLst>
              <p:tags r:id="rId4"/>
            </p:custDataLst>
          </p:nvPr>
        </p:nvSpPr>
        <p:spPr>
          <a:xfrm>
            <a:off x="1447800" y="1966595"/>
            <a:ext cx="368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数据规模有限</a:t>
            </a:r>
            <a:endParaRPr lang="en-US" sz="1100"/>
          </a:p>
        </p:txBody>
      </p:sp>
      <p:sp>
        <p:nvSpPr>
          <p:cNvPr id="4" name="AutoShape 10"/>
          <p:cNvSpPr/>
          <p:nvPr>
            <p:custDataLst>
              <p:tags r:id="rId5"/>
            </p:custDataLst>
          </p:nvPr>
        </p:nvSpPr>
        <p:spPr>
          <a:xfrm>
            <a:off x="1447800" y="3825875"/>
            <a:ext cx="368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数据缺失问题</a:t>
            </a:r>
            <a:endParaRPr lang="en-US" sz="1100"/>
          </a:p>
        </p:txBody>
      </p:sp>
      <p:sp>
        <p:nvSpPr>
          <p:cNvPr id="5" name="AutoShape 11"/>
          <p:cNvSpPr/>
          <p:nvPr>
            <p:custDataLst>
              <p:tags r:id="rId6"/>
            </p:custDataLst>
          </p:nvPr>
        </p:nvSpPr>
        <p:spPr>
          <a:xfrm>
            <a:off x="1447800" y="4283075"/>
            <a:ext cx="4686935" cy="170307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部分特征存在较多缺失值，例如：</a:t>
            </a:r>
            <a:endParaRPr lang="en-US" altLang="zh-CN"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altLang="zh-CN" sz="1400" b="1">
                <a:solidFill>
                  <a:srgbClr val="4B5563"/>
                </a:solidFill>
                <a:latin typeface="Noto Sans SC" panose="020B0200000000000000" charset="-122"/>
                <a:ea typeface="Noto Sans SC" panose="020B0200000000000000" charset="-122"/>
                <a:cs typeface="Noto Sans SC" panose="020B0200000000000000" charset="-122"/>
              </a:rPr>
              <a:t>Insulin</a:t>
            </a:r>
            <a:endParaRPr lang="en-US" altLang="zh-CN" sz="1400" b="1">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altLang="zh-CN" sz="1400" b="1">
                <a:solidFill>
                  <a:srgbClr val="4B5563"/>
                </a:solidFill>
                <a:latin typeface="Noto Sans SC" panose="020B0200000000000000" charset="-122"/>
                <a:ea typeface="Noto Sans SC" panose="020B0200000000000000" charset="-122"/>
                <a:cs typeface="Noto Sans SC" panose="020B0200000000000000" charset="-122"/>
              </a:rPr>
              <a:t>SkinThickness</a:t>
            </a:r>
            <a:endParaRPr lang="en-US" altLang="zh-CN" sz="1400" b="1">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endParaRPr lang="en-US" altLang="zh-CN" sz="14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可能影响模型稳定性。</a:t>
            </a:r>
            <a:endParaRPr 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6" name="AutoShape 10"/>
          <p:cNvSpPr/>
          <p:nvPr>
            <p:custDataLst>
              <p:tags r:id="rId7"/>
            </p:custDataLst>
          </p:nvPr>
        </p:nvSpPr>
        <p:spPr>
          <a:xfrm>
            <a:off x="6783070" y="3825875"/>
            <a:ext cx="368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模型仍存在误诊与漏诊</a:t>
            </a:r>
            <a:endParaRPr lang="en-US" sz="1100"/>
          </a:p>
        </p:txBody>
      </p:sp>
      <p:sp>
        <p:nvSpPr>
          <p:cNvPr id="7" name="AutoShape 10"/>
          <p:cNvSpPr/>
          <p:nvPr>
            <p:custDataLst>
              <p:tags r:id="rId8"/>
            </p:custDataLst>
          </p:nvPr>
        </p:nvSpPr>
        <p:spPr>
          <a:xfrm>
            <a:off x="6783070" y="1966595"/>
            <a:ext cx="3683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20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特征维度较少</a:t>
            </a:r>
            <a:endParaRPr lang="en-US" sz="1100"/>
          </a:p>
        </p:txBody>
      </p:sp>
      <p:sp>
        <p:nvSpPr>
          <p:cNvPr id="8" name="AutoShape 11"/>
          <p:cNvSpPr/>
          <p:nvPr>
            <p:custDataLst>
              <p:tags r:id="rId9"/>
            </p:custDataLst>
          </p:nvPr>
        </p:nvSpPr>
        <p:spPr>
          <a:xfrm>
            <a:off x="6743065" y="2515235"/>
            <a:ext cx="4686935" cy="579755"/>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当前仅使用常规体检指标，缺少行为与生活方式数据。</a:t>
            </a:r>
            <a:endParaRPr lang="en-US" sz="1400">
              <a:solidFill>
                <a:srgbClr val="4B5563"/>
              </a:solidFill>
              <a:latin typeface="Noto Sans SC" panose="020B0200000000000000" charset="-122"/>
              <a:ea typeface="Noto Sans SC" panose="020B0200000000000000" charset="-122"/>
              <a:cs typeface="Noto Sans SC" panose="020B0200000000000000" charset="-122"/>
            </a:endParaRPr>
          </a:p>
        </p:txBody>
      </p:sp>
      <p:sp>
        <p:nvSpPr>
          <p:cNvPr id="14" name="AutoShape 11"/>
          <p:cNvSpPr/>
          <p:nvPr>
            <p:custDataLst>
              <p:tags r:id="rId10"/>
            </p:custDataLst>
          </p:nvPr>
        </p:nvSpPr>
        <p:spPr>
          <a:xfrm>
            <a:off x="6783070" y="4283075"/>
            <a:ext cx="4686935" cy="65151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400">
                <a:solidFill>
                  <a:srgbClr val="4B5563"/>
                </a:solidFill>
                <a:latin typeface="Noto Sans SC" panose="020B0200000000000000" charset="-122"/>
                <a:ea typeface="Noto Sans SC" panose="020B0200000000000000" charset="-122"/>
                <a:cs typeface="Noto Sans SC" panose="020B0200000000000000" charset="-122"/>
              </a:rPr>
              <a:t>特别是在样本边界重叠区域。</a:t>
            </a:r>
            <a:endParaRPr lang="zh-CN" altLang="en-US" sz="1400">
              <a:solidFill>
                <a:srgbClr val="4B556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11" name="type.wav"/>
          </p:stSnd>
        </p:sndAc>
      </p:transition>
    </mc:Choice>
    <mc:Fallback>
      <p:transition spd="slow">
        <p:random/>
        <p:sndAc>
          <p:stSnd>
            <p:snd r:embed="rId11" name="type.wav"/>
          </p:stSnd>
        </p:sndAc>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1651000"/>
            <a:ext cx="12192000" cy="190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06</a:t>
            </a:r>
            <a:endParaRPr lang="en-US" sz="1100"/>
          </a:p>
        </p:txBody>
      </p:sp>
      <p:sp>
        <p:nvSpPr>
          <p:cNvPr id="3" name="AutoShape 3"/>
          <p:cNvSpPr/>
          <p:nvPr/>
        </p:nvSpPr>
        <p:spPr>
          <a:xfrm>
            <a:off x="0" y="38100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0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模型部署与结论</a:t>
            </a:r>
            <a:endParaRPr lang="en-US" sz="1100"/>
          </a:p>
        </p:txBody>
      </p:sp>
      <p:sp>
        <p:nvSpPr>
          <p:cNvPr id="4" name="AutoShape 4"/>
          <p:cNvSpPr/>
          <p:nvPr/>
        </p:nvSpPr>
        <p:spPr>
          <a:xfrm>
            <a:off x="0" y="5080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spc="20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MODEL DEPLOYMENT AND CONCLUSIONS</a:t>
            </a:r>
            <a:endParaRPr lang="en-US" sz="1100"/>
          </a:p>
        </p:txBody>
      </p:sp>
      <p:sp>
        <p:nvSpPr>
          <p:cNvPr id="5" name="AutoShape 5"/>
          <p:cNvSpPr/>
          <p:nvPr/>
        </p:nvSpPr>
        <p:spPr>
          <a:xfrm>
            <a:off x="5715000" y="5969000"/>
            <a:ext cx="762000" cy="50800"/>
          </a:xfrm>
          <a:prstGeom prst="roundRect">
            <a:avLst>
              <a:gd name="adj" fmla="val 0"/>
            </a:avLst>
          </a:prstGeom>
          <a:solidFill>
            <a:srgbClr val="2DD4BF">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糖尿病风险预测系统部署</a:t>
            </a:r>
            <a:endParaRPr lang="en-US" sz="1100"/>
          </a:p>
        </p:txBody>
      </p:sp>
      <p:pic>
        <p:nvPicPr>
          <p:cNvPr id="24" name="E657119C-6982-421D-8BA7-E74DEB70A7D9-1" descr="wpp"/>
          <p:cNvPicPr>
            <a:picLocks noChangeAspect="1"/>
          </p:cNvPicPr>
          <p:nvPr/>
        </p:nvPicPr>
        <p:blipFill>
          <a:blip r:embed="rId2"/>
          <a:stretch>
            <a:fillRect/>
          </a:stretch>
        </p:blipFill>
        <p:spPr>
          <a:xfrm>
            <a:off x="1393825" y="1298575"/>
            <a:ext cx="2165985" cy="4827270"/>
          </a:xfrm>
          <a:prstGeom prst="rect">
            <a:avLst/>
          </a:prstGeom>
        </p:spPr>
      </p:pic>
      <p:sp>
        <p:nvSpPr>
          <p:cNvPr id="25" name="AutoShape 8"/>
          <p:cNvSpPr/>
          <p:nvPr>
            <p:custDataLst>
              <p:tags r:id="rId3"/>
            </p:custDataLst>
          </p:nvPr>
        </p:nvSpPr>
        <p:spPr>
          <a:xfrm>
            <a:off x="4545965" y="1477010"/>
            <a:ext cx="7100570" cy="4648835"/>
          </a:xfrm>
          <a:prstGeom prst="roundRect">
            <a:avLst>
              <a:gd name="adj" fmla="val 7058"/>
            </a:avLst>
          </a:prstGeom>
          <a:solidFill>
            <a:srgbClr val="FFFFFF">
              <a:alpha val="95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6" name="AutoShape 11"/>
          <p:cNvSpPr/>
          <p:nvPr>
            <p:custDataLst>
              <p:tags r:id="rId4"/>
            </p:custDataLst>
          </p:nvPr>
        </p:nvSpPr>
        <p:spPr>
          <a:xfrm>
            <a:off x="5006340" y="2045970"/>
            <a:ext cx="6233795" cy="366141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zh-CN" altLang="en-US" sz="1800">
                <a:solidFill>
                  <a:srgbClr val="4B5563"/>
                </a:solidFill>
                <a:latin typeface="Noto Sans SC" panose="020B0200000000000000" charset="-122"/>
                <a:ea typeface="Noto Sans SC" panose="020B0200000000000000" charset="-122"/>
                <a:cs typeface="Noto Sans SC" panose="020B0200000000000000" charset="-122"/>
              </a:rPr>
              <a:t>本研究将训练完成的机器学习模型应用于糖尿病风险预测系统。</a:t>
            </a:r>
            <a:endParaRPr lang="zh-CN" altLang="en-US" sz="18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endParaRPr lang="en-US" altLang="zh-CN" sz="18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zh-CN" altLang="en-US" sz="1800">
                <a:solidFill>
                  <a:srgbClr val="4B5563"/>
                </a:solidFill>
                <a:latin typeface="Noto Sans SC" panose="020B0200000000000000" charset="-122"/>
                <a:ea typeface="Noto Sans SC" panose="020B0200000000000000" charset="-122"/>
                <a:cs typeface="Noto Sans SC" panose="020B0200000000000000" charset="-122"/>
              </a:rPr>
              <a:t>系统能够根据用户的：</a:t>
            </a:r>
            <a:endParaRPr lang="en-US" altLang="zh-CN" sz="18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zh-CN" altLang="en-US" sz="1800">
                <a:solidFill>
                  <a:srgbClr val="4B5563"/>
                </a:solidFill>
                <a:latin typeface="Noto Sans SC" panose="020B0200000000000000" charset="-122"/>
                <a:ea typeface="Noto Sans SC" panose="020B0200000000000000" charset="-122"/>
                <a:cs typeface="Noto Sans SC" panose="020B0200000000000000" charset="-122"/>
              </a:rPr>
              <a:t>血糖</a:t>
            </a:r>
            <a:endParaRPr lang="zh-CN" altLang="en-US" sz="18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en-US" altLang="zh-CN" sz="1800">
                <a:solidFill>
                  <a:srgbClr val="4B5563"/>
                </a:solidFill>
                <a:latin typeface="Noto Sans SC" panose="020B0200000000000000" charset="-122"/>
                <a:ea typeface="Noto Sans SC" panose="020B0200000000000000" charset="-122"/>
                <a:cs typeface="Noto Sans SC" panose="020B0200000000000000" charset="-122"/>
              </a:rPr>
              <a:t>BMI</a:t>
            </a:r>
            <a:endParaRPr lang="en-US" altLang="zh-CN" sz="18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zh-CN" altLang="en-US" sz="1800">
                <a:solidFill>
                  <a:srgbClr val="4B5563"/>
                </a:solidFill>
                <a:latin typeface="Noto Sans SC" panose="020B0200000000000000" charset="-122"/>
                <a:ea typeface="Noto Sans SC" panose="020B0200000000000000" charset="-122"/>
                <a:cs typeface="Noto Sans SC" panose="020B0200000000000000" charset="-122"/>
              </a:rPr>
              <a:t>年龄</a:t>
            </a:r>
            <a:endParaRPr lang="en-US" altLang="zh-CN" sz="18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zh-CN" altLang="en-US" sz="1800">
                <a:solidFill>
                  <a:srgbClr val="4B5563"/>
                </a:solidFill>
                <a:latin typeface="Noto Sans SC" panose="020B0200000000000000" charset="-122"/>
                <a:ea typeface="Noto Sans SC" panose="020B0200000000000000" charset="-122"/>
                <a:cs typeface="Noto Sans SC" panose="020B0200000000000000" charset="-122"/>
              </a:rPr>
              <a:t>等体检指标，</a:t>
            </a:r>
            <a:endParaRPr lang="zh-CN" altLang="en-US" sz="18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endParaRPr lang="en-US" altLang="zh-CN" sz="1800">
              <a:solidFill>
                <a:srgbClr val="4B5563"/>
              </a:solidFill>
              <a:latin typeface="Noto Sans SC" panose="020B0200000000000000" charset="-122"/>
              <a:ea typeface="Noto Sans SC" panose="020B0200000000000000" charset="-122"/>
              <a:cs typeface="Noto Sans SC" panose="020B0200000000000000" charset="-122"/>
            </a:endParaRPr>
          </a:p>
          <a:p>
            <a:pPr marL="0" indent="0" algn="l">
              <a:lnSpc>
                <a:spcPct val="117000"/>
              </a:lnSpc>
              <a:defRPr/>
            </a:pPr>
            <a:r>
              <a:rPr lang="zh-CN" altLang="en-US" sz="1800">
                <a:solidFill>
                  <a:srgbClr val="4B5563"/>
                </a:solidFill>
                <a:latin typeface="Noto Sans SC" panose="020B0200000000000000" charset="-122"/>
                <a:ea typeface="Noto Sans SC" panose="020B0200000000000000" charset="-122"/>
                <a:cs typeface="Noto Sans SC" panose="020B0200000000000000" charset="-122"/>
              </a:rPr>
              <a:t>自动输出糖尿病风险预测结果，为疾病早期筛查提供辅助支持。</a:t>
            </a:r>
            <a:endParaRPr lang="zh-CN" altLang="en-US" sz="1800">
              <a:solidFill>
                <a:srgbClr val="4B5563"/>
              </a:solidFill>
              <a:latin typeface="Noto Sans SC" panose="020B0200000000000000" charset="-122"/>
              <a:ea typeface="Noto Sans SC" panose="020B0200000000000000" charset="-122"/>
              <a:cs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5" name="type.wav"/>
          </p:stSnd>
        </p:sndAc>
      </p:transition>
    </mc:Choice>
    <mc:Fallback>
      <p:transition spd="slow">
        <p:random/>
        <p:sndAc>
          <p:stSnd>
            <p:snd r:embed="rId5" name="type.wav"/>
          </p:stSnd>
        </p:sndAc>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32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研究总结与展望</a:t>
            </a:r>
            <a:endParaRPr lang="en-US" sz="1100"/>
          </a:p>
        </p:txBody>
      </p:sp>
      <p:sp>
        <p:nvSpPr>
          <p:cNvPr id="4" name="AutoShape 4"/>
          <p:cNvSpPr/>
          <p:nvPr/>
        </p:nvSpPr>
        <p:spPr>
          <a:xfrm>
            <a:off x="762000" y="1524000"/>
            <a:ext cx="5207000" cy="4826000"/>
          </a:xfrm>
          <a:prstGeom prst="roundRect">
            <a:avLst>
              <a:gd name="adj" fmla="val 3157"/>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778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01 / </a:t>
            </a:r>
            <a:r>
              <a:rPr lang="zh-CN" altLang="en-US" sz="22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研究总结</a:t>
            </a:r>
            <a:endParaRPr lang="en-US" sz="1100"/>
          </a:p>
        </p:txBody>
      </p:sp>
      <p:sp>
        <p:nvSpPr>
          <p:cNvPr id="6" name="AutoShape 6"/>
          <p:cNvSpPr/>
          <p:nvPr/>
        </p:nvSpPr>
        <p:spPr>
          <a:xfrm>
            <a:off x="1016000" y="2540000"/>
            <a:ext cx="4699000" cy="3484245"/>
          </a:xfrm>
          <a:prstGeom prst="roundRect">
            <a:avLst>
              <a:gd name="adj" fmla="val 8888"/>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6500" y="2794000"/>
            <a:ext cx="406400" cy="406400"/>
          </a:xfrm>
          <a:prstGeom prst="rect">
            <a:avLst/>
          </a:prstGeom>
        </p:spPr>
      </p:pic>
      <p:sp>
        <p:nvSpPr>
          <p:cNvPr id="8" name="AutoShape 8"/>
          <p:cNvSpPr/>
          <p:nvPr/>
        </p:nvSpPr>
        <p:spPr>
          <a:xfrm>
            <a:off x="1778000" y="2794000"/>
            <a:ext cx="3683000" cy="291719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本研究基于 Pima Indians Diabetes Dataset，利用机器学习方法对糖尿病风险进行了预测分析。</a:t>
            </a:r>
            <a:endPar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研究结果表明：</a:t>
            </a:r>
            <a:endParaRPr lang="en-US"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endParaRPr lang="en-US"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25000"/>
              </a:lnSpc>
              <a:buSzTx/>
              <a:defRPr/>
            </a:pPr>
            <a:r>
              <a:rPr lang="en-US"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Glucose、BMI、Age 是关键风险因素；</a:t>
            </a:r>
            <a:endParaRPr lang="en-US"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25000"/>
              </a:lnSpc>
              <a:buSzTx/>
              <a:defRPr/>
            </a:pPr>
            <a:r>
              <a:rPr lang="en-US"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SVM 模型表现最佳；</a:t>
            </a:r>
            <a:endParaRPr lang="en-US"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25000"/>
              </a:lnSpc>
              <a:buSzTx/>
              <a:defRPr/>
            </a:pPr>
            <a:endParaRPr lang="en-US"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algn="l">
              <a:lnSpc>
                <a:spcPct val="125000"/>
              </a:lnSpc>
              <a:buSzTx/>
              <a:defRPr/>
            </a:pPr>
            <a:r>
              <a:rPr lang="en-US"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机器学习能够有效辅助糖尿病早期筛查。</a:t>
            </a:r>
            <a:r>
              <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6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223000" y="1524000"/>
            <a:ext cx="5207000" cy="2286000"/>
          </a:xfrm>
          <a:prstGeom prst="roundRect">
            <a:avLst>
              <a:gd name="adj" fmla="val 6666"/>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6" name="AutoShape 16"/>
          <p:cNvSpPr/>
          <p:nvPr/>
        </p:nvSpPr>
        <p:spPr>
          <a:xfrm>
            <a:off x="6477000" y="1714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02 / </a:t>
            </a:r>
            <a:r>
              <a:rPr lang="zh-CN" altLang="en-US" sz="22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未来展望</a:t>
            </a:r>
            <a:endParaRPr lang="en-US" sz="1100"/>
          </a:p>
        </p:txBody>
      </p:sp>
      <p:sp>
        <p:nvSpPr>
          <p:cNvPr id="17" name="AutoShape 17"/>
          <p:cNvSpPr/>
          <p:nvPr/>
        </p:nvSpPr>
        <p:spPr>
          <a:xfrm>
            <a:off x="6477000" y="2286000"/>
            <a:ext cx="4699000" cy="1270000"/>
          </a:xfrm>
          <a:prstGeom prst="roundRect">
            <a:avLst>
              <a:gd name="adj" fmla="val 8000"/>
            </a:avLst>
          </a:prstGeom>
          <a:solidFill>
            <a:srgbClr val="F0FDFA">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04000" y="2603500"/>
            <a:ext cx="406400" cy="406400"/>
          </a:xfrm>
          <a:prstGeom prst="rect">
            <a:avLst/>
          </a:prstGeom>
        </p:spPr>
      </p:pic>
      <p:sp>
        <p:nvSpPr>
          <p:cNvPr id="19" name="AutoShape 19"/>
          <p:cNvSpPr/>
          <p:nvPr/>
        </p:nvSpPr>
        <p:spPr>
          <a:xfrm>
            <a:off x="7112000" y="2348865"/>
            <a:ext cx="3700780" cy="1080135"/>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未来可进一步：</a:t>
            </a:r>
            <a:endParaRPr lang="en-US" sz="1600" b="1"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引入更多医学数据；</a:t>
            </a:r>
            <a:endParaRPr lang="en-US"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优化模型参数与特征工程；</a:t>
            </a:r>
            <a:endParaRPr lang="en-US"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defRPr/>
            </a:pPr>
            <a:r>
              <a:rPr lang="en-US"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提升模型泛化能力与临床应用价值。</a:t>
            </a:r>
            <a:endParaRPr lang="en-US" i="0" u="none" strike="noStrike">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3" name="Picture 23"/>
          <p:cNvPicPr>
            <a:picLocks noChangeAspect="1"/>
          </p:cNvPicPr>
          <p:nvPr/>
        </p:nvPicPr>
        <p:blipFill>
          <a:blip r:embed="rId6"/>
          <a:srcRect t="10161" b="10161"/>
          <a:stretch>
            <a:fillRect/>
          </a:stretch>
        </p:blipFill>
        <p:spPr>
          <a:xfrm>
            <a:off x="6223000" y="4064000"/>
            <a:ext cx="5207000" cy="2286000"/>
          </a:xfrm>
          <a:prstGeom prst="roundRect">
            <a:avLst>
              <a:gd name="adj" fmla="val 6666"/>
            </a:avLst>
          </a:prstGeom>
          <a:noFill/>
          <a:ln w="25400" cap="flat" cmpd="sng">
            <a:noFill/>
            <a:prstDash val="solid"/>
            <a:round/>
          </a:ln>
          <a:effectLst>
            <a:outerShdw blurRad="444500" dist="190500" dir="2700000" algn="tl" rotWithShape="0">
              <a:srgbClr val="000000">
                <a:alpha val="25000"/>
              </a:srgbClr>
            </a:outerShdw>
          </a:effectLst>
        </p:spPr>
      </p:pic>
    </p:spTree>
  </p:cSld>
  <p:clrMapOvr>
    <a:masterClrMapping/>
  </p:clrMapOvr>
  <mc:AlternateContent xmlns:mc="http://schemas.openxmlformats.org/markup-compatibility/2006">
    <mc:Choice xmlns:p14="http://schemas.microsoft.com/office/powerpoint/2010/main" Requires="p14">
      <p:transition spd="slow" p14:dur="1500">
        <p:random/>
        <p:sndAc>
          <p:stSnd>
            <p:snd r:embed="rId7" name="type.wav"/>
          </p:stSnd>
        </p:sndAc>
      </p:transition>
    </mc:Choice>
    <mc:Fallback>
      <p:transition spd="slow">
        <p:random/>
        <p:sndAc>
          <p:stSnd>
            <p:snd r:embed="rId7" name="type.wav"/>
          </p:stSnd>
        </p:sndAc>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284480" y="1941195"/>
            <a:ext cx="11633200" cy="1393825"/>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a:solidFill>
                  <a:srgbClr val="374151"/>
                </a:solidFill>
                <a:latin typeface="Noto Sans SC" panose="020B0200000000000000" charset="-122"/>
                <a:ea typeface="Noto Sans SC" panose="020B0200000000000000" charset="-122"/>
                <a:cs typeface="Noto Sans SC" panose="020B0200000000000000" charset="-122"/>
              </a:rPr>
              <a:t>机器学习能够为慢性疾病早期筛查</a:t>
            </a:r>
            <a:endParaRPr lang="en-US" sz="4800" b="1">
              <a:solidFill>
                <a:srgbClr val="374151"/>
              </a:solidFill>
              <a:latin typeface="Noto Sans SC" panose="020B0200000000000000" charset="-122"/>
              <a:ea typeface="Noto Sans SC" panose="020B0200000000000000" charset="-122"/>
              <a:cs typeface="Noto Sans SC" panose="020B0200000000000000" charset="-122"/>
            </a:endParaRPr>
          </a:p>
          <a:p>
            <a:pPr marL="0" indent="0" algn="ctr">
              <a:lnSpc>
                <a:spcPct val="125000"/>
              </a:lnSpc>
              <a:defRPr/>
            </a:pPr>
            <a:r>
              <a:rPr lang="en-US" sz="4800" b="1">
                <a:solidFill>
                  <a:srgbClr val="374151"/>
                </a:solidFill>
                <a:latin typeface="Noto Sans SC" panose="020B0200000000000000" charset="-122"/>
                <a:ea typeface="Noto Sans SC" panose="020B0200000000000000" charset="-122"/>
                <a:cs typeface="Noto Sans SC" panose="020B0200000000000000" charset="-122"/>
              </a:rPr>
              <a:t>提供新的智能化解决方案。</a:t>
            </a:r>
            <a:endParaRPr lang="en-US" sz="4800" b="1">
              <a:solidFill>
                <a:srgbClr val="374151"/>
              </a:solidFill>
              <a:latin typeface="Noto Sans SC" panose="020B0200000000000000" charset="-122"/>
              <a:ea typeface="Noto Sans SC" panose="020B0200000000000000" charset="-122"/>
              <a:cs typeface="Noto Sans SC" panose="020B0200000000000000" charset="-122"/>
            </a:endParaRPr>
          </a:p>
        </p:txBody>
      </p:sp>
      <p:sp>
        <p:nvSpPr>
          <p:cNvPr id="4" name="AutoShape 4"/>
          <p:cNvSpPr/>
          <p:nvPr/>
        </p:nvSpPr>
        <p:spPr>
          <a:xfrm>
            <a:off x="1016000" y="4064000"/>
            <a:ext cx="10160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9600" b="1" i="0" u="none" strike="noStrike">
                <a:solidFill>
                  <a:srgbClr val="2DD4BF"/>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7" name="AutoShape 6"/>
          <p:cNvSpPr/>
          <p:nvPr/>
        </p:nvSpPr>
        <p:spPr>
          <a:xfrm>
            <a:off x="1143000" y="546100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汇报人：</a:t>
            </a:r>
            <a:r>
              <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于景琪</a:t>
            </a:r>
            <a:endPar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6"/>
          <p:cNvSpPr/>
          <p:nvPr/>
        </p:nvSpPr>
        <p:spPr>
          <a:xfrm>
            <a:off x="1143000" y="5795010"/>
            <a:ext cx="889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小组成员</a:t>
            </a:r>
            <a:r>
              <a:rPr 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韦霖杰、王善义、</a:t>
            </a:r>
            <a:r>
              <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魏述桓、于景琪</a:t>
            </a:r>
            <a:endParaRPr lang="zh-CN" altLang="en-US" sz="1800" b="0" i="0" u="none" strike="noStrike">
              <a:solidFill>
                <a:schemeClr val="tx1">
                  <a:lumMod val="95000"/>
                  <a:lumOff val="5000"/>
                  <a:alpha val="85098"/>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sndAc>
          <p:stSnd>
            <p:snd r:embed="rId2" name="type.wav"/>
          </p:stSnd>
        </p:sndAc>
      </p:transition>
    </mc:Choice>
    <mc:Fallback>
      <p:transition spd="slow">
        <p:random/>
        <p:sndAc>
          <p:stSnd>
            <p:snd r:embed="rId2" name="type.wav"/>
          </p:stSnd>
        </p:sndAc>
      </p:transition>
    </mc:Fallback>
  </mc:AlternateContent>
</p:sld>
</file>

<file path=ppt/tags/tag1.xml><?xml version="1.0" encoding="utf-8"?>
<p:tagLst xmlns:p="http://schemas.openxmlformats.org/presentationml/2006/main">
  <p:tag name="KSO_WM_DIAGRAM_VIRTUALLY_FRAME" val="{&quot;height&quot;:330,&quot;left&quot;:60,&quot;top&quot;:150,&quot;width&quot;:830}"/>
</p:tagLst>
</file>

<file path=ppt/tags/tag2.xml><?xml version="1.0" encoding="utf-8"?>
<p:tagLst xmlns:p="http://schemas.openxmlformats.org/presentationml/2006/main">
  <p:tag name="KSO_WM_DIAGRAM_VIRTUALLY_FRAME" val="{&quot;height&quot;:330,&quot;left&quot;:60,&quot;top&quot;:150,&quot;width&quot;:830}"/>
</p:tagLst>
</file>

<file path=ppt/tags/tag3.xml><?xml version="1.0" encoding="utf-8"?>
<p:tagLst xmlns:p="http://schemas.openxmlformats.org/presentationml/2006/main">
  <p:tag name="KSO_WM_DIAGRAM_VIRTUALLY_FRAME" val="{&quot;height&quot;:330,&quot;left&quot;:60,&quot;top&quot;:150,&quot;width&quot;:830}"/>
</p:tagLst>
</file>

<file path=ppt/tags/tag4.xml><?xml version="1.0" encoding="utf-8"?>
<p:tagLst xmlns:p="http://schemas.openxmlformats.org/presentationml/2006/main">
  <p:tag name="KSO_WM_DIAGRAM_VIRTUALLY_FRAME" val="{&quot;height&quot;:330,&quot;left&quot;:60,&quot;top&quot;:150,&quot;width&quot;:830}"/>
</p:tagLst>
</file>

<file path=ppt/tags/tag5.xml><?xml version="1.0" encoding="utf-8"?>
<p:tagLst xmlns:p="http://schemas.openxmlformats.org/presentationml/2006/main">
  <p:tag name="KSO_WM_DIAGRAM_VIRTUALLY_FRAME" val="{&quot;height&quot;:330,&quot;left&quot;:60,&quot;top&quot;:150,&quot;width&quot;:830}"/>
</p:tagLst>
</file>

<file path=ppt/tags/tag6.xml><?xml version="1.0" encoding="utf-8"?>
<p:tagLst xmlns:p="http://schemas.openxmlformats.org/presentationml/2006/main">
  <p:tag name="KSO_WM_DIAGRAM_VIRTUALLY_FRAME" val="{&quot;height&quot;:330,&quot;left&quot;:60,&quot;top&quot;:150,&quot;width&quot;:830}"/>
</p:tagLst>
</file>

<file path=ppt/tags/tag7.xml><?xml version="1.0" encoding="utf-8"?>
<p:tagLst xmlns:p="http://schemas.openxmlformats.org/presentationml/2006/main">
  <p:tag name="KSO_WM_DIAGRAM_VIRTUALLY_FRAME" val="{&quot;height&quot;:330,&quot;left&quot;:60,&quot;top&quot;:150,&quot;width&quot;:830}"/>
</p:tagLst>
</file>

<file path=ppt/tags/tag8.xml><?xml version="1.0" encoding="utf-8"?>
<p:tagLst xmlns:p="http://schemas.openxmlformats.org/presentationml/2006/main">
  <p:tag name="KSO_WM_DIAGRAM_VIRTUALLY_FRAME" val="{&quot;height&quot;:330,&quot;left&quot;:60,&quot;top&quot;:150,&quot;width&quot;:830}"/>
</p:tagLst>
</file>

<file path=ppt/tags/tag9.xml><?xml version="1.0" encoding="utf-8"?>
<p:tagLst xmlns:p="http://schemas.openxmlformats.org/presentationml/2006/main">
  <p:tag name="KSO_WM_DIAGRAM_VIRTUALLY_FRAME" val="{&quot;height&quot;:330,&quot;left&quot;:60,&quot;top&quot;:150,&quot;width&quot;:830}"/>
</p:tagLst>
</file>

<file path=ppt/tags/tag10.xml><?xml version="1.0" encoding="utf-8"?>
<p:tagLst xmlns:p="http://schemas.openxmlformats.org/presentationml/2006/main">
  <p:tag name="KSO_WM_DIAGRAM_VIRTUALLY_FRAME" val="{&quot;height&quot;:330,&quot;left&quot;:60,&quot;top&quot;:150,&quot;width&quot;:830}"/>
</p:tagLst>
</file>

<file path=ppt/tags/tag11.xml><?xml version="1.0" encoding="utf-8"?>
<p:tagLst xmlns:p="http://schemas.openxmlformats.org/presentationml/2006/main">
  <p:tag name="KSO_WM_DIAGRAM_VIRTUALLY_FRAME" val="{&quot;height&quot;:330,&quot;left&quot;:60,&quot;top&quot;:150,&quot;width&quot;:830}"/>
</p:tagLst>
</file>

<file path=ppt/tags/tag12.xml><?xml version="1.0" encoding="utf-8"?>
<p:tagLst xmlns:p="http://schemas.openxmlformats.org/presentationml/2006/main">
  <p:tag name="KSO_WM_DIAGRAM_VIRTUALLY_FRAME" val="{&quot;height&quot;:330,&quot;left&quot;:60,&quot;top&quot;:150,&quot;width&quot;:830}"/>
</p:tagLst>
</file>

<file path=ppt/tags/tag13.xml><?xml version="1.0" encoding="utf-8"?>
<p:tagLst xmlns:p="http://schemas.openxmlformats.org/presentationml/2006/main">
  <p:tag name="KSO_WM_DIAGRAM_VIRTUALLY_FRAME" val="{&quot;height&quot;:330,&quot;left&quot;:60,&quot;top&quot;:150,&quot;width&quot;:830}"/>
</p:tagLst>
</file>

<file path=ppt/tags/tag14.xml><?xml version="1.0" encoding="utf-8"?>
<p:tagLst xmlns:p="http://schemas.openxmlformats.org/presentationml/2006/main">
  <p:tag name="KSO_WM_DIAGRAM_VIRTUALLY_FRAME" val="{&quot;height&quot;:330,&quot;left&quot;:60,&quot;top&quot;:150,&quot;width&quot;:830}"/>
</p:tagLst>
</file>

<file path=ppt/tags/tag15.xml><?xml version="1.0" encoding="utf-8"?>
<p:tagLst xmlns:p="http://schemas.openxmlformats.org/presentationml/2006/main">
  <p:tag name="KSO_WM_DIAGRAM_VIRTUALLY_FRAME" val="{&quot;height&quot;:330,&quot;left&quot;:60,&quot;top&quot;:150,&quot;width&quot;:830}"/>
</p:tagLst>
</file>

<file path=ppt/tags/tag16.xml><?xml version="1.0" encoding="utf-8"?>
<p:tagLst xmlns:p="http://schemas.openxmlformats.org/presentationml/2006/main">
  <p:tag name="KSO_WM_DIAGRAM_VIRTUALLY_FRAME" val="{&quot;height&quot;:330,&quot;left&quot;:60,&quot;top&quot;:150,&quot;width&quot;:830}"/>
</p:tagLst>
</file>

<file path=ppt/tags/tag17.xml><?xml version="1.0" encoding="utf-8"?>
<p:tagLst xmlns:p="http://schemas.openxmlformats.org/presentationml/2006/main">
  <p:tag name="KSO_WM_DIAGRAM_VIRTUALLY_FRAME" val="{&quot;height&quot;:330,&quot;left&quot;:60,&quot;top&quot;:150,&quot;width&quot;:830}"/>
</p:tagLst>
</file>

<file path=ppt/tags/tag18.xml><?xml version="1.0" encoding="utf-8"?>
<p:tagLst xmlns:p="http://schemas.openxmlformats.org/presentationml/2006/main">
  <p:tag name="KSO_WM_DIAGRAM_VIRTUALLY_FRAME" val="{&quot;height&quot;:330,&quot;left&quot;:60,&quot;top&quot;:150,&quot;width&quot;:830}"/>
</p:tagLst>
</file>

<file path=ppt/tags/tag19.xml><?xml version="1.0" encoding="utf-8"?>
<p:tagLst xmlns:p="http://schemas.openxmlformats.org/presentationml/2006/main">
  <p:tag name="KSO_WM_DIAGRAM_VIRTUALLY_FRAME" val="{&quot;height&quot;:330,&quot;left&quot;:60,&quot;top&quot;:150,&quot;width&quot;:830}"/>
</p:tagLst>
</file>

<file path=ppt/tags/tag20.xml><?xml version="1.0" encoding="utf-8"?>
<p:tagLst xmlns:p="http://schemas.openxmlformats.org/presentationml/2006/main">
  <p:tag name="KSO_WM_DIAGRAM_VIRTUALLY_FRAME" val="{&quot;height&quot;:330,&quot;left&quot;:60,&quot;top&quot;:150,&quot;width&quot;:830}"/>
</p:tagLst>
</file>

<file path=ppt/tags/tag21.xml><?xml version="1.0" encoding="utf-8"?>
<p:tagLst xmlns:p="http://schemas.openxmlformats.org/presentationml/2006/main">
  <p:tag name="KSO_WM_DIAGRAM_VIRTUALLY_FRAME" val="{&quot;height&quot;:330,&quot;left&quot;:60,&quot;top&quot;:150,&quot;width&quot;:830}"/>
</p:tagLst>
</file>

<file path=ppt/tags/tag22.xml><?xml version="1.0" encoding="utf-8"?>
<p:tagLst xmlns:p="http://schemas.openxmlformats.org/presentationml/2006/main">
  <p:tag name="KSO_WM_DIAGRAM_VIRTUALLY_FRAME" val="{&quot;height&quot;:330,&quot;left&quot;:60,&quot;top&quot;:150,&quot;width&quot;:830}"/>
</p:tagLst>
</file>

<file path=ppt/tags/tag23.xml><?xml version="1.0" encoding="utf-8"?>
<p:tagLst xmlns:p="http://schemas.openxmlformats.org/presentationml/2006/main">
  <p:tag name="KSO_WM_DIAGRAM_VIRTUALLY_FRAME" val="{&quot;height&quot;:330,&quot;left&quot;:60,&quot;top&quot;:150,&quot;width&quot;:830}"/>
</p:tagLst>
</file>

<file path=ppt/tags/tag24.xml><?xml version="1.0" encoding="utf-8"?>
<p:tagLst xmlns:p="http://schemas.openxmlformats.org/presentationml/2006/main">
  <p:tag name="KSO_WM_DIAGRAM_VIRTUALLY_FRAME" val="{&quot;height&quot;:330,&quot;left&quot;:60,&quot;top&quot;:150,&quot;width&quot;:830}"/>
</p:tagLst>
</file>

<file path=ppt/tags/tag25.xml><?xml version="1.0" encoding="utf-8"?>
<p:tagLst xmlns:p="http://schemas.openxmlformats.org/presentationml/2006/main">
  <p:tag name="KSO_WM_DIAGRAM_VIRTUALLY_FRAME" val="{&quot;height&quot;:330,&quot;left&quot;:60,&quot;top&quot;:150,&quot;width&quot;:830}"/>
</p:tagLst>
</file>

<file path=ppt/tags/tag26.xml><?xml version="1.0" encoding="utf-8"?>
<p:tagLst xmlns:p="http://schemas.openxmlformats.org/presentationml/2006/main">
  <p:tag name="KSO_WM_DIAGRAM_VIRTUALLY_FRAME" val="{&quot;height&quot;:330,&quot;left&quot;:60,&quot;top&quot;:150,&quot;width&quot;:830}"/>
</p:tagLst>
</file>

<file path=ppt/tags/tag27.xml><?xml version="1.0" encoding="utf-8"?>
<p:tagLst xmlns:p="http://schemas.openxmlformats.org/presentationml/2006/main">
  <p:tag name="KSO_WM_DIAGRAM_VIRTUALLY_FRAME" val="{&quot;height&quot;:330,&quot;left&quot;:60,&quot;top&quot;:150,&quot;width&quot;:830}"/>
</p:tagLst>
</file>

<file path=ppt/tags/tag28.xml><?xml version="1.0" encoding="utf-8"?>
<p:tagLst xmlns:p="http://schemas.openxmlformats.org/presentationml/2006/main">
  <p:tag name="KSO_WM_DIAGRAM_VIRTUALLY_FRAME" val="{&quot;height&quot;:330,&quot;left&quot;:60,&quot;top&quot;:150,&quot;width&quot;:830}"/>
</p:tagLst>
</file>

<file path=ppt/tags/tag29.xml><?xml version="1.0" encoding="utf-8"?>
<p:tagLst xmlns:p="http://schemas.openxmlformats.org/presentationml/2006/main">
  <p:tag name="KSO_WM_DIAGRAM_VIRTUALLY_FRAME" val="{&quot;height&quot;:330,&quot;left&quot;:60,&quot;top&quot;:150,&quot;width&quot;:830}"/>
</p:tagLst>
</file>

<file path=ppt/tags/tag30.xml><?xml version="1.0" encoding="utf-8"?>
<p:tagLst xmlns:p="http://schemas.openxmlformats.org/presentationml/2006/main">
  <p:tag name="KSO_WM_DIAGRAM_VIRTUALLY_FRAME" val="{&quot;height&quot;:330,&quot;left&quot;:60,&quot;top&quot;:150,&quot;width&quot;:830}"/>
</p:tagLst>
</file>

<file path=ppt/tags/tag31.xml><?xml version="1.0" encoding="utf-8"?>
<p:tagLst xmlns:p="http://schemas.openxmlformats.org/presentationml/2006/main">
  <p:tag name="KSO_WM_DIAGRAM_VIRTUALLY_FRAME" val="{&quot;height&quot;:360,&quot;left&quot;:60,&quot;top&quot;:130,&quot;width&quot;:840}"/>
</p:tagLst>
</file>

<file path=ppt/tags/tag32.xml><?xml version="1.0" encoding="utf-8"?>
<p:tagLst xmlns:p="http://schemas.openxmlformats.org/presentationml/2006/main">
  <p:tag name="KSO_WM_DIAGRAM_VIRTUALLY_FRAME" val="{&quot;height&quot;:360,&quot;left&quot;:60,&quot;top&quot;:130,&quot;width&quot;:840}"/>
</p:tagLst>
</file>

<file path=ppt/tags/tag33.xml><?xml version="1.0" encoding="utf-8"?>
<p:tagLst xmlns:p="http://schemas.openxmlformats.org/presentationml/2006/main">
  <p:tag name="KSO_WM_DIAGRAM_VIRTUALLY_FRAME" val="{&quot;height&quot;:360,&quot;left&quot;:60,&quot;top&quot;:130,&quot;width&quot;:840}"/>
</p:tagLst>
</file>

<file path=ppt/tags/tag34.xml><?xml version="1.0" encoding="utf-8"?>
<p:tagLst xmlns:p="http://schemas.openxmlformats.org/presentationml/2006/main">
  <p:tag name="KSO_WM_DIAGRAM_VIRTUALLY_FRAME" val="{&quot;height&quot;:360,&quot;left&quot;:60,&quot;top&quot;:130,&quot;width&quot;:840}"/>
</p:tagLst>
</file>

<file path=ppt/tags/tag35.xml><?xml version="1.0" encoding="utf-8"?>
<p:tagLst xmlns:p="http://schemas.openxmlformats.org/presentationml/2006/main">
  <p:tag name="KSO_WM_DIAGRAM_VIRTUALLY_FRAME" val="{&quot;height&quot;:360,&quot;left&quot;:60,&quot;top&quot;:130,&quot;width&quot;:840}"/>
</p:tagLst>
</file>

<file path=ppt/tags/tag36.xml><?xml version="1.0" encoding="utf-8"?>
<p:tagLst xmlns:p="http://schemas.openxmlformats.org/presentationml/2006/main">
  <p:tag name="KSO_WM_DIAGRAM_VIRTUALLY_FRAME" val="{&quot;height&quot;:360,&quot;left&quot;:60,&quot;top&quot;:130,&quot;width&quot;:840}"/>
</p:tagLst>
</file>

<file path=ppt/tags/tag37.xml><?xml version="1.0" encoding="utf-8"?>
<p:tagLst xmlns:p="http://schemas.openxmlformats.org/presentationml/2006/main">
  <p:tag name="KSO_WM_DIAGRAM_VIRTUALLY_FRAME" val="{&quot;height&quot;:360,&quot;left&quot;:60,&quot;top&quot;:130,&quot;width&quot;:840}"/>
</p:tagLst>
</file>

<file path=ppt/tags/tag38.xml><?xml version="1.0" encoding="utf-8"?>
<p:tagLst xmlns:p="http://schemas.openxmlformats.org/presentationml/2006/main">
  <p:tag name="KSO_WM_DIAGRAM_VIRTUALLY_FRAME" val="{&quot;height&quot;:360,&quot;left&quot;:60,&quot;top&quot;:130,&quot;width&quot;:840}"/>
</p:tagLst>
</file>

<file path=ppt/tags/tag39.xml><?xml version="1.0" encoding="utf-8"?>
<p:tagLst xmlns:p="http://schemas.openxmlformats.org/presentationml/2006/main">
  <p:tag name="KSO_WM_DIAGRAM_VIRTUALLY_FRAME" val="{&quot;height&quot;:360,&quot;left&quot;:60,&quot;top&quot;:130,&quot;width&quot;:840}"/>
</p:tagLst>
</file>

<file path=ppt/tags/tag40.xml><?xml version="1.0" encoding="utf-8"?>
<p:tagLst xmlns:p="http://schemas.openxmlformats.org/presentationml/2006/main">
  <p:tag name="KSO_WM_DIAGRAM_VIRTUALLY_FRAME" val="{&quot;height&quot;:360,&quot;left&quot;:60,&quot;top&quot;:130,&quot;width&quot;:840}"/>
</p:tagLst>
</file>

<file path=ppt/tags/tag41.xml><?xml version="1.0" encoding="utf-8"?>
<p:tagLst xmlns:p="http://schemas.openxmlformats.org/presentationml/2006/main">
  <p:tag name="KSO_WM_DIAGRAM_VIRTUALLY_FRAME" val="{&quot;height&quot;:360,&quot;left&quot;:60,&quot;top&quot;:130,&quot;width&quot;:840}"/>
</p:tagLst>
</file>

<file path=ppt/tags/tag42.xml><?xml version="1.0" encoding="utf-8"?>
<p:tagLst xmlns:p="http://schemas.openxmlformats.org/presentationml/2006/main">
  <p:tag name="KSO_WM_DIAGRAM_VIRTUALLY_FRAME" val="{&quot;height&quot;:360,&quot;left&quot;:60,&quot;top&quot;:130,&quot;width&quot;:840}"/>
</p:tagLst>
</file>

<file path=ppt/tags/tag43.xml><?xml version="1.0" encoding="utf-8"?>
<p:tagLst xmlns:p="http://schemas.openxmlformats.org/presentationml/2006/main">
  <p:tag name="KSO_WM_DIAGRAM_VIRTUALLY_FRAME" val="{&quot;height&quot;:360,&quot;left&quot;:60,&quot;top&quot;:130,&quot;width&quot;:840}"/>
</p:tagLst>
</file>

<file path=ppt/tags/tag44.xml><?xml version="1.0" encoding="utf-8"?>
<p:tagLst xmlns:p="http://schemas.openxmlformats.org/presentationml/2006/main">
  <p:tag name="KSO_WM_DIAGRAM_VIRTUALLY_FRAME" val="{&quot;height&quot;:360,&quot;left&quot;:60,&quot;top&quot;:130,&quot;width&quot;:840}"/>
</p:tagLst>
</file>

<file path=ppt/tags/tag45.xml><?xml version="1.0" encoding="utf-8"?>
<p:tagLst xmlns:p="http://schemas.openxmlformats.org/presentationml/2006/main">
  <p:tag name="KSO_WM_DIAGRAM_VIRTUALLY_FRAME" val="{&quot;height&quot;:360,&quot;left&quot;:60,&quot;top&quot;:130,&quot;width&quot;:840}"/>
</p:tagLst>
</file>

<file path=ppt/tags/tag46.xml><?xml version="1.0" encoding="utf-8"?>
<p:tagLst xmlns:p="http://schemas.openxmlformats.org/presentationml/2006/main">
  <p:tag name="KSO_WM_DIAGRAM_VIRTUALLY_FRAME" val="{&quot;height&quot;:360,&quot;left&quot;:60,&quot;top&quot;:130,&quot;width&quot;:840}"/>
</p:tagLst>
</file>

<file path=ppt/tags/tag47.xml><?xml version="1.0" encoding="utf-8"?>
<p:tagLst xmlns:p="http://schemas.openxmlformats.org/presentationml/2006/main">
  <p:tag name="KSO_WM_DIAGRAM_VIRTUALLY_FRAME" val="{&quot;height&quot;:360,&quot;left&quot;:60,&quot;top&quot;:130,&quot;width&quot;:840}"/>
</p:tagLst>
</file>

<file path=ppt/tags/tag48.xml><?xml version="1.0" encoding="utf-8"?>
<p:tagLst xmlns:p="http://schemas.openxmlformats.org/presentationml/2006/main">
  <p:tag name="KSO_WM_DIAGRAM_VIRTUALLY_FRAME" val="{&quot;height&quot;:360,&quot;left&quot;:60,&quot;top&quot;:130,&quot;width&quot;:840}"/>
</p:tagLst>
</file>

<file path=ppt/tags/tag49.xml><?xml version="1.0" encoding="utf-8"?>
<p:tagLst xmlns:p="http://schemas.openxmlformats.org/presentationml/2006/main">
  <p:tag name="KSO_WM_DIAGRAM_VIRTUALLY_FRAME" val="{&quot;height&quot;:360,&quot;left&quot;:60,&quot;top&quot;:130,&quot;width&quot;:840}"/>
</p:tagLst>
</file>

<file path=ppt/tags/tag50.xml><?xml version="1.0" encoding="utf-8"?>
<p:tagLst xmlns:p="http://schemas.openxmlformats.org/presentationml/2006/main">
  <p:tag name="KSO_WM_DIAGRAM_VIRTUALLY_FRAME" val="{&quot;height&quot;:360,&quot;left&quot;:60,&quot;top&quot;:130,&quot;width&quot;:840}"/>
</p:tagLst>
</file>

<file path=ppt/tags/tag51.xml><?xml version="1.0" encoding="utf-8"?>
<p:tagLst xmlns:p="http://schemas.openxmlformats.org/presentationml/2006/main">
  <p:tag name="KSO_WM_DIAGRAM_VIRTUALLY_FRAME" val="{&quot;height&quot;:400,&quot;left&quot;:60,&quot;top&quot;:120,&quot;width&quot;:840}"/>
</p:tagLst>
</file>

<file path=ppt/tags/tag52.xml><?xml version="1.0" encoding="utf-8"?>
<p:tagLst xmlns:p="http://schemas.openxmlformats.org/presentationml/2006/main">
  <p:tag name="KSO_WM_DIAGRAM_VIRTUALLY_FRAME" val="{&quot;height&quot;:405.15,&quot;left&quot;:60,&quot;top&quot;:114.85,&quot;width&quot;:840}"/>
</p:tagLst>
</file>

<file path=ppt/tags/tag53.xml><?xml version="1.0" encoding="utf-8"?>
<p:tagLst xmlns:p="http://schemas.openxmlformats.org/presentationml/2006/main">
  <p:tag name="KSO_WM_DIAGRAM_VIRTUALLY_FRAME" val="{&quot;height&quot;:405.15,&quot;left&quot;:60,&quot;top&quot;:114.85,&quot;width&quot;:840}"/>
</p:tagLst>
</file>

<file path=ppt/tags/tag54.xml><?xml version="1.0" encoding="utf-8"?>
<p:tagLst xmlns:p="http://schemas.openxmlformats.org/presentationml/2006/main">
  <p:tag name="KSO_WM_DIAGRAM_VIRTUALLY_FRAME" val="{&quot;height&quot;:405.15,&quot;left&quot;:60,&quot;top&quot;:114.85,&quot;width&quot;:840}"/>
</p:tagLst>
</file>

<file path=ppt/tags/tag55.xml><?xml version="1.0" encoding="utf-8"?>
<p:tagLst xmlns:p="http://schemas.openxmlformats.org/presentationml/2006/main">
  <p:tag name="KSO_WM_DIAGRAM_VIRTUALLY_FRAME" val="{&quot;height&quot;:405.15,&quot;left&quot;:60,&quot;top&quot;:114.85,&quot;width&quot;:840}"/>
</p:tagLst>
</file>

<file path=ppt/tags/tag56.xml><?xml version="1.0" encoding="utf-8"?>
<p:tagLst xmlns:p="http://schemas.openxmlformats.org/presentationml/2006/main">
  <p:tag name="KSO_WM_DIAGRAM_VIRTUALLY_FRAME" val="{&quot;height&quot;:405.15,&quot;left&quot;:60,&quot;top&quot;:114.85,&quot;width&quot;:840}"/>
</p:tagLst>
</file>

<file path=ppt/tags/tag57.xml><?xml version="1.0" encoding="utf-8"?>
<p:tagLst xmlns:p="http://schemas.openxmlformats.org/presentationml/2006/main">
  <p:tag name="KSO_WM_DIAGRAM_VIRTUALLY_FRAME" val="{&quot;height&quot;:405.15,&quot;left&quot;:60,&quot;top&quot;:114.85,&quot;width&quot;:840}"/>
</p:tagLst>
</file>

<file path=ppt/tags/tag58.xml><?xml version="1.0" encoding="utf-8"?>
<p:tagLst xmlns:p="http://schemas.openxmlformats.org/presentationml/2006/main">
  <p:tag name="KSO_WM_DIAGRAM_VIRTUALLY_FRAME" val="{&quot;height&quot;:110,&quot;left&quot;:60,&quot;top&quot;:390,&quot;width&quot;:625}"/>
</p:tagLst>
</file>

<file path=ppt/tags/tag59.xml><?xml version="1.0" encoding="utf-8"?>
<p:tagLst xmlns:p="http://schemas.openxmlformats.org/presentationml/2006/main">
  <p:tag name="KSO_WM_DIAGRAM_VIRTUALLY_FRAME" val="{&quot;height&quot;:110,&quot;left&quot;:60,&quot;top&quot;:390,&quot;width&quot;:625}"/>
</p:tagLst>
</file>

<file path=ppt/tags/tag60.xml><?xml version="1.0" encoding="utf-8"?>
<p:tagLst xmlns:p="http://schemas.openxmlformats.org/presentationml/2006/main">
  <p:tag name="KSO_WM_DIAGRAM_VIRTUALLY_FRAME" val="{&quot;height&quot;:110,&quot;left&quot;:60,&quot;top&quot;:390,&quot;width&quot;:625}"/>
</p:tagLst>
</file>

<file path=ppt/tags/tag61.xml><?xml version="1.0" encoding="utf-8"?>
<p:tagLst xmlns:p="http://schemas.openxmlformats.org/presentationml/2006/main">
  <p:tag name="KSO_WM_DIAGRAM_VIRTUALLY_FRAME" val="{&quot;height&quot;:110,&quot;left&quot;:60,&quot;top&quot;:390,&quot;width&quot;:625}"/>
</p:tagLst>
</file>

<file path=ppt/tags/tag62.xml><?xml version="1.0" encoding="utf-8"?>
<p:tagLst xmlns:p="http://schemas.openxmlformats.org/presentationml/2006/main">
  <p:tag name="KSO_WM_DIAGRAM_VIRTUALLY_FRAME" val="{&quot;height&quot;:110,&quot;left&quot;:60,&quot;top&quot;:390,&quot;width&quot;:625}"/>
</p:tagLst>
</file>

<file path=ppt/tags/tag63.xml><?xml version="1.0" encoding="utf-8"?>
<p:tagLst xmlns:p="http://schemas.openxmlformats.org/presentationml/2006/main">
  <p:tag name="KSO_WM_DIAGRAM_VIRTUALLY_FRAME" val="{&quot;height&quot;:110,&quot;left&quot;:60,&quot;top&quot;:390,&quot;width&quot;:625}"/>
</p:tagLst>
</file>

<file path=ppt/tags/tag64.xml><?xml version="1.0" encoding="utf-8"?>
<p:tagLst xmlns:p="http://schemas.openxmlformats.org/presentationml/2006/main">
  <p:tag name="KSO_WM_DIAGRAM_VIRTUALLY_FRAME" val="{&quot;height&quot;:360,&quot;left&quot;:60,&quot;top&quot;:140,&quot;width&quot;:380}"/>
</p:tagLst>
</file>

<file path=ppt/tags/tag65.xml><?xml version="1.0" encoding="utf-8"?>
<p:tagLst xmlns:p="http://schemas.openxmlformats.org/presentationml/2006/main">
  <p:tag name="KSO_WM_DIAGRAM_VIRTUALLY_FRAME" val="{&quot;height&quot;:360,&quot;left&quot;:60,&quot;top&quot;:140,&quot;width&quot;:380}"/>
</p:tagLst>
</file>

<file path=ppt/tags/tag66.xml><?xml version="1.0" encoding="utf-8"?>
<p:tagLst xmlns:p="http://schemas.openxmlformats.org/presentationml/2006/main">
  <p:tag name="KSO_WM_DIAGRAM_VIRTUALLY_FRAME" val="{&quot;height&quot;:360,&quot;left&quot;:60,&quot;top&quot;:140,&quot;width&quot;:380}"/>
</p:tagLst>
</file>

<file path=ppt/tags/tag67.xml><?xml version="1.0" encoding="utf-8"?>
<p:tagLst xmlns:p="http://schemas.openxmlformats.org/presentationml/2006/main">
  <p:tag name="KSO_WM_DIAGRAM_VIRTUALLY_FRAME" val="{&quot;height&quot;:360,&quot;left&quot;:60,&quot;top&quot;:140,&quot;width&quot;:380}"/>
</p:tagLst>
</file>

<file path=ppt/tags/tag68.xml><?xml version="1.0" encoding="utf-8"?>
<p:tagLst xmlns:p="http://schemas.openxmlformats.org/presentationml/2006/main">
  <p:tag name="KSO_WM_DIAGRAM_VIRTUALLY_FRAME" val="{&quot;height&quot;:360,&quot;left&quot;:60,&quot;top&quot;:140,&quot;width&quot;:380}"/>
</p:tagLst>
</file>

<file path=ppt/tags/tag69.xml><?xml version="1.0" encoding="utf-8"?>
<p:tagLst xmlns:p="http://schemas.openxmlformats.org/presentationml/2006/main">
  <p:tag name="KSO_WM_DIAGRAM_VIRTUALLY_FRAME" val="{&quot;height&quot;:360,&quot;left&quot;:60,&quot;top&quot;:140,&quot;width&quot;:380}"/>
</p:tagLst>
</file>

<file path=ppt/tags/tag70.xml><?xml version="1.0" encoding="utf-8"?>
<p:tagLst xmlns:p="http://schemas.openxmlformats.org/presentationml/2006/main">
  <p:tag name="KSO_WM_DIAGRAM_VIRTUALLY_FRAME" val="{&quot;height&quot;:360,&quot;left&quot;:60,&quot;top&quot;:140,&quot;width&quot;:380}"/>
</p:tagLst>
</file>

<file path=ppt/tags/tag71.xml><?xml version="1.0" encoding="utf-8"?>
<p:tagLst xmlns:p="http://schemas.openxmlformats.org/presentationml/2006/main">
  <p:tag name="KSO_WM_DIAGRAM_VIRTUALLY_FRAME" val="{&quot;height&quot;:360,&quot;left&quot;:60,&quot;top&quot;:140,&quot;width&quot;:380}"/>
</p:tagLst>
</file>

<file path=ppt/tags/tag72.xml><?xml version="1.0" encoding="utf-8"?>
<p:tagLst xmlns:p="http://schemas.openxmlformats.org/presentationml/2006/main">
  <p:tag name="KSO_WM_DIAGRAM_VIRTUALLY_FRAME" val="{&quot;height&quot;:360,&quot;left&quot;:60,&quot;top&quot;:140,&quot;width&quot;:380}"/>
</p:tagLst>
</file>

<file path=ppt/tags/tag73.xml><?xml version="1.0" encoding="utf-8"?>
<p:tagLst xmlns:p="http://schemas.openxmlformats.org/presentationml/2006/main">
  <p:tag name="KSO_WM_DIAGRAM_VIRTUALLY_FRAME" val="{&quot;height&quot;:360,&quot;left&quot;:60,&quot;top&quot;:140,&quot;width&quot;:380}"/>
</p:tagLst>
</file>

<file path=ppt/tags/tag74.xml><?xml version="1.0" encoding="utf-8"?>
<p:tagLst xmlns:p="http://schemas.openxmlformats.org/presentationml/2006/main">
  <p:tag name="KSO_WM_DIAGRAM_VIRTUALLY_FRAME" val="{&quot;height&quot;:360,&quot;left&quot;:60,&quot;top&quot;:140,&quot;width&quot;:380}"/>
</p:tagLst>
</file>

<file path=ppt/tags/tag75.xml><?xml version="1.0" encoding="utf-8"?>
<p:tagLst xmlns:p="http://schemas.openxmlformats.org/presentationml/2006/main">
  <p:tag name="KSO_WM_DIAGRAM_VIRTUALLY_FRAME" val="{&quot;height&quot;:360,&quot;left&quot;:60,&quot;top&quot;:140,&quot;width&quot;:380}"/>
</p:tagLst>
</file>

<file path=ppt/tags/tag76.xml><?xml version="1.0" encoding="utf-8"?>
<p:tagLst xmlns:p="http://schemas.openxmlformats.org/presentationml/2006/main">
  <p:tag name="KSO_WM_DIAGRAM_VIRTUALLY_FRAME" val="{&quot;height&quot;:360,&quot;left&quot;:60,&quot;top&quot;:140,&quot;width&quot;:380}"/>
</p:tagLst>
</file>

<file path=ppt/tags/tag77.xml><?xml version="1.0" encoding="utf-8"?>
<p:tagLst xmlns:p="http://schemas.openxmlformats.org/presentationml/2006/main">
  <p:tag name="KSO_WM_DIAGRAM_VIRTUALLY_FRAME" val="{&quot;height&quot;:360,&quot;left&quot;:60,&quot;top&quot;:140,&quot;width&quot;:38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8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9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0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3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5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4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7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E657119C-6982-421D-8BA7-E74DEB70A7D9-1">
      <extobjdata type="E657119C-6982-421D-8BA7-E74DEB70A7D9" data="ewoJIkNhdGVnb3J5IiA6ICJmbG93IiwKCSJEZWZpbml0aW9uIiA6ICJKVGRDSlRJeWNHRm5aU1V5TWlVelFTVTNRaVV5TW5CaFpHUnBibWNsTWpJbE0wRXlNQ1V5UXlVeU1tOXlhV1Z1ZEdGMGFXOXVKVEl5SlROQkpUSXljRzl5ZEhKaGFYUWxNaklsTWtNbE1qSmlZV05yWjNKdmRXNWtRMjlzYjNJbE1qSWxNMEVsTWpKMGNtRnVjM0JoY21WdWRDVXlNaVV5UXlVeU1tZHlhV1JUYVhwbEpUSXlKVE5CTVRVbE1rTWxNakozWVhSbGNtMWhjbXNsTWpJbE0wRWxNaklsTWpJbE1rTWxNakozYVdSMGFDVXlNaVV6UVRFeU5UQWxNa01sTWpKemFHOTNSM0pwWkNVeU1pVXpRWFJ5ZFdVbE1rTWxNakp5YVdOb1ZHVjRkQ1V5TWlVelFYUnlkV1VsTWtNbE1qSjJaWEp6YVc5dUpUSXlKVE5CTUNVeVF5VXlNbWhsYVdkb2RDVXlNaVV6UVRFMU1EQWxNa01sTWpKemFHOTNWMkYwWlhKdFlYSnJKVEl5SlROQlptRnNjMlVsTjBRbE1rTWxNakpsYkdWdFpXNTBjeVV5TWlVelFTVTNRaVV5TWpFMVl6ZGpNalpqWlRNNU5Ea2xNaklsTTBFbE4wSWxNakp3WVhKbGJuUWxNaklsTTBFbE1qSWxNaklsTWtNbE1qSnNhVzVySlRJeUpUTkJKVEl5SlRJeUpUSkRKVEl5YzJoaGNHVlRkSGxzWlNVeU1pVXpRU1UzUWlVeU1tRnNjR2hoSlRJeUpUTkJNU1UzUkNVeVF5VXlNblJsZUhSQ2JHOWpheVV5TWlVelFTVTFRaVUzUWlVeU1uQnZjMmwwYVc5dUpUSXlKVE5CSlRkQ0pUSXlkeVV5TWlVelFTVXlNbmN0TWpBbE1qSWxNa01sTWpKb0pUSXlKVE5CSlRJeWFDVXlNaVV5UXlVeU1uZ2xNaklsTTBFeE1DVXlReVV5TW5rbE1qSWxNMEV3SlRkRUpUSkRKVEl5ZEdWNGRDVXlNaVV6UVNVeU1pVkZOaVU0UmlVNU1DVkZOQ1ZDUlNVNVFpVkZOaVU1TnlWQk9TVkZOaVU1UXlVNVJpVkZOeVZCUkNVNVFpVkZOaVU1UmlWQk5TVkZOU1ZDUWlWQ1FTVkZPQ1ZCUlNWQlJTVXlNaVUzUkNVMVJDVXlReVV5TW1GdVkyaHZjbk1sTWpJbE0wRWxOVUlsTjBJbE1qSjRKVEl5SlROQkpUSXlkeVV5UmpJbE1qSWxNa01sTWpKNUpUSXlKVE5CSlRJeU1DVXlNaVUzUkNVeVF5VTNRaVV5TW5nbE1qSWxNMEVsTWpKM0pUSkdNaVV5TWlVeVF5VXlNbmtsTWpJbE0wRWxNakpvSlRJeUpUZEVKVEpESlRkQ0pUSXllQ1V5TWlVelFTVXlNakFsTWpJbE1rTWxNako1SlRJeUpUTkJKVEl5YUNVeVJqSWxNaklsTjBRbE1rTWxOMElsTWpKNEpUSXlKVE5CSlRJeWR5VXlNaVV5UXlVeU1ua2xNaklsTTBFbE1qSm9KVEpHTWlVeU1pVTNSQ1UxUkNVeVF5VXlNbVp2Ym5SVGRIbHNaU1V5TWlVelFTVTNRaVV5TW1admJuUkdZVzFwYkhrbE1qSWxNMEVsTWpJbFJUVWxRa1VsUVVVbFJUZ2xRa1FsUVVZbFJUa2xPVUlsT0RVbFJUa2xRa0lsT1RFbE1qSWxOMFFsTWtNbE1qSjBhWFJzWlNVeU1pVXpRU1V5TWlWRk5TVkNReVU0TUNWRk5TVkJOeVU0UWlVeVJpVkZOeVZDUWlVNU15VkZOaVU1UkNVNVJpVXlNaVV5UXlVeU1tUmhkR0ZCZEhSeWFXSjFkR1Z6SlRJeUpUTkJKVFZDSlRkQ0pUSXlibUZ0WlNVeU1pVXpRU1V5TWlWRk5TVkNRU1U0UmlWRk5TVTRSaVZDTnlVeU1pVXlReVV5TW1sa0pUSXlKVE5CSlRJeU1UVmpOMk15Tm1ObVltSTNNRElsTWpJbE1rTWxNakpqWVhSbFoyOXllU1V5TWlVelFTVXlNbVJsWm1GMWJIUWxNaklsTWtNbE1qSjBlWEJsSlRJeUpUTkJKVEl5Ym5WdFltVnlKVEl5SlRKREpUSXlkbUZzZFdVbE1qSWxNMEVsTWpJbE1qSWxOMFFsTWtNbE4wSWxNakp1WVcxbEpUSXlKVE5CSlRJeUpVVTFKVGt3SlRoRUpVVTNKVUUzSlVJd0pUSXlKVEpESlRJeWFXUWxNaklsTTBFbE1qSXhOV00zWXpJMlkyWmlZalUyTVNVeU1pVXlReVV5TW1OaGRHVm5iM0o1SlRJeUpUTkJKVEl5WkdWbVlYVnNkQ1V5TWlVeVF5VXlNblI1Y0dVbE1qSWxNMEVsTWpKemRISnBibWNsTWpJbE1rTWxNakoyWVd4MVpTVXlNaVV6UVNVeU1pVXlNaVUzUkNVeVF5VTNRaVV5TW01aGJXVWxNaklsTTBFbE1qSWxSVFlsT0RrbE9EQWxSVFlsT1VNbE9Ea2xSVGdsT0RBbE9EVWxNaklsTWtNbE1qSnBaQ1V5TWlVelFTVXlNakUxWXpkak1qWmpabUppWW1GaEpUSXlKVEpESlRJeVkyRjBaV2R2Y25rbE1qSWxNMEVsTWpKa1pXWmhkV3gwSlRJeUpUSkRKVEl5ZEhsd1pTVXlNaVV6UVNVeU1uTjBjbWx1WnlVeU1pVXlReVV5TW5aaGJIVmxKVEl5SlROQkpUSXlKVEl5SlRkRUpUSkRKVGRDSlRJeWJtRnRaU1V5TWlVelFTVXlNaVZGT0NWQ1JpVTVSU1ZGTmlVNFJTVkJOU1V5TWlVeVF5VXlNbWxrSlRJeUpUTkJKVEl5TVRWak4yTXlObU5tWW1Ka04yUWxNaklsTWtNbE1qSmpZWFJsWjI5eWVTVXlNaVV6UVNVeU1tUmxabUYxYkhRbE1qSWxNa01sTWpKMGVYQmxKVEl5SlROQkpUSXliR2x1YXlVeU1pVXlReVV5TW5aaGJIVmxKVEl5SlROQkpUSXlKVEl5SlRkRUpUSkRKVGRDSlRJeWJtRnRaU1V5TWlVelFTVXlNaVZGTkNWQ1JTVkNSaVZGTnlWQlF5VkNRU1V5TWlVeVF5VXlNbWxrSlRJeUpUTkJKVEl5TVRWak4yTXlObU5tWW1KbFptRWxNaklsTWtNbE1qSmpZWFJsWjI5eWVTVXlNaVV6UVNVeU1tUmxabUYxYkhRbE1qSWxNa01sTWpKMGVYQmxKVEl5SlROQkpUSXljM1J5YVc1bkpUSXlKVEpESlRJeWRtRnNkV1VsTWpJbE0wRWxNaklsTWpJbE4wUWxNa01sTjBJbE1qSnVZVzFsSlRJeUpUTkJKVEl5SlVVMkpUZzRKVGt3SlVVMkpUbERKVUZESlRJeUpUSkRKVEl5YVdRbE1qSWxNMEVsTWpJeE5XTTNZekkyWTJaaVltUmxOU1V5TWlVeVF5VXlNbU5oZEdWbmIzSjVKVEl5SlROQkpUSXlaR1ZtWVhWc2RDVXlNaVV5UXlVeU1uUjVjR1VsTWpJbE0wRWxNakp1ZFcxaVpYSWxNaklsTWtNbE1qSjJZV3gxWlNVeU1pVXpRU1V5TWlVeU1pVTNSQ1V5UXlVM1FpVXlNbTVoYldVbE1qSWxNMEVsTWpJbFJUWWxPVGNsUWpZbFJUa2xPVGNsUWpRbE1qSWxNa01sTWpKcFpDVXlNaVV6UVNVeU1qRTFZemRqTWpaalptSmlORGcySlRJeUpUSkRKVEl5WTJGMFpXZHZjbmtsTWpJbE0wRWxNakprWldaaGRXeDBKVEl5SlRKREpUSXlkSGx3WlNVeU1pVXpRU1V5TW01MWJXSmxjaVV5TWlVeVF5VXlNblpoYkhWbEpUSXlKVE5CSlRJeUpUSXlKVGRFSlRKREpUZENKVEl5Ym1GdFpTVXlNaVV6UVNVeU1pVkZPU1U0TXlWQk9DVkZPU1U1TnlWQk9DVXlNaVV5UXlVeU1tbGtKVEl5SlROQkpUSXlNVFZqTjJNeU5tTm1ZbUkyTlRnbE1qSWxNa01sTWpKallYUmxaMjl5ZVNVeU1pVXpRU1V5TW1SbFptRjFiSFFsTWpJbE1rTWxNakowZVhCbEpUSXlKVE5CSlRJeWMzUnlhVzVuSlRJeUpUSkRKVEl5ZG1Gc2RXVWxNaklsTTBFbE1qSWxNaklsTjBRbE1rTWxOMElsTWpKdVlXMWxKVEl5SlROQkpUSXlKVVU0SlVKRkpUa3pKVVUxSlRnMUpVRTFKVEl5SlRKREpUSXlhV1FsTWpJbE0wRWxNakl4TldNM1l6STJZMlppWW1Zd1pDVXlNaVV5UXlVeU1tTmhkR1ZuYjNKNUpUSXlKVE5CSlRJeVpHVm1ZWFZzZENVeU1pVXlReVV5TW5SNWNHVWxNaklsTTBFbE1qSnpkSEpwYm1jbE1qSWxNa01sTWpKMllXeDFaU1V5TWlVelFTVXlNaVV5TWlVM1JDVXlReVUzUWlVeU1tNWhiV1VsTWpJbE0wRWxNaklsUlRnbFFrVWxPVE1sUlRVbE9EY2xRa0VsTWpJbE1rTWxNakpwWkNVeU1pVXpRU1V5TWpFMVl6ZGpNalpqWm1KaVpqSXlKVEl5SlRKREpUSXlZMkYwWldkdmNua2xNaklsTTBFbE1qSmtaV1poZFd4MEpUSXlKVEpESlRJeWRIbHdaU1V5TWlVelFTVXlNbk4wY21sdVp5VXlNaVV5UXlVeU1uWmhiSFZsSlRJeUpUTkJKVEl5SlRJeUpUZEVKVEpESlRkQ0pUSXlibUZ0WlNVeU1pVXpRU1V5TWlWRk9TVkJNeVU0UlNWRk9TVTVPU1ZCT1NVeU1pVXlReVV5TW1sa0pUSXlKVE5CSlRJeU1UVmpOMk15Tm1ObVltSTFPVElsTWpJbE1rTWxNakpqWVhSbFoyOXllU1V5TWlVelFTVXlNbVJsWm1GMWJIUWxNaklsTWtNbE1qSjBlWEJsSlRJeUpUTkJKVEl5YzNSeWFXNW5KVEl5SlRKREpUSXlkbUZzZFdVbE1qSWxNMEVsTWpJbE1qSWxOMFFsTWtNbE4wSWxNakp1WVcxbEpUSXlKVE5CSlRJeUpVVTFKVUUwSlRnM0pVVTJKVUl6SlVFNEpUSXlKVEpESlRJeWFXUWxNaklsTTBFbE1qSXhOV00zWXpJMlkyWmlZbU15T1NVeU1pVXlReVV5TW1OaGRHVm5iM0o1SlRJeUpUTkJKVEl5WkdWbVlYVnNkQ1V5TWlVeVF5VXlNblI1Y0dVbE1qSWxNMEVsTWpKemRISnBibWNsTWpJbE1rTWxNakoyWVd4MVpTVXlNaVV6UVNVeU1pVXlNaVUzUkNVMVJDVXlReVV5TW5CeWIzQnpKVEl5SlROQkpUZENKVEl5ZW1sdVpHVjRKVEl5SlROQk5TVXlReVV5TW5jbE1qSWxNMEV4TXpJbE1rTWxNakpvSlRJeUpUTkJORFFsTWtNbE1qSjRKVEl5SlROQk5UTWxNa01sTWpKNUpUSXlKVE5CTXpRNEpUSkRKVEl5WVc1bmJHVWxNaklsTTBFd0pUZEVKVEpESlRJeWNHRjBhQ1V5TWlVelFTVTFRaVUzUWlVeU1tRmpkR2x2Ym5NbE1qSWxNMEVsTlVJbE4wSWxNako0SlRJeUpUTkJKVEl5VFdGMGFDNXRhVzRvZHlVeVEyZ3BKVEpHTXlVeU1pVXlReVV5TW1GamRHbHZiaVV5TWlVelFTVXlNbTF2ZG1VbE1qSWxNa01sTWpKNUpUSXlKVE5CSlRJeU1DVXlNaVUzUkNVeVF5VTNRaVV5TW5nbE1qSWxNMEVsTWpKM0xVMWhkR2d1YldsdUtIY2xNa05vS1NVeVJqTWxNaklsTWtNbE1qSmhZM1JwYjI0bE1qSWxNMEVsTWpKc2FXNWxKVEl5SlRKREpUSXllU1V5TWlVelFTVXlNakFsTWpJbE4wUWxNa01sTjBJbE1qSjVNU1V5TWlVelFTVXlNakFsTWpJbE1rTWxNako0SlRJeUpUTkJKVEl5ZHkxTllYUm9MbTFwYmloM0pUSkRhQ2tsTWtZekpUSXlKVEpESlRJeVlXTjBhVzl1SlRJeUpUTkJKVEl5WTNWeWRtVWxNaklsTWtNbE1qSjVNaVV5TWlVelFTVXlNbWdsTWpJbE1rTWxNako1SlRJeUpUTkJKVEl5YUNVeU1pVXlReVV5TW5neEpUSXlKVE5CSlRJeWR5VXlRazFoZEdndWJXbHVLSGNsTWtOb0tTVXlSak1sTWtZekpUSXlKVEpESlRJeWVESWxNaklsTTBFbE1qSjNKVEpDVFdGMGFDNXRhVzRvZHlVeVEyZ3BKVEpHTXlVeVJqTWxNaklsTjBRbE1rTWxOMElsTWpKNEpUSXlKVE5CSlRJeVRXRjBhQzV0YVc0b2R5VXlRMmdwSlRKR015VXlNaVV5UXlVeU1tRmpkR2x2YmlVeU1pVXpRU1V5TW14cGJtVWxNaklsTWtNbE1qSjVKVEl5SlROQkpUSXlhQ1V5TWlVM1JDVXlReVUzUWlVeU1ua3hKVEl5SlROQkpUSXlhQ1V5TWlVeVF5VXlNbmdsTWpJbE0wRWxNakpOWVhSb0xtMXBiaWgzSlRKRGFDa2xNa1l6SlRJeUpUSkRKVEl5WVdOMGFXOXVKVEl5SlROQkpUSXlZM1Z5ZG1VbE1qSWxNa01sTWpKNU1pVXlNaVV6UVNVeU1qQWxNaklsTWtNbE1qSjVKVEl5SlROQkpUSXlNQ1V5TWlVeVF5VXlNbmd4SlRJeUpUTkJKVEl5TFUxaGRHZ3ViV2x1S0hjbE1rTm9LU1V5UmpNbE1rWXpKVEl5SlRKREpUSXllRElsTWpJbE0wRWxNakl0VFdGMGFDNXRhVzRvZHlVeVEyZ3BKVEpHTXlVeVJqTWxNaklsTjBRbE1rTWxOMElsTWpKaFkzUnBiMjRsTWpJbE0wRWxNakpqYkc5elpTVXlNaVUzUkNVMVJDVTNSQ1UxUkNVeVF5VXlNbXhwYm1WVGRIbHNaU1V5TWlVelFTVTNRaVUzUkNVeVF5VXlNbU5vYVd4a2NtVnVKVEl5SlROQkpUVkNKVFZFSlRKREpUSXljbVZ6YVhwbFJHbHlKVEl5SlROQkpUVkNKVEl5ZEd3bE1qSWxNa01sTWpKMGNpVXlNaVV5UXlVeU1tSnlKVEl5SlRKREpUSXlZbXdsTWpJbE5VUWxNa01sTWpKdVlXMWxKVEl5SlROQkpUSXlkR1Z5YldsdVlYUnZjaVV5TWlVeVF5VXlNbVpwYkd4VGRIbHNaU1V5TWlVelFTVTNRaVV5TW1OdmJHOXlKVEl5SlROQkpUSXlNalUxSlRKRE1qVTFKVEpETWpVMUpUSXlKVEpESlRJeWRIbHdaU1V5TWlVelFTVXlNbk52Ykdsa0pUSXlKVGRFSlRKREpUSXlZWFIwY21saWRYUmxKVEl5SlROQkpUZENKVEl5WTI5dWRHRnBibVZ5SlRJeUpUTkJabUZzYzJVbE1rTWxNakp5YjNSaGRHRmliR1VsTWpJbE0wRjBjblZsSlRKREpUSXlkbWx6YVdKc1pTVXlNaVV6UVhSeWRXVWxNa01sTWpKamIyeHNZWEJ6WVdKc1pTVXlNaVV6UVdaaGJITmxKVEpESlRJeVkyOXNiR0Z3YzJWa0pUSXlKVE5CWm1Gc2MyVWxNa01sTWpKc2FXNXJZV0pzWlNVeU1pVXpRWFJ5ZFdVbE1rTWxNakp0WVhKclpYSlBabVp6WlhRbE1qSWxNMEUxSlRkRUpUSkRKVEl5YVdRbE1qSWxNMEVsTWpJeE5XTTNZekkyWTJVek9UUTVKVEl5SlRKREpUSXlZMkYwWldkdmNua2xNaklsTTBFbE1qSm1iRzkzSlRJeUpUSkRKVEl5Ykc5amEyVmtKVEl5SlROQlptRnNjMlVsTWtNbE1qSm5jbTkxY0NVeU1pVXpRU1V5TWlVeU1pVTNSQ1V5UXlVeU1qRTFZemRqTWpVNFpHVXdNamhpSlRJeUpUTkJKVGRDSlRJeWNHRnlaVzUwSlRJeUpUTkJKVEl5SlRJeUpUSkRKVEl5YkdsdWF5VXlNaVV6UVNVeU1pVXlNaVV5UXlVeU1uTm9ZWEJsVTNSNWJHVWxNaklsTTBFbE4wSWxNakpoYkhCb1lTVXlNaVV6UVRFbE4wUWxNa01sTWpKMFpYaDBRbXh2WTJzbE1qSWxNMEVsTlVJbE4wSWxNakp3YjNOcGRHbHZiaVV5TWlVelFTVTNRaVV5TW5jbE1qSWxNMEVsTWpKM0xUSXdKVEl5SlRKREpUSXlhQ1V5TWlVelFTVXlNbWdsTWpJbE1rTWxNako0SlRJeUpUTkJNVEFsTWtNbE1qSjVKVEl5SlROQk1DVTNSQ1V5UXlVeU1uUmxlSFFsTWpJbE0wRWxNaklsUlRjbE9UUWxRVGdsUlRZbE9EZ2xRamNsUlRnbFFrVWxPVE1sUlRVbE9EVWxRVFVsUlRRbFFrUWxPVE1sUlRZbFFUTWxPREFsUlRZbE9FTWxPRGNsUlRZbFFUQWxPRGNsTWpJbE4wUWxOVVFsTWtNbE1qSmhibU5vYjNKekpUSXlKVE5CSlRWQ0pUZENKVEl5ZUNVeU1pVXpRU1V5TW5jbE1rWXlKVEl5SlRKREpUSXllU1V5TWlVelFTVXlNakFsTWpJbE4wUWxNa01sTjBJbE1qSjRKVEl5SlROQkpUSXlkeVV5UmpJbE1qSWxNa01sTWpKNUpUSXlKVE5CSlRJeWFDVXlNaVUzUkNVeVF5VTNRaVV5TW5nbE1qSWxNMEVsTWpJd0pUSXlKVEpESlRJeWVTVXlNaVV6UVNVeU1tZ2xNa1l5SlRJeUpUZEVKVEpESlRkQ0pUSXllQ1V5TWlVelFTVXlNbmNsTWpJbE1rTWxNako1SlRJeUpUTkJKVEl5YUNVeVJqSWxNaklsTjBRbE5VUWxNa01sTWpKbWIyNTBVM1I1YkdVbE1qSWxNMEVsTjBJbE1qSm1iMjUwUm1GdGFXeDVKVEl5SlROQkpUSXlKVVUxSlVKRkpVRkZKVVU0SlVKRUpVRkdKVVU1SlRsQ0pUZzFKVVU1SlVKQ0pUa3hKVEl5SlRkRUpUSkRKVEl5ZEdsMGJHVWxNaklsTTBFbE1qSWxSVFVsUWtNbE9EQWxSVFVsUVRjbE9FSWxNa1lsUlRjbFFrSWxPVE1sUlRZbE9VUWxPVVlsTWpJbE1rTWxNakprWVhSaFFYUjBjbWxpZFhSbGN5VXlNaVV6UVNVMVFpVTNRaVV5TW01aGJXVWxNaklsTTBFbE1qSWxSVFVsUWtFbE9FWWxSVFVsT0VZbFFqY2xNaklsTWtNbE1qSnBaQ1V5TWlVelFTVXlNakUxWXpkak1qVTRaR1V3WldFekpUSXlKVEpESlRJeVkyRjBaV2R2Y25rbE1qSWxNMEVsTWpKa1pXWmhkV3gwSlRJeUpUSkRKVEl5ZEhsd1pTVXlNaVV6UVNVeU1tNTFiV0psY2lVeU1pVXlReVV5TW5aaGJIVmxKVEl5SlROQkpUSXlKVEl5SlRkRUpUSkRKVGRDSlRJeWJtRnRaU1V5TWlVelFTVXlNaVZGTlNVNU1DVTRSQ1ZGTnlWQk55VkNNQ1V5TWlVeVF5VXlNbWxrSlRJeUpUTkJKVEl5TVRWak4yTXlOVGhrWlRBMU5qRWxNaklsTWtNbE1qSmpZWFJsWjI5eWVTVXlNaVV6UVNVeU1tUmxabUYxYkhRbE1qSWxNa01sTWpKMGVYQmxKVEl5SlROQkpUSXljM1J5YVc1bkpUSXlKVEpESlRJeWRtRnNkV1VsTWpJbE0wRWxNaklsTWpJbE4wUWxNa01sTjBJbE1qSnVZVzFsSlRJeUpUTkJKVEl5SlVVMkpUZzVKVGd3SlVVMkpUbERKVGc1SlVVNEpUZ3dKVGcxSlRJeUpUSkRKVEl5YVdRbE1qSWxNMEVsTWpJeE5XTTNZekkxT0dSbE1ESXlaQ1V5TWlVeVF5VXlNbU5oZEdWbmIzSjVKVEl5SlROQkpUSXlaR1ZtWVhWc2RDVXlNaVV5UXlVeU1uUjVjR1VsTWpJbE0wRWxNakp6ZEhKcGJtY2xNaklsTWtNbE1qSjJZV3gxWlNVeU1pVXpRU1V5TWlVeU1pVTNSQ1V5UXlVM1FpVXlNbTVoYldVbE1qSWxNMEVsTWpJbFJUZ2xRa1lsT1VVbFJUWWxPRVVsUVRVbE1qSWxNa01sTWpKcFpDVXlNaVV6UVNVeU1qRTFZemRqTWpVNFpHVXdNV1pqSlRJeUpUSkRKVEl5WTJGMFpXZHZjbmtsTWpJbE0wRWxNakprWldaaGRXeDBKVEl5SlRKREpUSXlkSGx3WlNVeU1pVXpRU1V5TW14cGJtc2xNaklsTWtNbE1qSjJZV3gxWlNVeU1pVXpRU1V5TWlVeU1pVTNSQ1V5UXlVM1FpVXlNbTVoYldVbE1qSWxNMEVsTWpJbFJUUWxRa1VsUWtZbFJUY2xRVU1sUWtFbE1qSWxNa01sTWpKcFpDVXlNaVV6UVNVeU1qRTFZemRqTWpVNFpHVXdZVFUwSlRJeUpUSkRKVEl5WTJGMFpXZHZjbmtsTWpJbE0wRWxNakprWldaaGRXeDBKVEl5SlRKREpUSXlkSGx3WlNVeU1pVXpRU1V5TW5OMGNtbHVaeVV5TWlVeVF5VXlNblpoYkhWbEpUSXlKVE5CSlRJeUpUSXlKVGRFSlRKREpUZENKVEl5Ym1GdFpTVXlNaVV6UVNVeU1pVkZOaVU0T0NVNU1DVkZOaVU1UXlWQlF5VXlNaVV5UXlVeU1tbGtKVEl5SlROQkpUSXlNVFZqTjJNeU5UaGtaVEE1T1RnbE1qSWxNa01sTWpKallYUmxaMjl5ZVNVeU1pVXpRU1V5TW1SbFptRjFiSFFsTWpJbE1rTWxNakowZVhCbEpUSXlKVE5CSlRJeWJuVnRZbVZ5SlRJeUpUSkRKVEl5ZG1Gc2RXVWxNaklsTTBFbE1qSWxNaklsTjBRbE1rTWxOMElsTWpKdVlXMWxKVEl5SlROQkpUSXlKVVUySlRrM0pVSTJKVVU1SlRrM0pVSTBKVEl5SlRKREpUSXlhV1FsTWpJbE0wRWxNakl4TldNM1l6STFPR1JsTURKa055VXlNaVV5UXlVeU1tTmhkR1ZuYjNKNUpUSXlKVE5CSlRJeVpHVm1ZWFZzZENVeU1pVXlReVV5TW5SNWNHVWxNaklsTTBFbE1qSnVkVzFpWlhJbE1qSWxNa01sTWpKMllXeDFaU1V5TWlVelFTVXlNaVV5TWlVM1JDVXlReVUzUWlVeU1tNWhiV1VsTWpJbE0wRWxNaklsUlRrbE9ETWxRVGdsUlRrbE9UY2xRVGdsTWpJbE1rTWxNakpwWkNVeU1pVXpRU1V5TWpFMVl6ZGpNalU0WkdVd05EZGpKVEl5SlRKREpUSXlZMkYwWldkdmNua2xNaklsTTBFbE1qSmtaV1poZFd4MEpUSXlKVEpESlRJeWRIbHdaU1V5TWlVelFTVXlNbk4wY21sdVp5VXlNaVV5UXlVeU1uWmhiSFZsSlRJeUpUTkJKVEl5SlRJeUpUZEVKVEpESlRkQ0pUSXlibUZ0WlNVeU1pVXpRU1V5TWlWRk9DVkNSU1U1TXlWRk5TVTROU1ZCTlNVeU1pVXlReVV5TW1sa0pUSXlKVE5CSlRJeU1UVmpOMk15TlRoa1pUQXhaVEVsTWpJbE1rTWxNakpqWVhSbFoyOXllU1V5TWlVelFTVXlNbVJsWm1GMWJIUWxNaklsTWtNbE1qSjBlWEJsSlRJeUpUTkJKVEl5YzNSeWFXNW5KVEl5SlRKREpUSXlkbUZzZFdVbE1qSWxNMEVsTWpJbE1qSWxOMFFsTWtNbE4wSWxNakp1WVcxbEpUSXlKVE5CSlRJeUpVVTRKVUpGSlRrekpVVTFKVGczSlVKQkpUSXlKVEpESlRJeWFXUWxNaklsTTBFbE1qSXhOV00zWXpJMU9HUmxNREkyTlNVeU1pVXlReVV5TW1OaGRHVm5iM0o1SlRJeUpUTkJKVEl5WkdWbVlYVnNkQ1V5TWlVeVF5VXlNblI1Y0dVbE1qSWxNMEVsTWpKemRISnBibWNsTWpJbE1rTWxNakoyWVd4MVpTVXlNaVV6UVNVeU1pVXlNaVUzUkNVeVF5VTNRaVV5TW01aGJXVWxNaklsTTBFbE1qSWxSVGtsUVRNbE9FVWxSVGtsT1RrbFFUa2xNaklsTWtNbE1qSnBaQ1V5TWlVelFTVXlNakUxWXpkak1qVTRaR1V3WlRJMUpUSXlKVEpESlRJeVkyRjBaV2R2Y25rbE1qSWxNMEVsTWpKa1pXWmhkV3gwSlRJeUpUSkRKVEl5ZEhsd1pTVXlNaVV6UVNVeU1uTjBjbWx1WnlVeU1pVXlReVV5TW5aaGJIVmxKVEl5SlROQkpUSXlKVEl5SlRkRUpUSkRKVGRDSlRJeWJtRnRaU1V5TWlVelFTVXlNaVZGTlNWQk5DVTROeVZGTmlWQ015VkJPQ1V5TWlVeVF5VXlNbWxrSlRJeUpUTkJKVEl5TVRWak4yTXlOVGhrWlRBMU5EWWxNaklsTWtNbE1qSmpZWFJsWjI5eWVTVXlNaVV6UVNVeU1tUmxabUYxYkhRbE1qSWxNa01sTWpKMGVYQmxKVEl5SlROQkpUSXljM1J5YVc1bkpUSXlKVEpESlRJeWRtRnNkV1VsTWpJbE0wRWxNaklsTWpJbE4wUWxOVVFsTWtNbE1qSndjbTl3Y3lVeU1pVXpRU1UzUWlVeU1ucHBibVJsZUNVeU1pVXpRVEVsTWtNbE1qSjNKVEl5SlROQk1UTTJKVEpESlRJeWFDVXlNaVV6UVRVMkpUSkRKVEl5ZUNVeU1pVXpRVFV4SlRKREpUSXllU1V5TWlVelFUUXlKVEpESlRJeVlXNW5iR1VsTWpJbE0wRXdKVGRFSlRKREpUSXljR0YwYUNVeU1pVXpRU1UxUWlVM1FpVXlNbUZqZEdsdmJuTWxNaklsTTBFbE5VSWxOMElsTWpKNEpUSXlKVE5CSlRJeVRXRjBhQzV0YVc0b2R5VXlRMmdwSlRKR015VXlNaVV5UXlVeU1tRmpkR2x2YmlVeU1pVXpRU1V5TW0xdmRtVWxNaklsTWtNbE1qSjVKVEl5SlROQkpUSXlNQ1V5TWlVM1JDVXlReVUzUWlVeU1uZ2xNaklsTTBFbE1qSjNMVTFoZEdndWJXbHVLSGNsTWtOb0tTVXlSak1sTWpJbE1rTWxNakpoWTNScGIyNGxNaklsTTBFbE1qSnNhVzVsSlRJeUpUSkRKVEl5ZVNVeU1pVXpRU1V5TWpBbE1qSWxOMFFsTWtNbE4wSWxNako1TVNVeU1pVXpRU1V5TWpBbE1qSWxNa01sTWpKNEpUSXlKVE5CSlRJeWR5MU5ZWFJvTG0xcGJpaDNKVEpEYUNrbE1rWXpKVEl5SlRKREpUSXlZV04wYVc5dUpUSXlKVE5CSlRJeVkzVnlkbVVsTWpJbE1rTWxNako1TWlVeU1pVXpRU1V5TW1nbE1qSWxNa01sTWpKNUpUSXlKVE5CSlRJeWFDVXlNaVV5UXlVeU1uZ3hKVEl5SlROQkpUSXlkeVV5UWsxaGRHZ3ViV2x1S0hjbE1rTm9LU1V5UmpNbE1rWXpKVEl5SlRKREpUSXllRElsTWpJbE0wRWxNakozSlRKQ1RXRjBhQzV0YVc0b2R5VXlRMmdwSlRKR015VXlSak1sTWpJbE4wUWxNa01sTjBJbE1qSjRKVEl5SlROQkpUSXlUV0YwYUM1dGFXNG9keVV5UTJncEpUSkdNeVV5TWlVeVF5VXlNbUZqZEdsdmJpVXlNaVV6UVNVeU1teHBibVVsTWpJbE1rTWxNako1SlRJeUpUTkJKVEl5YUNVeU1pVTNSQ1V5UXlVM1FpVXlNbmt4SlRJeUpUTkJKVEl5YUNVeU1pVXlReVV5TW5nbE1qSWxNMEVsTWpKTllYUm9MbTFwYmloM0pUSkRhQ2tsTWtZekpUSXlKVEpESlRJeVlXTjBhVzl1SlRJeUpUTkJKVEl5WTNWeWRtVWxNaklsTWtNbE1qSjVNaVV5TWlVelFTVXlNakFsTWpJbE1rTWxNako1SlRJeUpUTkJKVEl5TUNVeU1pVXlReVV5TW5neEpUSXlKVE5CSlRJeUxVMWhkR2d1YldsdUtIY2xNa05vS1NVeVJqTWxNa1l6SlRJeUpUSkRKVEl5ZURJbE1qSWxNMEVsTWpJdFRXRjBhQzV0YVc0b2R5VXlRMmdwSlRKR015VXlSak1sTWpJbE4wUWxNa01sTjBJbE1qSmhZM1JwYjI0bE1qSWxNMEVsTWpKamJHOXpaU1V5TWlVM1JDVTFSQ1UzUkNVMVJDVXlReVV5TW14cGJtVlRkSGxzWlNVeU1pVXpRU1UzUWlVM1JDVXlReVV5TW1Ob2FXeGtjbVZ1SlRJeUpUTkJKVFZDSlRWRUpUSkRKVEl5Y21WemFYcGxSR2x5SlRJeUpUTkJKVFZDSlRJeWRHd2xNaklsTWtNbE1qSjBjaVV5TWlVeVF5VXlNbUp5SlRJeUpUSkRKVEl5WW13bE1qSWxOVVFsTWtNbE1qSnVZVzFsSlRJeUpUTkJKVEl5ZEdWeWJXbHVZWFJ2Y2lVeU1pVXlReVV5TW1acGJHeFRkSGxzWlNVeU1pVXpRU1UzUWlVeU1tTnZiRzl5SlRJeUpUTkJKVEl5TWpVMUpUSkRNalUxSlRKRE1qVTFKVEl5SlRKREpUSXlkSGx3WlNVeU1pVXpRU1V5TW5OdmJHbGtKVEl5SlRkRUpUSkRKVEl5WVhSMGNtbGlkWFJsSlRJeUpUTkJKVGRDSlRJeVkyOXVkR0ZwYm1WeUpUSXlKVE5CWm1Gc2MyVWxNa01sTWpKeWIzUmhkR0ZpYkdVbE1qSWxNMEYwY25WbEpUSkRKVEl5ZG1semFXSnNaU1V5TWlVelFYUnlkV1VsTWtNbE1qSmpiMnhzWVhCellXSnNaU1V5TWlVelFXWmhiSE5sSlRKREpUSXlZMjlzYkdGd2MyVmtKVEl5SlROQlptRnNjMlVsTWtNbE1qSnNhVzVyWVdKc1pTVXlNaVV6UVhSeWRXVWxNa01sTWpKdFlYSnJaWEpQWm1aelpYUWxNaklsTTBFMUpUZEVKVEpESlRJeWFXUWxNaklsTTBFbE1qSXhOV00zWXpJMU9HUmxNREk0WWlVeU1pVXlReVV5TW1OaGRHVm5iM0o1SlRJeUpUTkJKVEl5Wm14dmR5VXlNaVV5UXlVeU1teHZZMnRsWkNVeU1pVXpRV1poYkhObEpUSkRKVEl5WjNKdmRYQWxNaklsTTBFbE1qSWxNaklsTjBRbE1rTWxNakl4TldNM1l6STFPV1F6WXpJeE5DVXlNaVV6UVNVM1FpVXlNbkJoY21WdWRDVXlNaVV6UVNVeU1pVXlNaVV5UXlVeU1teHBibXNsTWpJbE0wRWxNaklsTWpJbE1rTWxNakp6YUdGd1pWTjBlV3hsSlRJeUpUTkJKVGRDSlRJeVlXeHdhR0VsTWpJbE0wRXhKVGRFSlRKREpUSXlkR1Y0ZEVKc2IyTnJKVEl5SlROQkpUVkNKVGRDSlRJeWNHOXphWFJwYjI0bE1qSWxNMEVsTjBJbE1qSjNKVEl5SlROQkpUSXlkeTB5TUNVeU1pVXlReVV5TW1nbE1qSWxNMEVsTWpKb0pUSXlKVEpESlRJeWVDVXlNaVV6UVRFd0pUSkRKVEl5ZVNVeU1pVXpRVEFsTjBRbE1rTWxNakowWlhoMEpUSXlKVE5CSlRJeUpVVTJKVGxESlVKQkpVVTFKVGs1SlVFNEpVVTFKVUZFSlVFMkpVVTBKVUk1SlVFd0pVVTJKVUU0SlVFeEpVVTFKVGxGSlRoQ0pVVTFKVGc0SlRnMkpVVTJKVGxGSlRrd0pUSXlKVGRFSlRWRUpUSkRKVEl5WVc1amFHOXljeVV5TWlVelFTVTFRaVUzUWlVeU1uZ2xNaklsTTBFbE1qSjNKVEpHTWlVeU1pVXlReVV5TW5rbE1qSWxNMEVsTWpJd0pUSXlKVGRFSlRKREpUZENKVEl5ZUNVeU1pVXpRU1V5TW5jbE1rWXlKVEl5SlRKREpUSXllU1V5TWlVelFTVXlNbWdsTWpJbE4wUWxNa01sTjBJbE1qSjRKVEl5SlROQkpUSXlNQ1V5TWlVeVF5VXlNbmtsTWpJbE0wRWxNakpvSlRKR01pVXlNaVUzUkNVeVF5VTNRaVV5TW5nbE1qSWxNMEVsTWpKM0pUSXlKVEpESlRJeWVTVXlNaVV6UVNVeU1tZ2xNa1l5SlRJeUpUZEVKVFZFSlRKREpUSXlabTl1ZEZOMGVXeGxKVEl5SlROQkpUZENKVEl5Wm05dWRFWmhiV2xzZVNVeU1pVXpRU1V5TWlWRk5TVkNSU1ZCUlNWRk9DVkNSQ1ZCUmlWRk9TVTVRaVU0TlNWRk9TVkNRaVU1TVNVeU1pVTNSQ1V5UXlVeU1uUnBkR3hsSlRJeUpUTkJKVEl5SlVVMkpVSTFKVGd4SlVVM0pVRTRKVGhDSlRJeUpUSkRKVEl5WkdGMFlVRjBkSEpwWW5WMFpYTWxNaklsTTBFbE5VSWxOMElsTWpKdVlXMWxKVEl5SlROQkpUSXlKVVUxSlVKQkpUaEdKVVUxSlRoR0pVSTNKVEl5SlRKREpUSXlhV1FsTWpJbE0wRWxNakl4TldNM1l6STFPV1F6WXpGaE15VXlNaVV5UXlVeU1tTmhkR1ZuYjNKNUpUSXlKVE5CSlRJeVpHVm1ZWFZzZENVeU1pVXlReVV5TW5SNWNHVWxNaklsTTBFbE1qSnVkVzFpWlhJbE1qSWxNa01sTWpKMllXeDFaU1V5TWlVelFTVXlNaVV5TWlVM1JDVXlReVUzUWlVeU1tNWhiV1VsTWpJbE0wRWxNaklsUlRVbE9UQWxPRVFsUlRjbFFUY2xRakFsTWpJbE1rTWxNakpwWkNVeU1pVXpRU1V5TWpFMVl6ZGpNalU1WkROak5USXhKVEl5SlRKREpUSXlZMkYwWldkdmNua2xNaklsTTBFbE1qSmtaV1poZFd4MEpUSXlKVEpESlRJeWRIbHdaU1V5TWlVelFTVXlNbk4wY21sdVp5VXlNaVV5UXlVeU1uWmhiSFZsSlRJeUpUTkJKVEl5SlRJeUpUZEVKVEpESlRkQ0pUSXlibUZ0WlNVeU1pVXpRU1V5TWlWRk5pVTRPU1U0TUNWRk5pVTVReVU0T1NWRk9DVTRNQ1U0TlNVeU1pVXlReVV5TW1sa0pUSXlKVE5CSlRJeU1UVmpOMk15TlRsa00yTXpNVFlsTWpJbE1rTWxNakpqWVhSbFoyOXllU1V5TWlVelFTVXlNbVJsWm1GMWJIUWxNaklsTWtNbE1qSjBlWEJsSlRJeUpUTkJKVEl5YzNSeWFXNW5KVEl5SlRKREpUSXlkbUZzZFdVbE1qSWxNMEVsTWpJbE1qSWxOMFFsTWtNbE4wSWxNakp1WVcxbEpUSXlKVE5CSlRJeUpVVTRKVUpHSlRsRkpVVTJKVGhGSlVFMUpUSXlKVEpESlRJeWFXUWxNaklsTTBFbE1qSXhOV00zWXpJMU9XUXpZek16WlNVeU1pVXlReVV5TW1OaGRHVm5iM0o1SlRJeUpUTkJKVEl5WkdWbVlYVnNkQ1V5TWlVeVF5VXlNblI1Y0dVbE1qSWxNMEVsTWpKc2FXNXJKVEl5SlRKREpUSXlkbUZzZFdVbE1qSWxNMEVsTWpJbE1qSWxOMFFsTWtNbE4wSWxNakp1WVcxbEpUSXlKVE5CSlRJeUpVVTBKVUpGSlVKR0pVVTNKVUZESlVKQkpUSXlKVEpESlRJeWFXUWxNaklsTTBFbE1qSXhOV00zWXpJMU9XUXpZek5pT1NVeU1pVXlReVV5TW1OaGRHVm5iM0o1SlRJeUpUTkJKVEl5WkdWbVlYVnNkQ1V5TWlVeVF5VXlNblI1Y0dVbE1qSWxNMEVsTWpKemRISnBibWNsTWpJbE1rTWxNakoyWVd4MVpTVXlNaVV6UVNVeU1pVXlNaVUzUkNVeVF5VTNRaVV5TW01aGJXVWxNaklsTTBFbE1qSWxSVFlsT0RnbE9UQWxSVFlsT1VNbFFVTWxNaklsTWtNbE1qSnBaQ1V5TWlVelFTVXlNakUxWXpkak1qVTVaRE5qTVdJeEpUSXlKVEpESlRJeVkyRjBaV2R2Y25rbE1qSWxNMEVsTWpKa1pXWmhkV3gwSlRJeUpUSkRKVEl5ZEhsd1pTVXlNaVV6UVNVeU1tNTFiV0psY2lVeU1pVXlReVV5TW5aaGJIVmxKVEl5SlROQkpUSXlKVEl5SlRkRUpUSkRKVGRDSlRJeWJtRnRaU1V5TWlVelFTVXlNaVZGTmlVNU55VkNOaVZGT1NVNU55VkNOQ1V5TWlVeVF5VXlNbWxrSlRJeUpUTkJKVEl5TVRWak4yTXlOVGxrTTJOaE5XVWxNaklsTWtNbE1qSmpZWFJsWjI5eWVTVXlNaVV6UVNVeU1tUmxabUYxYkhRbE1qSWxNa01sTWpKMGVYQmxKVEl5SlROQkpUSXliblZ0WW1WeUpUSXlKVEpESlRJeWRtRnNkV1VsTWpJbE0wRWxNaklsTWpJbE4wUWxNa01sTjBJbE1qSnVZVzFsSlRJeUpUTkJKVEl5SlVVNUpUZ3pKVUU0SlVVNUpUazNKVUU0SlRJeUpUSkRKVEl5YVdRbE1qSWxNMEVsTWpJeE5XTTNZekkxT1dRell6RTBaU1V5TWlVeVF5VXlNbU5oZEdWbmIzSjVKVEl5SlROQkpUSXlaR1ZtWVhWc2RDVXlNaVV5UXlVeU1uUjVjR1VsTWpJbE0wRWxNakp6ZEhKcGJtY2xNaklsTWtNbE1qSjJZV3gxWlNVeU1pVXpRU1V5TWlVeU1pVTNSQ1V5UXlVM1FpVXlNbTVoYldVbE1qSWxNMEVsTWpJbFJUZ2xRa1VsT1RNbFJUVWxPRFVsUVRVbE1qSWxNa01sTWpKcFpDVXlNaVV6UVNVeU1qRTFZemRqTWpVNVpETmpZVEF4SlRJeUpUSkRKVEl5WTJGMFpXZHZjbmtsTWpJbE0wRWxNakprWldaaGRXeDBKVEl5SlRKREpUSXlkSGx3WlNVeU1pVXpRU1V5TW5OMGNtbHVaeVV5TWlVeVF5VXlNblpoYkhWbEpUSXlKVE5CSlRJeUpUSXlKVGRFSlRKREpUZENKVEl5Ym1GdFpTVXlNaVV6UVNVeU1pVkZPQ1ZDUlNVNU15VkZOU1U0TnlWQ1FTVXlNaVV5UXlVeU1tbGtKVEl5SlROQkpUSXlNVFZqTjJNeU5UbGtNMk5rT1RNbE1qSWxNa01sTWpKallYUmxaMjl5ZVNVeU1pVXpRU1V5TW1SbFptRjFiSFFsTWpJbE1rTWxNakowZVhCbEpUSXlKVE5CSlRJeWMzUnlhVzVuSlRJeUpUSkRKVEl5ZG1Gc2RXVWxNaklsTTBFbE1qSWxNaklsTjBRbE1rTWxOMElsTWpKdVlXMWxKVEl5SlROQkpUSXlKVVU1SlVFekpUaEZKVVU1SlRrNUpVRTVKVEl5SlRKREpUSXlhV1FsTWpJbE0wRWxNakl4TldNM1l6STFPV1F6WTJKak5TVXlNaVV5UXlVeU1tTmhkR1ZuYjNKNUpUSXlKVE5CSlRJeVpHVm1ZWFZzZENVeU1pVXlReVV5TW5SNWNHVWxNaklsTTBFbE1qSnpkSEpwYm1jbE1qSWxNa01sTWpKMllXeDFaU1V5TWlVelFTVXlNaVV5TWlVM1JDVXlReVUzUWlVeU1tNWhiV1VsTWpJbE0wRWxNaklsUlRVbFFUUWxPRGNsUlRZbFFqTWxRVGdsTWpJbE1rTWxNakpwWkNVeU1pVXpRU1V5TWpFMVl6ZGpNalU1WkROalpHSTFKVEl5SlRKREpUSXlZMkYwWldkdmNua2xNaklsTTBFbE1qSmtaV1poZFd4MEpUSXlKVEpESlRJeWRIbHdaU1V5TWlVelFTVXlNbk4wY21sdVp5VXlNaVV5UXlVeU1uWmhiSFZsSlRJeUpUTkJKVEl5SlRJeUpUZEVKVFZFSlRKREpUSXljSEp2Y0hNbE1qSWxNMEVsTjBJbE1qSjZhVzVrWlhnbE1qSWxNMEV5SlRKREpUSXlkeVV5TWlVelFURTBNaVV5UXlVeU1tZ2xNaklsTTBFME5DVXlReVV5TW5nbE1qSWxNMEUwT0NVeVF5VXlNbUZ1WjJ4bEpUSXlKVE5CTUNVeVF5VXlNbmtsTWpJbE0wRXhOVElsTjBRbE1rTWxNakp3WVhSb0pUSXlKVE5CSlRWQ0pUZENKVEl5WVdOMGFXOXVjeVV5TWlVelFTVTFRaVUzUWlVeU1uZ2xNaklsTTBFbE1qSXdKVEl5SlRKREpUSXlZV04wYVc5dUpUSXlKVE5CSlRJeWJXOTJaU1V5TWlVeVF5VXlNbmtsTWpJbE0wRWxNakl3SlRJeUpUZEVKVEpESlRkQ0pUSXllQ1V5TWlVelFTVXlNbmNsTWpJbE1rTWxNakpoWTNScGIyNGxNaklsTTBFbE1qSnNhVzVsSlRJeUpUSkRKVEl5ZVNVeU1pVXpRU1V5TWpBbE1qSWxOMFFsTWtNbE4wSWxNako0SlRJeUpUTkJKVEl5ZHlVeU1pVXlReVV5TW1GamRHbHZiaVV5TWlVelFTVXlNbXhwYm1VbE1qSWxNa01sTWpKNUpUSXlKVE5CSlRJeWFDVXlNaVUzUkNVeVF5VTNRaVV5TW5nbE1qSWxNMEVsTWpJd0pUSXlKVEpESlRJeVlXTjBhVzl1SlRJeUpUTkJKVEl5YkdsdVpTVXlNaVV5UXlVeU1ua2xNaklsTTBFbE1qSm9KVEl5SlRkRUpUSkRKVGRDSlRJeVlXTjBhVzl1SlRJeUpUTkJKVEl5WTJ4dmMyVWxNaklsTjBRbE5VUWxOMFFsTlVRbE1rTWxNakpzYVc1bFUzUjViR1VsTWpJbE0wRWxOMElsTjBRbE1rTWxNakpqYUdsc1pISmxiaVV5TWlVelFTVTFRaVUxUkNVeVF5VXlNbkpsYzJsNlpVUnBjaVV5TWlVelFTVTFRaVV5TW5Sc0pUSXlKVEpESlRJeWRISWxNaklsTWtNbE1qSmljaVV5TWlVeVF5VXlNbUpzSlRJeUpUVkVKVEpESlRJeWJtRnRaU1V5TWlVelFTVXlNbkJ5YjJObGMzTWxNaklsTWtNbE1qSm1hV3hzVTNSNWJHVWxNaklsTTBFbE4wSWxNakpqYjJ4dmNpVXlNaVV6UVNVeU1qSTFOU1V5UXpJMU5TVXlRekkxTlNVeU1pVXlReVV5TW5SNWNHVWxNaklsTTBFbE1qSnpiMnhwWkNVeU1pVTNSQ1V5UXlVeU1tRjBkSEpwWW5WMFpTVXlNaVV6UVNVM1FpVXlNbU52Ym5SaGFXNWxjaVV5TWlVelFXWmhiSE5sSlRKREpUSXljbTkwWVhSaFlteGxKVEl5SlROQmRISjFaU1V5UXlVeU1uWnBjMmxpYkdVbE1qSWxNMEYwY25WbEpUSkRKVEl5WTI5c2JHRndjMkZpYkdVbE1qSWxNMEZtWVd4elpTVXlReVV5TW1OdmJHeGhjSE5sWkNVeU1pVXpRV1poYkhObEpUSkRKVEl5YkdsdWEyRmliR1VsTWpJbE0wRjBjblZsSlRKREpUSXliV0Z5YTJWeVQyWm1jMlYwSlRJeUpUTkJOU1UzUkNVeVF5VXlNbWxrSlRJeUpUTkJKVEl5TVRWak4yTXlOVGxrTTJNeU1UUWxNaklsTWtNbE1qSmpZWFJsWjI5eWVTVXlNaVV6UVNVeU1tWnNiM2NsTWpJbE1rTWxNakpzYjJOclpXUWxNaklsTTBGbVlXeHpaU1V5UXlVeU1tZHliM1Z3SlRJeUpUTkJKVEl5SlRJeUpUZEVKVEpESlRJeU1UVmpOMk15TjJKaU5EWm1ZMlVsTWpJbE0wRWxOMElsTWpKbWIyNTBVM1I1YkdVbE1qSWxNMEVsTjBJbE1qSm1iMjUwUm1GdGFXeDVKVEl5SlROQkpUSXlKVVUxSlVKRkpVRkZKVVU0SlVKRUpVRkdKVVU1SlRsQ0pUZzFKVVU1SlVKQ0pUa3hKVEl5SlRkRUpUSkRKVEl5Y0c5cGJuUnpKVEl5SlROQkpUVkNKVGRDSlRJeWVDVXlNaVV6UVRFeE9TVXlReVV5TW5rbE1qSWxNMEV6TWpFbE4wUWxNa01sTjBJbE1qSjRKVEl5SlROQk1URTVKVEpESlRJeWVTVXlNaVV6UVRNeU1TVTNSQ1UxUkNVeVF5VXlNbVJoZEdGQmRIUnlhV0oxZEdWekpUSXlKVE5CSlRWQ0pUVkVKVEpESlRJeWNISnZjSE1sTWpJbE0wRWxOMElsTWpKNmFXNWtaWGdsTWpJbE0wRXhNU1UzUkNVeVF5VXlNbXhwYm10bGNsUjVjR1VsTWpJbE0wRWxNakppY205clpXNGxNaklsTWtNbE1qSnNhVzVsVTNSNWJHVWxNaklsTTBFbE4wSWxOMFFsTWtNbE1qSnVZVzFsSlRJeUpUTkJKVEl5YkdsdWEyVnlKVEl5SlRKREpUSXlabkp2YlNVeU1pVXpRU1UzUWlVeU1uZ2xNaklsTTBFeE1Ua2xNa01sTWpKNUpUSXlKVE5CTWprMEpUSkRKVEl5WVc1bmJHVWxNaklsTTBFMExqY3hNak00T0RrNE1ETTRORFk1SlRKREpUSXlhV1FsTWpJbE0wRWxNakp1VUV4NVoyVklRa3BMTURjM05UZ3lKVEl5SlRkRUpUSkRKVEl5YVdRbE1qSWxNMEVsTWpJeE5XTTNZekkzWW1JME5tWmpaU1V5TWlVeVF5VXlNblJ2SlRJeUpUTkJKVGRDSlRJeWVDVXlNaVV6UVRFeE9TVXlReVV5TW5rbE1qSWxNMEV6TkRnbE1rTWxNakpoYm1kc1pTVXlNaVV6UVRFdU5UY3dOemsyTXpJMk56azBPRGsyT0NVeVF5VXlNbWxrSlRJeUpUTkJKVEl5TVRWak4yTXlObU5sTXprME9TVXlNaVUzUkNVeVF5VXlNblJsZUhRbE1qSWxNMEVsTWpJbE1qSWxNa01sTWpKc2IyTnJaV1FsTWpJbE0wRm1ZV3h6WlNVeVF5VXlNbWR5YjNWd0pUSXlKVE5CSlRJeUpUSXlKVEpESlRJeWRHVjRkRUpzYjJOckpUSXlKVE5CSlRWQ0pUVkVKVGRFSlRKREpUSXlNVFZqTjJNeU56VXlORE5sWldZbE1qSWxNMEVsTjBJbE1qSm1iMjUwVTNSNWJHVWxNaklsTTBFbE4wSWxNakptYjI1MFJtRnRhV3g1SlRJeUpUTkJKVEl5SlVVMUpVSkZKVUZGSlVVNEpVSkVKVUZHSlVVNUpUbENKVGcxSlVVNUpVSkNKVGt4SlRJeUpUZEVKVEpESlRJeWNHOXBiblJ6SlRJeUpUTkJKVFZDSlRkQ0pUSXllQ1V5TWlVelFURXhPU1V5UXlVeU1ua2xNaklsTTBFeE1qVWxOMFFsTWtNbE4wSWxNako0SlRJeUpUTkJNVEU1SlRKREpUSXllU1V5TWlVelFURXlOU1UzUkNVMVJDVXlReVV5TW1SaGRHRkJkSFJ5YVdKMWRHVnpKVEl5SlROQkpUVkNKVFZFSlRKREpUSXljSEp2Y0hNbE1qSWxNMEVsTjBJbE1qSjZhVzVrWlhnbE1qSWxNMEU0SlRkRUpUSkRKVEl5YkdsdWEyVnlWSGx3WlNVeU1pVXpRU1V5TW1KeWIydGxiaVV5TWlVeVF5VXlNbXhwYm1WVGRIbHNaU1V5TWlVelFTVTNRaVUzUkNVeVF5VXlNbTVoYldVbE1qSWxNMEVsTWpKc2FXNXJaWElsTWpJbE1rTWxNakptY205dEpUSXlKVE5CSlRkQ0pUSXllQ1V5TWlVelFURXhPU1V5UXlVeU1tRnVaMnhsSlRJeUpUTkJOQzQzTVRJek9EZzVPREF6T0RRMk9TVXlReVV5TW5rbE1qSWxNMEU1T0NVeVF5VXlNbWxrSlRJeUpUTkJKVEl5TVRWak4yTXlOVGhrWlRBeU9HSWxNaklsTjBRbE1rTWxNakpwWkNVeU1pVXpRU1V5TWpFMVl6ZGpNamMxTWpRelpXVm1KVEl5SlRKREpUSXlkRzhsTWpJbE0wRWxOMElsTWpKNEpUSXlKVE5CTVRFNUpUSkRKVEl5WVc1bmJHVWxNaklsTTBFeExqVTNNRGM1TmpNeU5qYzVORGc1TmpnbE1rTWxNako1SlRJeUpUTkJNVFV5SlRKREpUSXlhV1FsTWpJbE0wRWxNakl4TldNM1l6STFPV1F6WXpJeE5DVXlNaVUzUkNVeVF5VXlNblJsZUhRbE1qSWxNMEVsTWpJbE1qSWxNa01sTWpKc2IyTnJaV1FsTWpJbE0wRm1ZV3h6WlNVeVF5VXlNbWR5YjNWd0pUSXlKVE5CSlRJeUpUSXlKVEpESlRJeWRHVjRkRUpzYjJOckpUSXlKVE5CSlRWQ0pUVkVKVGRFSlRKREpUSXlkR05IVVd4SFZXaHRWRFEzTURBNU1pVXlNaVV6UVNVM1FpVXlNbWxrSlRJeUpUTkJKVEl5ZEdOSFVXeEhWV2h0VkRRM01EQTVNaVV5TWlVeVF5VXlNbTVoYldVbE1qSWxNMEVsTWpKc2FXNXJaWElsTWpJbE1rTWxNakowWlhoMEpUSXlKVE5CSlRJeUpUSXlKVEpESlRJeVozSnZkWEFsTWpJbE0wRWxNaklsTWpJbE1rTWxNakpzYVc1clpYSlVlWEJsSlRJeUpUTkJKVEl5WW5KdmEyVnVKVEl5SlRKREpUSXljRzlwYm5SekpUSXlKVE5CSlRWQ0pUZENKVEl5ZUNVeU1pVXpRVEV4T1NVeVF5VXlNbmtsTWpJbE0wRXlNak1sTjBRbE1rTWxOMElsTWpKNEpUSXlKVE5CTVRFNUpUSkRKVEl5ZVNVeU1pVXpRVEl5TXlVM1JDVTFSQ1V5UXlVeU1teHZZMnRsWkNVeU1pVXpRV1poYkhObEpUSkRKVEl5WkdGMFlVRjBkSEpwWW5WMFpYTWxNaklsTTBFbE5VSWxOVVFsTWtNbE1qSndjbTl3Y3lVeU1pVXpRU1UzUWlVeU1ucHBibVJsZUNVeU1pVXpRVEV5SlRkRUpUSkRKVEl5YkdsdVpWTjBlV3hsSlRJeUpUTkJKVGRDSlRJeWJHbHVaVmRwWkhSb0pUSXlKVE5CTVM0MUpUZEVKVEpESlRJeVpuSnZiU1V5TWlVelFTVTNRaVV5TW5nbE1qSWxNMEV4TVRrbE1rTWxNako1SlRJeUpUTkJNVGsySlRKREpUSXlZVzVuYkdVbE1qSWxNMEUwTGpjeE1qTTRPRGs0TURNNE5EWTVKVEpESlRJeWFXUWxNaklsTTBFbE1qSXhOV00zWXpJMU9XUXpZekl4TkNVeU1pVTNSQ1V5UXlVeU1uUnZKVEl5SlROQkpUZENKVEl5YVdRbE1qSWxNMEVsTWpKdVVFeDVaMlZJUWtwTE1EYzNOVGd5SlRJeUpUSkRKVEl5ZUNVeU1pVXpRVEV4T1NVeVF5VXlNbmtsTWpJbE0wRXlOVEFsTWtNbE1qSmhibWRzWlNVeU1pVXpRVEV1TlRjd056azJNekkyTnprME9EazNKVGRFSlRKREpUSXlkR1Y0ZEVKc2IyTnJKVEl5SlROQkpUVkNKVFZFSlRkRUpUSkRKVEl5YmxCTWVXZGxTRUpLU3pBM056VTRNaVV5TWlVelFTVTNRaVV5TW5CaGNtVnVkQ1V5TWlVelFTVXlNaVV5TWlVeVF5VXlNbXhwYm1zbE1qSWxNMEVsTWpJbE1qSWxNa01sTWpKemFHRndaVk4wZVd4bEpUSXlKVE5CSlRkQ0pUSXlZV3h3YUdFbE1qSWxNMEV4SlRkRUpUSkRKVEl5ZEdWNGRFSnNiMk5ySlRJeUpUTkJKVFZDSlRkQ0pUSXljRzl6YVhScGIyNGxNaklsTTBFbE4wSWxNakozSlRJeUpUTkJKVEl5ZHkweU1DVXlNaVV5UXlVeU1tZ2xNaklsTTBFbE1qSm9KVEl5SlRKREpUSXllQ1V5TWlVelFURXdKVEpESlRJeWVTVXlNaVV6UVRBbE4wUWxNa01sTWpKMFpYaDBKVEl5SlROQkpUSXlKVVU0SlVKRkpUa3pKVVUxSlRnM0pVSkJKVVUzSlVJekpUazJKVVUxSlVJd0pVSkdKVVUzSlRrM0pUZzFKVVU1SlVFekpUaEZKVVU1SlRrNUpVRTVKVVUzSlVKQ0pUa3pKVVUySlRsRkpUbERKVEl5SlRkRUpUVkVKVEpESlRJeVlXNWphRzl5Y3lVeU1pVXpRU1UxUWlVM1FpVXlNbmdsTWpJbE0wRWxNakozSlRKR01pVXlNaVV5UXlVeU1ua2xNaklsTTBFbE1qSXdKVEl5SlRkRUpUSkRKVGRDSlRJeWVDVXlNaVV6UVNVeU1uY2xNa1l5SlRJeUpUSkRKVEl5ZVNVeU1pVXpRU1V5TW1nbE1qSWxOMFFsTWtNbE4wSWxNako0SlRJeUpUTkJKVEl5TUNVeU1pVXlReVV5TW5rbE1qSWxNMEVsTWpKb0pUSkdNaVV5TWlVM1JDVXlReVUzUWlVeU1uZ2xNaklsTTBFbE1qSjNKVEl5SlRKREpUSXllU1V5TWlVelFTVXlNbWdsTWtZeUpUSXlKVGRFSlRWRUpUSkRKVEl5Wm05dWRGTjBlV3hsSlRJeUpUTkJKVGRDSlRJeVptOXVkRVpoYldsc2VTVXlNaVV6UVNVeU1pVkZOU1ZDUlNWQlJTVkZPQ1ZDUkNWQlJpVkZPU1U1UWlVNE5TVkZPU1ZDUWlVNU1TVXlNaVUzUkNVeVF5VXlNblJwZEd4bEpUSXlKVE5CSlRJeUpVVTJKVUkxSlRneEpVVTNKVUU0SlRoQ0pUSXlKVEpESlRJeVpHRjBZVUYwZEhKcFluVjBaWE1sTWpJbE0wRWxOVUlsTjBJbE1qSnVZVzFsSlRJeUpUTkJKVEl5SlVVMUpVSkJKVGhHSlVVMUpUaEdKVUkzSlRJeUpUSkRKVEl5YVdRbE1qSWxNMEVsTWpKclVYVnhUWGxZUkZodE5Ea3pOVFEySlRJeUpUSkRKVEl5WTJGMFpXZHZjbmtsTWpJbE0wRWxNakprWldaaGRXeDBKVEl5SlRKREpUSXlkSGx3WlNVeU1pVXpRU1V5TW01MWJXSmxjaVV5TWlVeVF5VXlNblpoYkhWbEpUSXlKVE5CSlRJeUpUSXlKVGRFSlRKREpUZENKVEl5Ym1GdFpTVXlNaVV6UVNVeU1pVkZOU1U1TUNVNFJDVkZOeVZCTnlWQ01DVXlNaVV5UXlVeU1tbGtKVEl5SlROQkpUSXlkbEZMVkZaVVptMXpaalUxT0RJeU1DVXlNaVV5UXlVeU1tTmhkR1ZuYjNKNUpUSXlKVE5CSlRJeVpHVm1ZWFZzZENVeU1pVXlReVV5TW5SNWNHVWxNaklsTTBFbE1qSnpkSEpwYm1jbE1qSWxNa01sTWpKMllXeDFaU1V5TWlVelFTVXlNaVV5TWlVM1JDVXlReVUzUWlVeU1tNWhiV1VsTWpJbE0wRWxNaklsUlRZbE9Ea2xPREFsUlRZbE9VTWxPRGtsUlRnbE9EQWxPRFVsTWpJbE1rTWxNakpwWkNVeU1pVXpRU1V5TWtWMWQySkhVMUJVVjBRNU9UYzFPVFlsTWpJbE1rTWxNakpqWVhSbFoyOXllU1V5TWlVelFTVXlNbVJsWm1GMWJIUWxNaklsTWtNbE1qSjBlWEJsSlRJeUpUTkJKVEl5YzNSeWFXNW5KVEl5SlRKREpUSXlkbUZzZFdVbE1qSWxNMEVsTWpJbE1qSWxOMFFsTWtNbE4wSWxNakp1WVcxbEpUSXlKVE5CSlRJeUpVVTRKVUpHSlRsRkpVVTJKVGhGSlVFMUpUSXlKVEpESlRJeWFXUWxNaklsTTBFbE1qSlVkRVJCYVdWSVUwWlZORFEyTkRNeUpUSXlKVEpESlRJeVkyRjBaV2R2Y25rbE1qSWxNMEVsTWpKa1pXWmhkV3gwSlRJeUpUSkRKVEl5ZEhsd1pTVXlNaVV6UVNVeU1teHBibXNsTWpJbE1rTWxNakoyWVd4MVpTVXlNaVV6UVNVeU1pVXlNaVUzUkNVeVF5VTNRaVV5TW01aGJXVWxNaklsTTBFbE1qSWxSVFFsUWtVbFFrWWxSVGNsUVVNbFFrRWxNaklsTWtNbE1qSnBaQ1V5TWlVelFTVXlNbVJKU1dsTmFrUnFURU13TnpjNE5USWxNaklsTWtNbE1qSmpZWFJsWjI5eWVTVXlNaVV6UVNVeU1tUmxabUYxYkhRbE1qSWxNa01sTWpKMGVYQmxKVEl5SlROQkpUSXljM1J5YVc1bkpUSXlKVEpESlRJeWRtRnNkV1VsTWpJbE0wRWxNaklsTWpJbE4wUWxNa01sTjBJbE1qSnVZVzFsSlRJeUpUTkJKVEl5SlVVMkpUZzRKVGt3SlVVMkpUbERKVUZESlRJeUpUSkRKVEl5YVdRbE1qSWxNMEVsTWpKU1lYUktVVXRvV0haTE16azFPRGM1SlRJeUpUSkRKVEl5WTJGMFpXZHZjbmtsTWpJbE0wRWxNakprWldaaGRXeDBKVEl5SlRKREpUSXlkSGx3WlNVeU1pVXpRU1V5TW01MWJXSmxjaVV5TWlVeVF5VXlNblpoYkhWbEpUSXlKVE5CSlRJeUpUSXlKVGRFSlRKREpUZENKVEl5Ym1GdFpTVXlNaVV6UVNVeU1pVkZOaVU1TnlWQ05pVkZPU1U1TnlWQ05DVXlNaVV5UXlVeU1tbGtKVEl5SlROQkpUSXlUMEpCYzNCaVZrMXhTREUyTlRneU5pVXlNaVV5UXlVeU1tTmhkR1ZuYjNKNUpUSXlKVE5CSlRJeVpHVm1ZWFZzZENVeU1pVXlReVV5TW5SNWNHVWxNaklsTTBFbE1qSnVkVzFpWlhJbE1qSWxNa01sTWpKMllXeDFaU1V5TWlVelFTVXlNaVV5TWlVM1JDVXlReVUzUWlVeU1tNWhiV1VsTWpJbE0wRWxNaklsUlRrbE9ETWxRVGdsUlRrbE9UY2xRVGdsTWpJbE1rTWxNakpwWkNVeU1pVXpRU1V5TW1oeWRHUnJWbTlHVW1reU56TTBORGtsTWpJbE1rTWxNakpqWVhSbFoyOXllU1V5TWlVelFTVXlNbVJsWm1GMWJIUWxNaklsTWtNbE1qSjBlWEJsSlRJeUpUTkJKVEl5YzNSeWFXNW5KVEl5SlRKREpUSXlkbUZzZFdVbE1qSWxNMEVsTWpJbE1qSWxOMFFsTWtNbE4wSWxNakp1WVcxbEpUSXlKVE5CSlRJeUpVVTRKVUpGSlRrekpVVTFKVGcxSlVFMUpUSXlKVEpESlRJeWFXUWxNaklsTTBFbE1qSmtVMDlpYVhCVVVHcENOemN4TlRNd0pUSXlKVEpESlRJeVkyRjBaV2R2Y25rbE1qSWxNMEVsTWpKa1pXWmhkV3gwSlRJeUpUSkRKVEl5ZEhsd1pTVXlNaVV6UVNVeU1uTjBjbWx1WnlVeU1pVXlReVV5TW5aaGJIVmxKVEl5SlROQkpUSXlKVEl5SlRkRUpUSkRKVGRDSlRJeWJtRnRaU1V5TWlVelFTVXlNaVZGT0NWQ1JTVTVNeVZGTlNVNE55VkNRU1V5TWlVeVF5VXlNbWxrSlRJeUpUTkJKVEl5Y2xGQmFIcFRSRkpUYVRreE1qRXpPU1V5TWlVeVF5VXlNbU5oZEdWbmIzSjVKVEl5SlROQkpUSXlaR1ZtWVhWc2RDVXlNaVV5UXlVeU1uUjVjR1VsTWpJbE0wRWxNakp6ZEhKcGJtY2xNaklsTWtNbE1qSjJZV3gxWlNVeU1pVXpRU1V5TWlVeU1pVTNSQ1V5UXlVM1FpVXlNbTVoYldVbE1qSWxNMEVsTWpJbFJUa2xRVE1sT0VVbFJUa2xPVGtsUVRrbE1qSWxNa01sTWpKcFpDVXlNaVV6UVNVeU1tdGhiRmhrUldOcWRsUTFOekkwTkRBbE1qSWxNa01sTWpKallYUmxaMjl5ZVNVeU1pVXpRU1V5TW1SbFptRjFiSFFsTWpJbE1rTWxNakowZVhCbEpUSXlKVE5CSlRJeWMzUnlhVzVuSlRJeUpUSkRKVEl5ZG1Gc2RXVWxNaklsTTBFbE1qSWxNaklsTjBRbE1rTWxOMElsTWpKdVlXMWxKVEl5SlROQkpUSXlKVVUxSlVFMEpUZzNKVVUySlVJekpVRTRKVEl5SlRKREpUSXlhV1FsTWpJbE0wRWxNakp2Vlc5M2RWQmtVMGxXTnpJeE5EQTVKVEl5SlRKREpUSXlZMkYwWldkdmNua2xNaklsTTBFbE1qSmtaV1poZFd4MEpUSXlKVEpESlRJeWRIbHdaU1V5TWlVelFTVXlNbk4wY21sdVp5VXlNaVV5UXlVeU1uWmhiSFZsSlRJeUpUTkJKVEl5SlRJeUpUZEVKVFZFSlRKREpUSXljSEp2Y0hNbE1qSWxNMEVsTjBJbE1qSjZhVzVrWlhnbE1qSWxNMEV4TXlVeVF5VXlNbmNsTWpJbE0wRXhOVFlsTWtNbE1qSm9KVEl5SlROQk5EUWxNa01sTWpKNEpUSXlKVE5CTkRFbE1rTWxNakpoYm1kc1pTVXlNaVV6UVRBbE1rTWxNako1SlRJeUpUTkJNalV3SlRkRUpUSkRKVEl5Y0dGMGFDVXlNaVV6UVNVMVFpVTNRaVV5TW1GamRHbHZibk1sTWpJbE0wRWxOVUlsTjBJbE1qSjRKVEl5SlROQkpUSXlNQ1V5TWlVeVF5VXlNbUZqZEdsdmJpVXlNaVV6UVNVeU1tMXZkbVVsTWpJbE1rTWxNako1SlRJeUpUTkJKVEl5TUNVeU1pVTNSQ1V5UXlVM1FpVXlNbmdsTWpJbE0wRWxNakozSlRJeUpUSkRKVEl5WVdOMGFXOXVKVEl5SlROQkpUSXliR2x1WlNVeU1pVXlReVV5TW5rbE1qSWxNMEVsTWpJd0pUSXlKVGRFSlRKREpUZENKVEl5ZUNVeU1pVXpRU1V5TW5jbE1qSWxNa01sTWpKaFkzUnBiMjRsTWpJbE0wRWxNakpzYVc1bEpUSXlKVEpESlRJeWVTVXlNaVV6UVNVeU1tZ2xNaklsTjBRbE1rTWxOMElsTWpKNEpUSXlKVE5CSlRJeU1DVXlNaVV5UXlVeU1tRmpkR2x2YmlVeU1pVXpRU1V5TW14cGJtVWxNaklsTWtNbE1qSjVKVEl5SlROQkpUSXlhQ1V5TWlVM1JDVXlReVUzUWlVeU1tRmpkR2x2YmlVeU1pVXpRU1V5TW1Oc2IzTmxKVEl5SlRkRUpUVkVKVGRFSlRWRUpUSkRKVEl5YkdsdVpWTjBlV3hsSlRJeUpUTkJKVGRDSlRkRUpUSkRKVEl5WTJocGJHUnlaVzRsTWpJbE0wRWxOVUlsTlVRbE1rTWxNakp5WlhOcGVtVkVhWElsTWpJbE0wRWxOVUlsTWpKMGJDVXlNaVV5UXlVeU1uUnlKVEl5SlRKREpUSXlZbklsTWpJbE1rTWxNakppYkNVeU1pVTFSQ1V5UXlVeU1tNWhiV1VsTWpJbE0wRWxNakp3Y205alpYTnpKVEl5SlRKREpUSXlabWxzYkZOMGVXeGxKVEl5SlROQkpUZENKVEl5WTI5c2IzSWxNaklsTTBFbE1qSXlOVFVsTWtNeU5UVWxNa015TlRVbE1qSWxNa01sTWpKMGVYQmxKVEl5SlROQkpUSXljMjlzYVdRbE1qSWxOMFFsTWtNbE1qSmhkSFJ5YVdKMWRHVWxNaklsTTBFbE4wSWxNakpqYjI1MFlXbHVaWElsTWpJbE0wRm1ZV3h6WlNVeVF5VXlNbkp2ZEdGMFlXSnNaU1V5TWlVelFYUnlkV1VsTWtNbE1qSjJhWE5wWW14bEpUSXlKVE5CZEhKMVpTVXlReVV5TW1OdmJHeGhjSE5oWW14bEpUSXlKVE5CWm1Gc2MyVWxNa01sTWpKamIyeHNZWEJ6WldRbE1qSWxNMEZtWVd4elpTVXlReVV5TW14cGJtdGhZbXhsSlRJeUpUTkJkSEoxWlNVeVF5VXlNbTFoY210bGNrOW1abk5sZENVeU1pVXpRVFVsTjBRbE1rTWxNakpwWkNVeU1pVXpRU1V5TW01UVRIbG5aVWhDU2tzd056YzFPRElsTWpJbE1rTWxNakpqWVhSbFoyOXllU1V5TWlVelFTVXlNbVpzYjNjbE1qSWxNa01sTWpKc2IyTnJaV1FsTWpJbE0wRm1ZV3h6WlNVeVF5VXlNbWR5YjNWd0pUSXlKVE5CSlRJeUpUSXlKVGRFSlRkRUpUSkRKVEl5WTI5dGJXVnVkSE1sTWpJbE0wRWxOVUlsTlVRbE1rTWxNakp3YkhWbmFXNXpKVEl5SlROQkpUZENKVGRFSlRKREpUSXlZV2xEYjI1MFlXbHVaWEp6SlRJeUpUTkJKVGRDSlRkRUpUSkRKVEl5YVc1elpYSjBVR0ZuWlU5d2RITWxNaklsTTBFbE4wSWxOMFFsTWtNbE1qSndiM04wVUdGNWJXVnVkQ1V5TWlVelFTVTNRaVUzUkNVeVF5VXlNblJvWlcxbEpUSXlKVE5CSlRkQ0pUSXliR2x1YTJWeUpUSXlKVE5CSlRkQ0pUSXliR2x1WlZOMGVXeGxKVEl5SlROQkpUZENKVEl5YkdsdVpVTnZiRzl5SlRJeUpUTkJKVEl5TlRBbE1rTTFNQ1V5UXpVd0pUSXlKVEpESlRJeWJHbHVaVmRwWkhSb0pUSXlKVE5CTWlVM1JDVXlReVV5TW1admJuUlRkSGxzWlNVeU1pVXpRU1UzUWlVeU1tWnZiblJHWVcxcGJIa2xNaklsTTBFbE1qSkJjbWxoYkNVeU1pVXlReVV5TW1OdmJHOXlKVEl5SlROQkpUSXlOVEFsTWtNMU1DVXlRelV3SlRJeUpUSkRKVEl5YzJsNlpTVXlNaVV6UVRFekpUSkRKVEl5WW05c1pDVXlNaVV6UVdaaGJITmxKVEpESlRJeWFYUmhiR2xqSlRJeUpUTkJabUZzYzJVbE4wUWxOMFFsTWtNbE1qSnphR0Z3WlNVeU1pVXpRU1UzUWlVeU1teHBibVZUZEhsc1pTVXlNaVV6UVNVM1FpVXlNbXhwYm1WRGIyeHZjaVV5TWlVelFTVXlNalV3SlRKRE5UQWxNa00xTUNVeU1pVXlReVV5TW14cGJtVlhhV1IwYUNVeU1pVXpRVElsTjBRbE1rTWxNakptYVd4c1UzUjViR1VsTWpJbE0wRWxOMElsTWpKamIyeHZjaVV5TWlVelFTVXlNakkwTlNVeVF6RTBOaVV5UXpFeU15VXlNaVV5UXlVeU1uUjVjR1VsTWpJbE0wRWxNakp6YjJ4cFpDVXlNaVUzUkNVeVF5VXlNbVp2Ym5SVGRIbHNaU1V5TWlVelFTVTNRaVV5TW1admJuUkdZVzFwYkhrbE1qSWxNMEVsTWpKQmNtbGhiQ1V5TWlVeVF5VXlNbU52Ykc5eUpUSXlKVE5CSlRJeU5UQWxNa00xTUNVeVF6VXdKVEl5SlRKREpUSXljMmw2WlNVeU1pVXpRVEV6SlRKREpUSXlZbTlzWkNVeU1pVXpRV1poYkhObEpUSkRKVEl5YVhSaGJHbGpKVEl5SlROQlptRnNjMlVsTjBRbE4wUWxNa01sTWpKdVlXMWxKVEl5SlROQkpUSXlZMjlzYjNKbWRXeGZjbVZrSlRJeUpUZEVKVGRFIiwKCSJGaWxlSWQiIDogIjdhMjVkODc3LWRjNTctNDg1NS05ZWIxLTNhNTNlOWM2NzIwMSIKfQo="/>
    </extobj>
  </extobjs>
</s:customData>
</file>

<file path=customXml/itemProps78.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5302</Words>
  <Application>WPS 演示</Application>
  <PresentationFormat/>
  <Paragraphs>513</Paragraphs>
  <Slides>35</Slides>
  <Notes>0</Notes>
  <HiddenSlides>0</HiddenSlides>
  <MMClips>0</MMClips>
  <ScaleCrop>false</ScaleCrop>
  <HeadingPairs>
    <vt:vector size="6" baseType="variant">
      <vt:variant>
        <vt:lpstr>已用的字体</vt:lpstr>
      </vt:variant>
      <vt:variant>
        <vt:i4>7</vt:i4>
      </vt:variant>
      <vt:variant>
        <vt:lpstr>主题</vt:lpstr>
      </vt:variant>
      <vt:variant>
        <vt:i4>19</vt:i4>
      </vt:variant>
      <vt:variant>
        <vt:lpstr>幻灯片标题</vt:lpstr>
      </vt:variant>
      <vt:variant>
        <vt:i4>35</vt:i4>
      </vt:variant>
    </vt:vector>
  </HeadingPairs>
  <TitlesOfParts>
    <vt:vector size="61" baseType="lpstr">
      <vt:lpstr>Arial</vt:lpstr>
      <vt:lpstr>宋体</vt:lpstr>
      <vt:lpstr>Wingdings</vt:lpstr>
      <vt:lpstr>Arial</vt:lpstr>
      <vt:lpstr>Noto Sans SC</vt:lpstr>
      <vt:lpstr>微软雅黑</vt:lpstr>
      <vt:lpstr>Arial Unicode MS</vt:lpstr>
      <vt:lpstr>Office 主题​​</vt:lpstr>
      <vt:lpstr>默认主题</vt:lpstr>
      <vt:lpstr>5_默认主题</vt:lpstr>
      <vt:lpstr>6_默认主题</vt:lpstr>
      <vt:lpstr>3_默认主题</vt:lpstr>
      <vt:lpstr>2_默认主题</vt:lpstr>
      <vt:lpstr>1_默认主题</vt:lpstr>
      <vt:lpstr>4_默认主题</vt:lpstr>
      <vt:lpstr>7_默认主题</vt:lpstr>
      <vt:lpstr>8_默认主题</vt:lpstr>
      <vt:lpstr>9_默认主题</vt:lpstr>
      <vt:lpstr>10_默认主题</vt:lpstr>
      <vt:lpstr>12_默认主题</vt:lpstr>
      <vt:lpstr>11_默认主题</vt:lpstr>
      <vt:lpstr>13_默认主题</vt:lpstr>
      <vt:lpstr>15_默认主题</vt:lpstr>
      <vt:lpstr>14_默认主题</vt:lpstr>
      <vt:lpstr>16_默认主题</vt:lpstr>
      <vt:lpstr>17_默认主题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江晚愁余</cp:lastModifiedBy>
  <cp:revision>43</cp:revision>
  <dcterms:created xsi:type="dcterms:W3CDTF">2026-05-24T13:55:00Z</dcterms:created>
  <dcterms:modified xsi:type="dcterms:W3CDTF">2026-05-25T05:08:08Z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AA38843D5FBC43CE82D281AB92ACFFEE_13</vt:lpwstr>
  </property>
</Properties>
</file>